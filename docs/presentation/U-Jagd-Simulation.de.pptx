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 U-Jagd: Die Simulation verstehen</a:t>
            </a:r>
          </a:p>
          <a:p/>
          <a:p>
            <a:r>
              <a:t>Diese Präsentation beschreibt die ausführbare Implementierung im lokalen Arbeitsbaum. Dieser enthält bereits Änderungen gegenüber dem letzten Commit, unter anderem an Wetter, Sonar und Browseroberfläche. Versionsnummer, Speicherformat und Protokoll sind getrennte Verträge: Anwendung 1.1.0, Save v12 und Remote Crew v2. Die Folien dienen als Architektur- und Simulationsführung. Physikalische Formeln erläutern die implementierten Näherungen; sie sind keine Aussage über nachgewiesene Leistungsdaten realer Marinesysteme. Screenshots sind vorhandene Repository-Abbildungen und können vom aktuellen Bildschirm abweichen.</a:t>
            </a:r>
          </a:p>
          <a:p/>
          <a:p>
            <a:r>
              <a:t>QUELLEN</a:t>
            </a:r>
          </a:p>
          <a:p>
            <a:r>
              <a:t>src/core/version.py</a:t>
            </a:r>
          </a:p>
          <a:p>
            <a:r>
              <a:t>src/core/game.py</a:t>
            </a:r>
          </a:p>
          <a:p>
            <a:r>
              <a:t>pyproject.toml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 Der rote Faden</a:t>
            </a:r>
          </a:p>
          <a:p/>
          <a:p>
            <a:r>
              <a:t>Die Reihenfolge folgt einer Ursache-Wirkungs-Kette. Zuerst entsteht eine Welt mit Einheiten und Umweltzustand. Sensoren erzeugen daraus unvollständige Beobachtungen. Menschen und KI entscheiden anhand dieser Daten. Stellbefehle und Waffen verändern wiederum die Welt. Querschnittssysteme wie Speicherung, Netzwerk und Darstellung halten diesen Prozess bedienbar und reproduzierbar. Die Präsentation ist ausführlich angelegt; für einen kürzeren Vortrag lassen sich die Formel- und Implementierungsfolien überspringen.</a:t>
            </a:r>
          </a:p>
          <a:p/>
          <a:p>
            <a:r>
              <a:t>QUELLEN</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 Eine Welt, mehrere Wissensstände</a:t>
            </a:r>
          </a:p>
          <a:p/>
          <a:p>
            <a:r>
              <a:t>Physik und Sensorerzeugung dürfen reale Simulationspositionen lesen: Nur so lassen sich Ausbreitung und Kollisionen bestimmen. Die daraus erzeugte Beobachtung ist jedoch ein eigenes Datenprodukt. Eine passive Peilung ist kein Entfernungsfix. Bedienoberflächen und Fernclients sollen ausschließlich freigegebene Beobachtungen erhalten. Eigenschiff, eigene beauftragte Mittel und bekannte Geografie sind legitime Ausnahmen. Terminale Waffensuchköpfe dürfen intern Kandidaten prüfen. SimLog ist eine ausdrücklich freigeschaltete Diagnoseausnahme mit abgetrennten Zustandsschnappschüssen.</a:t>
            </a:r>
          </a:p>
          <a:p/>
          <a:p>
            <a:r>
              <a:t>QUELLEN</a:t>
            </a:r>
          </a:p>
          <a:p>
            <a:r>
              <a:t>src/core/game.py</a:t>
            </a:r>
          </a:p>
          <a:p>
            <a:r>
              <a:t>src/sensors/tracks.py</a:t>
            </a:r>
          </a:p>
          <a:p>
            <a:r>
              <a:t>src/sensors/platform.py</a:t>
            </a:r>
          </a:p>
          <a:p>
            <a:r>
              <a:t>src/ui/observations.py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 Die Architektur in sieben Bausteinen</a:t>
            </a:r>
          </a:p>
          <a:p/>
          <a:p>
            <a:r>
              <a:t>Die Darstellung zeigt konzeptionelle Laufzeitabhängigkeiten, keinen vollständigen Importgraphen. Game ist der umfangreiche Integrationspunkt: Es baut Einheiten auf, ruft Modelle in definierter Reihenfolge auf, überträgt Beobachtungen und verarbeitet Wirkungen. Reine physikalische Module liefern weitgehend zustandslose Funktionen. Zustände gehören Welt, Schiffen, Waffen, Sensoren und Missionssteuerung. Die beigefügte Quelleninventur erfasst zusätzlich die Python-Module und ihre direkten internen Imports.</a:t>
            </a:r>
          </a:p>
          <a:p/>
          <a:p>
            <a:r>
              <a:t>QUELLEN</a:t>
            </a:r>
          </a:p>
          <a:p>
            <a:r>
              <a:t>src/core/game.py</a:t>
            </a:r>
          </a:p>
          <a:p>
            <a:r>
              <a:t>src/physics/ship_dynamics.py</a:t>
            </a:r>
          </a:p>
          <a:p>
            <a:r>
              <a:t>src/commander/local.py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 Daten legen Fähigkeiten fest</a:t>
            </a:r>
          </a:p>
          <a:p/>
          <a:p>
            <a:r>
              <a:t>Kataloge sind die zentrale Quelle für eingebaute Plattform- und Signaturprofile. Der Loader macht aus JSON strukturierte Profile und überprüft Referenzen. Einheiten verbinden diese Profile mit individuellen Zuständen: etwa verbleibender Munition, Batteriespeicher oder Sensorzyklen. Rumpfparameter des Eigenschiffs liegen in einem separaten Loadout. Das ist von editorseitig akzeptierten Feldern zu unterscheiden: Eine gültige Definition ist noch keine Zusicherung, dass jedes Feld von der Simulation unterstützt wird. Laufzeitsnapshots der relevanten Katalogdaten gehören zur Speicherfortsetzung.</a:t>
            </a:r>
          </a:p>
          <a:p/>
          <a:p>
            <a:r>
              <a:t>QUELLEN</a:t>
            </a:r>
          </a:p>
          <a:p>
            <a:r>
              <a:t>src/data/catalog.py</a:t>
            </a:r>
          </a:p>
          <a:p>
            <a:r>
              <a:t>data/contacts/subs.json</a:t>
            </a:r>
          </a:p>
          <a:p>
            <a:r>
              <a:t>data/loadouts/ownship.json</a:t>
            </a:r>
          </a:p>
          <a:p>
            <a:r>
              <a:t>data/loadouts/ownship_hull.json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6: Zeit und Koordinaten sind gemeinsame Verträge</a:t>
            </a:r>
          </a:p>
          <a:p/>
          <a:p>
            <a:r>
              <a:t>Aktuell enthält TIME_SCALE_STEPS nur den Wert 1; Game.time_scale liefert konstant 1. Ältere Zeitrafferbeschreibungen sind daher kein aktuelles Bedienversprechen. GAME_TIME_PER_SEC ist 1/60 Spielminute pro Simulationssekunde; World.update dividiert noch einmal durch 60 zur Umrechnung in Stunden. Die Weltuhr läuft somit ebenfalls in Echtzeit. Bewegung folgt x += sin(Kurs) * Strecke und y -= cos(Kurs) * Strecke. Bei langen Frames begrenzt der Hauptloop dt; dadurch wird versäumte Wandzeit nicht vollständig nachgeholt.</a:t>
            </a:r>
          </a:p>
          <a:p/>
          <a:p>
            <a:r>
              <a:t>QUELLEN</a:t>
            </a:r>
          </a:p>
          <a:p>
            <a:r>
              <a:t>src/core/config.py</a:t>
            </a:r>
          </a:p>
          <a:p>
            <a:r>
              <a:t>src/core/game.py</a:t>
            </a:r>
          </a:p>
          <a:p>
            <a:r>
              <a:t>src/world/world.py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7: Ein Frame: Eingaben vor der Simulation</a:t>
            </a:r>
          </a:p>
          <a:p/>
          <a:p>
            <a:r>
              <a:t>Game.run ist die äußere Schleife. Nach den Events werden zuerst Remote-Befehle und anschließend Live-Feed-Meldungen gepumpt. Erst danach folgt Game.update. Die Kernsimulation läuft bei Pause, Menü, Spielende und blockierenden Verwaltungszuständen nicht weiter; es gibt explizite Ausnahmen für bestimmte Crew-Overlays. Wichtig ist die Platzierung des LiveTraffic-Pump vor diesem Gate: Externe Feedpflege ist nicht automatisch durch die Physikpause angehalten. Im Web-Host-Modus entfällt die native Bildausgabe.</a:t>
            </a:r>
          </a:p>
          <a:p/>
          <a:p>
            <a:r>
              <a:t>QUELLEN</a:t>
            </a:r>
          </a:p>
          <a:p>
            <a:r>
              <a:t>src/core/game.py</a:t>
            </a:r>
          </a:p>
          <a:p>
            <a:r>
              <a:t>src/commander/local.py</a:t>
            </a:r>
          </a:p>
          <a:p>
            <a:r>
              <a:t>src/network/live_traffic.py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8: Innerhalb eines Physikschritts</a:t>
            </a:r>
          </a:p>
          <a:p/>
          <a:p>
            <a:r>
              <a:t>Game._update_sim erhöht zunächst sim_t und mission_time. Navigation überträgt Schadensfolgen, aktualisiert die Welt und bewegt das Eigenschiff. NPC-Sensoren laufen vor den anschließenden Akteursentscheidungen. Die Waffenreihenfolge ist ebenfalls bewusst gewählt: Ein neu eingewassertes ASROC-Payload bewegt sich erst im nächsten Substep, weil der aktuelle Schritt schon als Flugzeit verbraucht wurde. Sonar, ESM, Funk und Schaden werden über Akkumulatoren getaktet. Die dargestellten Gruppen fassen benachbarte Aufrufe zusammen; HQ-Wetterbulletins und mehrere Nebenereignisse liegen dazwischen.</a:t>
            </a:r>
          </a:p>
          <a:p/>
          <a:p>
            <a:r>
              <a:t>QUELLEN</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9: Mehrere Takte teilen sich eine Zeitbasis</a:t>
            </a:r>
          </a:p>
          <a:p/>
          <a:p>
            <a:r>
              <a:t>Die Substep-Anzahl ist auf 240 begrenzt. Im normalen Hauptloop mit dt ≤ 0,1 s sind höchstens zwei 0,05-s-Schritte notwendig; bei großen direkten update-Aufrufen ist die Obergrenze zu beachten. Publikationsintervalle sind nicht gleich Sensorbeleuchtung: Das Radar erhält beispielsweise nur dann einen neuen Look, wenn der rotierende Strahl die Peilung passiert. Der akustische Empfänger erzeugt 250-ms-Blöcke. Audioausgabe verwendet zusätzlich Wandzeit und Pufferzustände, ohne die Bewegung der Einheiten davon abhängig zu machen.</a:t>
            </a:r>
          </a:p>
          <a:p/>
          <a:p>
            <a:r>
              <a:t>QUELLEN</a:t>
            </a:r>
          </a:p>
          <a:p>
            <a:r>
              <a:t>src/core/game.py</a:t>
            </a:r>
          </a:p>
          <a:p>
            <a:r>
              <a:t>src/core/autocrew.py</a:t>
            </a:r>
          </a:p>
          <a:p>
            <a:r>
              <a:t>src/audio/receiver.py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10: Geografie ist mehr als ein Kartenhintergrund</a:t>
            </a:r>
          </a:p>
          <a:p/>
          <a:p>
            <a:r>
              <a:t>Zusätzlich existiert eine stilisierte feste Referenzkarte und eine gezielte Auswahl realer Sektoren. Der Seed bestimmt im entsprechenden Modus stabil den Sektor und weitere Weltmerkmale. Die Küstenartefakte sind aus festgelegten Quellen erzeugt; der Meeresboden bleibt synthetisch. Laufzeitabfragen unterscheiden kartierte Tiefe, tatsächliche Tiefe und physische Geländetiefe. Grundberührung nutzt einen Rumpfumriss, nicht nur einen Mittelpunkt. Sonar- und Sichtlinienabfragen verhindern Beobachtungen durch entsprechende Geländeabschattung.</a:t>
            </a:r>
          </a:p>
          <a:p/>
          <a:p>
            <a:r>
              <a:t>QUELLEN</a:t>
            </a:r>
          </a:p>
          <a:p>
            <a:r>
              <a:t>src/world/real_coast.py</a:t>
            </a:r>
          </a:p>
          <a:p>
            <a:r>
              <a:t>src/world/coastline.py</a:t>
            </a:r>
          </a:p>
          <a:p>
            <a:r>
              <a:t>src/world/world.py</a:t>
            </a:r>
          </a:p>
          <a:p>
            <a:r>
              <a:t>src/world/grounding.py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11: Die Umwelt verzweigt in fast alle Systeme</a:t>
            </a:r>
          </a:p>
          <a:p/>
          <a:p>
            <a:r>
              <a:t>Die Wetterendpunkte werden deterministisch abgeleitet und weich ineinander überführt. Die Umwelt ist damit kein unabhängiger Zufallsschalter je Sensor. Mehrere Verbraucher lesen denselben zeitabhängigen Zustand, setzen ihn jedoch in unterschiedliche Näherungen um. Das Strömungsfeld enthält einen seedbasierten Anteil und windgetriebene Drift. Einige Ozean- und Atmosphärenwerte sind räumlich vereinfacht. Aus einem Windwechsel folgt deshalb keine voll aufgelöste dreidimensionale Meeresströmungsrechnung.</a:t>
            </a:r>
          </a:p>
          <a:p/>
          <a:p>
            <a:r>
              <a:t>QUELLEN</a:t>
            </a:r>
          </a:p>
          <a:p>
            <a:r>
              <a:t>src/world/world.py</a:t>
            </a:r>
          </a:p>
          <a:p>
            <a:r>
              <a:t>src/world/ocean.py</a:t>
            </a:r>
          </a:p>
          <a:p>
            <a:r>
              <a:t>src/physics/ship_dynamics.py</a:t>
            </a:r>
          </a:p>
          <a:p>
            <a:r>
              <a:t>src/sensors/radar.py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12: Der Ozean verändert die Schallwege</a:t>
            </a:r>
          </a:p>
          <a:p/>
          <a:p>
            <a:r>
              <a:t>Die Tiefe der durchmischten Deckschicht kombiniert ein räumliches Basisfeld mit Tagesgang, Windmischung und internen Wellen. Das Temperaturprofil und die druckabhängige Schallgeschwindigkeit können ein inneres Minimum erzeugen. Die Strahlverfolgung verwendet eine quantisierte, näherungsweise entfernungsunabhängige Wassersäule. Es handelt sich nicht um einen vollständigen 3-D-Ozeansolver. Gezeiten laufen auf der Ozeanuhr und verändern unter anderem die verfügbare Wassertiefe. Sedimente und Hindernisse werden deterministisch erzeugt.</a:t>
            </a:r>
          </a:p>
          <a:p/>
          <a:p>
            <a:r>
              <a:t>QUELLEN</a:t>
            </a:r>
          </a:p>
          <a:p>
            <a:r>
              <a:t>src/world/ocean.py</a:t>
            </a:r>
          </a:p>
          <a:p>
            <a:r>
              <a:t>src/world/world.py</a:t>
            </a:r>
          </a:p>
          <a:p>
            <a:r>
              <a:t>src/sonar/propagation.py</a:t>
            </a:r>
          </a:p>
          <a:p>
            <a:r>
              <a:t>src/sonar/raytrace.py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13: Wetteranzeige und Flugwetter sind gekoppelt</a:t>
            </a:r>
          </a:p>
          <a:p/>
          <a:p>
            <a:r>
              <a:t>Game.atmosphere leitet Wetterinstrumente und Himmelsgrößen aus dem bestehenden Umweltzustand ab. Game.helicopter_weather bündelt die operativen Flugwetterentscheidungen. Vereisung kann das Dippen sperren und den Treibstoffbedarf erhöhen. Für Start und Bergung zählt zusätzlich das aktuelle Deckbewegungsfenster. Die Wetter-/Sonaranalyse zeigt das gemessene BT-Profil mit Messalter und Ortsbezug. Die angezeigten Strahlen sind eine Illustration aus dieser Messung und keine Offenlegung des aktuellen wahren Ozeanprofils. Diese Dateien gehören zum lokalen, teils noch nicht eingecheckten Arbeitsstand.</a:t>
            </a:r>
          </a:p>
          <a:p/>
          <a:p>
            <a:r>
              <a:t>QUELLEN</a:t>
            </a:r>
          </a:p>
          <a:p>
            <a:r>
              <a:t>src/world/atmosphere.py</a:t>
            </a:r>
          </a:p>
          <a:p>
            <a:r>
              <a:t>src/ui/weather_station.py</a:t>
            </a:r>
          </a:p>
          <a:p>
            <a:r>
              <a:t>src/core/game.py</a:t>
            </a:r>
          </a:p>
          <a:p>
            <a:r>
              <a:t>tests/test_weather_station.py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14: Das Eigenschiff wird kraftbasiert bewegt</a:t>
            </a:r>
          </a:p>
          <a:p/>
          <a:p>
            <a:r>
              <a:t>Die Bewegung erfolgt nicht durch sofortiges Setzen der Sollgeschwindigkeit. Die Propeller- und Widerstandsparameter werden an Referenzwerte wie Höchstfahrt, Beschleunigung und Stoppstrecke kalibriert. Das Ruder bewegt sich mit einer begrenzten Stellrate. Die stationäre Gierrate hängt von Fahrt und Ruderausschlag ab; ein stillstehendes Schiff dreht nicht beliebig auf der Stelle. Flutwasser erhöht die Masse. Nach der eigenen Bewegung wird Strömungsdrift hinzugefügt und der Weg auf Grundberührung geprüft. Roll- und Stampfzustände beeinflussen unter anderem den Helikopterbetrieb.</a:t>
            </a:r>
          </a:p>
          <a:p/>
          <a:p>
            <a:r>
              <a:t>QUELLEN</a:t>
            </a:r>
          </a:p>
          <a:p>
            <a:r>
              <a:t>src/ship/ship.py</a:t>
            </a:r>
          </a:p>
          <a:p>
            <a:r>
              <a:t>src/physics/ship_dynamics.py</a:t>
            </a:r>
          </a:p>
          <a:p>
            <a:r>
              <a:t>data/loadouts/ownship_hull.json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15: Fahrt ist eine Entscheidung mit vier Folgen</a:t>
            </a:r>
          </a:p>
          <a:p/>
          <a:p>
            <a:r>
              <a:t>Das Schiff koppelt Maschinenzustand und Eigengeräusch über seine aktuelle Fahrt. Ein Leisemodus reduziert den modellierten Lärm. Kavitation verursacht zusätzliche Nachteile. Auch die Schleppantenne besitzt Betriebs- und Fehlerzustände statt einer dauerhaft gültigen Reichweitenverbesserung. Drahtgeführte Torpedos prüfen die Bewegung der Fregatte auf Zugbelastung. Schaden begrenzt erreichbare Fahrt und Steuerfähigkeit. Diese Wechselwirkungen erklären, warum Brücke, Maschinenraum, Sonar und Waffenstation denselben Geschwindigkeitsbefehl unterschiedlich bewerten.</a:t>
            </a:r>
          </a:p>
          <a:p/>
          <a:p>
            <a:r>
              <a:t>QUELLEN</a:t>
            </a:r>
          </a:p>
          <a:p>
            <a:r>
              <a:t>src/ship/ship.py</a:t>
            </a:r>
          </a:p>
          <a:p>
            <a:r>
              <a:t>src/sonar/sonar.py</a:t>
            </a:r>
          </a:p>
          <a:p>
            <a:r>
              <a:t>src/weapons/torpedo.py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16: Grundberührung wird entlang des Weges geprüft</a:t>
            </a:r>
          </a:p>
          <a:p/>
          <a:p>
            <a:r>
              <a:t>Die Prüfung berücksichtigt den überstrichenen Rumpfbereich und nicht nur die neue Position. Bei Kontakt bleibt das Schiff an einer sicheren Pose stehen; der Kontakt wird eingerastet, damit kein wiederholter identischer Aufprall pro Frame entsteht. Rückwärtsfahrt kann das Schiff lösen, sofern der anschließende Weg frei ist. Die Aufprallenergie wird auf die Komponente senkrecht zur Kontaktfläche bezogen. Tiefgang wächst durch Verdrängung und im Flachwasser durch Squat. Damit hängen Schäden und Gezeiten unmittelbar mit Navigationssicherheit zusammen.</a:t>
            </a:r>
          </a:p>
          <a:p/>
          <a:p>
            <a:r>
              <a:t>QUELLEN</a:t>
            </a:r>
          </a:p>
          <a:p>
            <a:r>
              <a:t>src/world/grounding.py</a:t>
            </a:r>
          </a:p>
          <a:p>
            <a:r>
              <a:t>src/ship/ship.py</a:t>
            </a:r>
          </a:p>
          <a:p>
            <a:r>
              <a:t>src/ship/damage.py</a:t>
            </a:r>
          </a:p>
          <a:p>
            <a:r>
              <a:t>tests/test_grounding_r18.py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17: Passives Sonar ist eine Signalkette</a:t>
            </a:r>
          </a:p>
          <a:p/>
          <a:p>
            <a:r>
              <a:t>Das Sonarsystem sammelt hörbare Kandidaten einschließlich U-Booten, Schiffen, Tieren, Täuschkörpern und Feindtorpedos. Für jede Quelle bestimmen Signatur, Geometrie und Umwelt die verfügbare Signalenergie. Bei ausreichendem Signal entsteht eine Messung mit Fehler und Qualität. Die interne Sensorerzeugung kennt Kandidaten; diese Kenntnis ist von der dem Spieler zugänglichen Kontaktinformation zu unterscheiden. Die Quellklasse muss aus Messung und Bedienbewertung erschlossen werden. Ein Kontakt ohne gültigen Fix soll keine wahre Zielposition auf der Karte erhalten.</a:t>
            </a:r>
          </a:p>
          <a:p/>
          <a:p>
            <a:r>
              <a:t>QUELLEN</a:t>
            </a:r>
          </a:p>
          <a:p>
            <a:r>
              <a:t>src/sonar/sonar.py</a:t>
            </a:r>
          </a:p>
          <a:p>
            <a:r>
              <a:t>src/sonar/equation.py</a:t>
            </a:r>
          </a:p>
          <a:p>
            <a:r>
              <a:t>src/sonar/propagation.py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18: Die passive Sonargleichung</a:t>
            </a:r>
          </a:p>
          <a:p/>
          <a:p>
            <a:r>
              <a:t>Die kanonischen Ausbreitungsbänder liegen bei 100, 400, 1600 und 6400 Hz. Das Rauschen kombiniert Wind/Seegang, entfernte Handelsschifffahrt, Regen sowie Eigen- und thermisches Rauschen. Dezibelwerte werden für unabhängige Rauschleistungen in lineare Leistungen übersetzt, summiert und wieder logarithmiert. Absorption folgt einer Francois-Garrison-Näherung. Die Referenzkonstanten sind an bestehende Spielreichweiten angepasst. Der praktische Vergleich lautet deshalb: Welche Größe ändert den Signalüberschuss in dieser Situation?</a:t>
            </a:r>
          </a:p>
          <a:p/>
          <a:p>
            <a:r>
              <a:t>QUELLEN</a:t>
            </a:r>
          </a:p>
          <a:p>
            <a:r>
              <a:t>src/sonar/equation.py</a:t>
            </a:r>
          </a:p>
          <a:p>
            <a:r>
              <a:t>src/sonar/sonar.py</a:t>
            </a:r>
          </a:p>
          <a:p>
            <a:r>
              <a:t>tools/calibrate.py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19: Strahlverfolgung statt pauschaler Schichtstrafe</a:t>
            </a:r>
          </a:p>
          <a:p/>
          <a:p>
            <a:r>
              <a:t>Das Modell verfolgt einen begrenzten Strahlenfächer und summiert Energie inkohärent in einem Entfernungs-Tiefen-Raster. Oberflächenrauigkeit und Sediment dämpfen Reflexionen. Es berechnet keine vollständige Wellengleichung und keinen kohärenten Interferenzraum. Der Umweltschlüssel wird quantisiert, damit ähnliche Situationen dieselbe Tabelle verwenden. Der Cache muss eine reine Optimierung bleiben: Ein Treffer oder Neuaufbau darf das physikalische Ergebnis nicht von der Aufrufreihenfolge abhängig machen. Die Tabellen reichen bis zur implementierten Modellgrenze von 80 NM.</a:t>
            </a:r>
          </a:p>
          <a:p/>
          <a:p>
            <a:r>
              <a:t>QUELLEN</a:t>
            </a:r>
          </a:p>
          <a:p>
            <a:r>
              <a:t>src/sonar/raytrace.py</a:t>
            </a:r>
          </a:p>
          <a:p>
            <a:r>
              <a:t>src/sonar/propagation.py</a:t>
            </a:r>
          </a:p>
          <a:p>
            <a:r>
              <a:t>src/world/ocean.py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20: Bug-, Schlepp- und abgesetzte Sensoren</a:t>
            </a:r>
          </a:p>
          <a:p/>
          <a:p>
            <a:r>
              <a:t>Eine lineare Schleppantenne kann spiegelbildliche Peilungen erzeugen. Ungeklärte Seitenmehrdeutigkeit wird nicht einfach als sichere TMA-Evidenz behandelt; eigene Manöver oder das Bugsonar können helfen. Das Antennenmodell enthält eine sinc-artige Haupt- und Nebenkeulencharakteristik. Abgesetzte Sensoren haben eigene Positionen und Tiefen. Sie sind nicht mit demselben Rumpfeigenlärm wie das Bugsonar belastet. Bojen und Dippsonar speisen ihre Beobachterpositionen in die Peilungshistorie ein. Das ist gemeinsame Schätzung aus mehreren Empfängern, kein allgemeiner bistatischer Aktivsonarsimulator.</a:t>
            </a:r>
          </a:p>
          <a:p/>
          <a:p>
            <a:r>
              <a:t>QUELLEN</a:t>
            </a:r>
          </a:p>
          <a:p>
            <a:r>
              <a:t>src/sonar/sonar.py</a:t>
            </a:r>
          </a:p>
          <a:p>
            <a:r>
              <a:t>src/air/helicopter.py</a:t>
            </a:r>
          </a:p>
          <a:p>
            <a:r>
              <a:t>src/air/sonobuoy.py</a:t>
            </a:r>
          </a:p>
          <a:p>
            <a:r>
              <a:t>src/audio/receiver.py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21: Aktivsonar tauscht Tarnung gegen einen Fix</a:t>
            </a:r>
          </a:p>
          <a:p/>
          <a:p>
            <a:r>
              <a:t>Das Zahlenbeispiel ist eine Umrechnung mit nominaler Schallgeschwindigkeit, keine gemessene Szene. Das aktive Signalbudget enthält den doppelten Übertragungsverlust und die aspektabhängige Zielstärke. CW kann bewegte Ziele über Doppler besser von Nachhall trennen; LFM hat Bandbreiten- und Verarbeitungsgewinn. Ausgesendete Pings und ausstehende Echos tragen Schnappschussdaten, damit ein späteres Echo keine zukünftige Position verrät. Deren Zustand muss auch über Speichern/Laden erhalten bleiben.</a:t>
            </a:r>
          </a:p>
          <a:p/>
          <a:p>
            <a:r>
              <a:t>QUELLEN</a:t>
            </a:r>
          </a:p>
          <a:p>
            <a:r>
              <a:t>src/sonar/sonar.py</a:t>
            </a:r>
          </a:p>
          <a:p>
            <a:r>
              <a:t>src/sonar/equation.py</a:t>
            </a:r>
          </a:p>
          <a:p>
            <a:r>
              <a:t>src/world/world.py</a:t>
            </a:r>
          </a:p>
          <a:p>
            <a:r>
              <a:t>tests/test_active_sonar_snapshot.py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22: TMA gewinnt Bewegung aus einer Peilungsfolge</a:t>
            </a:r>
          </a:p>
          <a:p/>
          <a:p>
            <a:r>
              <a:t>Der Schätzer verlangt Mindestdatenmenge und Zeitspanne sowie Beobachtbarkeit. Eine Kursänderung ohne räumliche Bewegung löst die Entfernungsmehrdeutigkeit nicht automatisch. Reale Abweichung der Eigenbewegung von einer geraden gleichförmigen Bahn ist entscheidend; Doppler kann zusätzliche Information liefern. Der Schätzer verwendet die Rohmessungen, während Anzeigeglättung getrennt bleibt. Hysterese hält bei fast gleichwertigen Kandidaten die vorherige Lösung. Die Kovarianz beschreibt Unsicherheit innerhalb des vereinfachten Bewegungsmodells und ist keine Garantie auf wahre Zielnähe.</a:t>
            </a:r>
          </a:p>
          <a:p/>
          <a:p>
            <a:r>
              <a:t>QUELLEN</a:t>
            </a:r>
          </a:p>
          <a:p>
            <a:r>
              <a:t>src/sonar/tma.py</a:t>
            </a:r>
          </a:p>
          <a:p>
            <a:r>
              <a:t>src/sonar/tma_lm.py</a:t>
            </a:r>
          </a:p>
          <a:p>
            <a:r>
              <a:t>src/sonar/sonar.py</a:t>
            </a:r>
          </a:p>
          <a:p>
            <a:r>
              <a:t>tests/test_arrays_doppler_tma.py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23: Was die Sonaranzeigen tatsächlich zeigen</a:t>
            </a:r>
          </a:p>
          <a:p/>
          <a:p>
            <a:r>
              <a:t>LOFAR und DEMON werden aus synthetisierten Empfängersignalen abgeleitet. DEMON arbeitet auf deren Hüllkurve und liefert Hypothesen, etwa für Blattzahl, Harmonische und Drehzahl. Es liest keine verborgene wahre Propelleridentität aus der Plattform. Die Signaturen sind illustrative Modellparameter, keine realen Tonaufnahmen. BT ist eine eigene Messung mit Fehler und Gültigkeitsbezug. Der Kontaktanalysator stellt Katalogreferenzen zum Vergleichen bereit; dadurch wird eine aktuell gehörte Quelle nicht automatisch eindeutig identifiziert.</a:t>
            </a:r>
          </a:p>
          <a:p/>
          <a:p>
            <a:r>
              <a:t>QUELLEN</a:t>
            </a:r>
          </a:p>
          <a:p>
            <a:r>
              <a:t>src/audio/receiver.py</a:t>
            </a:r>
          </a:p>
          <a:p>
            <a:r>
              <a:t>src/audio/demon.py</a:t>
            </a:r>
          </a:p>
          <a:p>
            <a:r>
              <a:t>src/sonar/sonar.py</a:t>
            </a:r>
          </a:p>
          <a:p>
            <a:r>
              <a:t>src/ui/sonar_view.py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24: Sonar als Arbeitsplatz</a:t>
            </a:r>
          </a:p>
          <a:p/>
          <a:p>
            <a:r>
              <a:t>An dieser Abbildung lässt sich die Rolle des Bedieners erklären: Kontakt auswählen, Historie bewerten, eigene Manöver planen und die Lösung vor einer Waffenfreigabe überprüfen. Eine gut aussehende Kurve allein macht noch keinen frischen und belastbaren Schussdatensatz. Der Screenshot stammt aus dem Repository und illustriert den Arbeitsplatz; er ist kein neu aufgezeichneter Lauf des aktuellen Arbeitsstands.</a:t>
            </a:r>
          </a:p>
          <a:p/>
          <a:p>
            <a:r>
              <a:t>QUELLEN</a:t>
            </a:r>
          </a:p>
          <a:p>
            <a:r>
              <a:t>src/ui/sonar_view.py</a:t>
            </a:r>
          </a:p>
          <a:p>
            <a:r>
              <a:t>src/sonar/tma.py</a:t>
            </a:r>
          </a:p>
          <a:p>
            <a:r>
              <a:t>docs/screenshots/de-sonar-tma.png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25: Radar: Reichweite, Suchstrahl und Wahrscheinlichkeit</a:t>
            </a:r>
          </a:p>
          <a:p/>
          <a:p>
            <a:r>
              <a:t>Bei 90 Grad pro Sekunde braucht eine vollständige Umdrehung vier Simulationssekunden. Die Publikationskadenz ist also nicht gleich Wiederholrate eines bestimmten Ziels. Für ein Referenzziel ist die nominelle Reichweite auf eine Entdeckungswahrscheinlichkeit von 0,5 kalibriert. Ein Rauschstörer fällt auf dem Hinweg ungefähr mit R^-2 ab, das Echo auf dem Hin- und Rückweg mit R^-4; dadurch entsteht ein modellierter Burn-through-Bereich. Zielaspekt verändert die Radarrückstrahlung. Abwehr und Lagebild verwenden die zuletzt tatsächlich erzeugten Messungen.</a:t>
            </a:r>
          </a:p>
          <a:p/>
          <a:p>
            <a:r>
              <a:t>QUELLEN</a:t>
            </a:r>
          </a:p>
          <a:p>
            <a:r>
              <a:t>src/sensors/radar.py</a:t>
            </a:r>
          </a:p>
          <a:p>
            <a:r>
              <a:t>src/core/game.py</a:t>
            </a:r>
          </a:p>
          <a:p>
            <a:r>
              <a:t>src/core/detrand.py</a:t>
            </a:r>
          </a:p>
          <a:p>
            <a:r>
              <a:t>tests/test_radar_emissions_ecm.py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26: ESM beobachtet Emissionen, ECM verändert Suchköpfe</a:t>
            </a:r>
          </a:p>
          <a:p/>
          <a:p>
            <a:r>
              <a:t>ESM empfängt ausgesandte Signale statt eigener Echos. Ein passendes Frequenz- oder Pulsmuster liefert Kandidaten mit Güte, keine allwissende Identifikation. Pegel und angenommene Leistungsklasse erlauben eine grobe Entfernungsabschätzung. Die eigenen ECM-Techniken greifen in die terminale Suchkopfentscheidung ein. Feindliche Flugkörper können einen Rauschstörer tragen. Ein aktiver ASM-Suchkopf selbst ist eine ESM-Emission und kann damit eine Warnung auslösen, bevor das Suchradar einen stabilen Körpertrack hat. Die genaue Warnreihenfolge bleibt geometrie- und sensorabhängig.</a:t>
            </a:r>
          </a:p>
          <a:p/>
          <a:p>
            <a:r>
              <a:t>QUELLEN</a:t>
            </a:r>
          </a:p>
          <a:p>
            <a:r>
              <a:t>src/sensors/esm.py</a:t>
            </a:r>
          </a:p>
          <a:p>
            <a:r>
              <a:t>src/core/game.py</a:t>
            </a:r>
          </a:p>
          <a:p>
            <a:r>
              <a:t>src/air/asm.py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27: AIS, Ausguck und HFDF ergänzen sich</a:t>
            </a:r>
          </a:p>
          <a:p/>
          <a:p>
            <a:r>
              <a:t>Der simulierte AIS-Empfänger erhält Klasse-A-artige Positionsmeldungen mit fahrtabhängigen Intervallen und statische Angaben in längeren Abständen. Radar allein darf nicht den wahren Schiffsnamen oder Kurs liefern. Der Ausguck verwendet eine Kontrast- und Winkelgrößennäherung mit optischem Horizont. HFDF berücksichtigt eine vereinfachte ionosphärische Ausbreitung, optimale Arbeitsfrequenz und Sprungdistanz; Raumwellenpeilungen haben größere Fehler. Der anfängliche HQ-Hinweis ist bewusst gerundet und unbestätigt. Zusammengenommen ergänzen sich diese Quellen, ohne dieselbe Genauigkeit zu besitzen.</a:t>
            </a:r>
          </a:p>
          <a:p/>
          <a:p>
            <a:r>
              <a:t>QUELLEN</a:t>
            </a:r>
          </a:p>
          <a:p>
            <a:r>
              <a:t>src/sensors/ais.py</a:t>
            </a:r>
          </a:p>
          <a:p>
            <a:r>
              <a:t>src/sensors/visual.py</a:t>
            </a:r>
          </a:p>
          <a:p>
            <a:r>
              <a:t>src/sensors/hfdf.py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28: Ein Track altert – auch wenn sein Symbol stehen bleibt</a:t>
            </a:r>
          </a:p>
          <a:p/>
          <a:p>
            <a:r>
              <a:t>SensorTrack trennt unter anderem raw_x/raw_y, dargestellte Position, last_seen und position_seen. Neue Richtungsinformation kann vorhanden sein, obwohl kein neuer Entfernungsfix vorliegt. Bewegungsrichtung und Fahrt können aus einer Ausgleichsgeraden durch mehrere Positionsmessungen abgeleitet werden. Diese Schätzung ist wiederum von einem direkt gemeldeten AIS-Kurs zu unterscheiden. Anzeigeglättung arbeitet auf Präsentationsdaten; TMA und Feuerleitung sollen auf geeignete Rohdaten und echte Frischekriterien zurückgreifen. Die einzelnen Sensorprodukte besitzen unterschiedliche Verfallsregeln.</a:t>
            </a:r>
          </a:p>
          <a:p/>
          <a:p>
            <a:r>
              <a:t>QUELLEN</a:t>
            </a:r>
          </a:p>
          <a:p>
            <a:r>
              <a:t>src/sensors/tracks.py</a:t>
            </a:r>
          </a:p>
          <a:p>
            <a:r>
              <a:t>src/ui/observations.py</a:t>
            </a:r>
          </a:p>
          <a:p>
            <a:r>
              <a:t>src/sonar/sonar.py</a:t>
            </a:r>
          </a:p>
          <a:p>
            <a:r>
              <a:t>tests/test_observation_smoothing.py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29: OPZ-Fusion ist eine bewusste Zuordnung</a:t>
            </a:r>
          </a:p>
          <a:p/>
          <a:p>
            <a:r>
              <a:t>OPZFusionPicture ist ein begrenzter, transienter Arbeitsbereich. Eine Fusion referenziert Beobachtungs-IDs und überschreibt die Quellsysteme nicht. Ihre Position entsteht nur aus Mitgliedern, die bereits positioniert sind. Sind alle Quellen reine Peilungen, bleibt die Position unbekannt; es wird keine allgemeine Kreuzpeilungsrechnung durchgeführt. Die Fusion übernimmt auch nicht automatisch den wahren Kurs oder die Klasse eines Ziels. Manuelle Klassifikation und Zugehörigkeit sind Bedienerannotation. Deshalb muss die spätere Zielverwendung weiterhin ihre eigenen Gültigkeitsprüfungen durchlaufen.</a:t>
            </a:r>
          </a:p>
          <a:p/>
          <a:p>
            <a:r>
              <a:t>QUELLEN</a:t>
            </a:r>
          </a:p>
          <a:p>
            <a:r>
              <a:t>src/sensors/fusion.py</a:t>
            </a:r>
          </a:p>
          <a:p>
            <a:r>
              <a:t>src/core/game.py</a:t>
            </a:r>
          </a:p>
          <a:p>
            <a:r>
              <a:t>tests/test_opz_fusion.py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30: Auch NPCs haben ein eigenes Lagebild</a:t>
            </a:r>
          </a:p>
          <a:p/>
          <a:p>
            <a:r>
              <a:t>Game aktualisiert die NPC-Sensoren in stabiler Reihenfolge und vor deren Entscheidungen. Ein U-Boot muss aus passiven Peilungen zunächst eigene Entfernungsinformation gewinnen. Es kann Ping- und Torpedoereignisse bemerken, Kontaktgedächtnis führen und nach einer Reaktionszeit ausweichen. Feindliche Gruppen können modellierte Datalink-Beobachtungen austauschen, bei getauchten Booten jedoch nur unter Erreichbarkeitsbedingungen. Der Code enthält weiterhin Legacy- bzw. direkte Testaufrufpfade mit vereinfachten Beobachtungssnapshots; die Präsentation behauptet daher keine absolute Gleichheit sämtlicher Pfade.</a:t>
            </a:r>
          </a:p>
          <a:p/>
          <a:p>
            <a:r>
              <a:t>QUELLEN</a:t>
            </a:r>
          </a:p>
          <a:p>
            <a:r>
              <a:t>src/sensors/platform.py</a:t>
            </a:r>
          </a:p>
          <a:p>
            <a:r>
              <a:t>src/enemies/sub.py</a:t>
            </a:r>
          </a:p>
          <a:p>
            <a:r>
              <a:t>src/enemies/surface.py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31: U-Boot-Energie erzwingt taktische Phasen</a:t>
            </a:r>
          </a:p>
          <a:p/>
          <a:p>
            <a:r>
              <a:t>SubmarineEndurance ist ein fiktives, aber explizites Energiemodell mit Last, Generator, Batterie und gegebenenfalls endlichem AIP-Vorrat. Reservegrenzen steuern die Phasen SUBMERGED, AIP, ASCENDING, SNORKEL, RADIO und DESCENDING. Nicht jedes Profil verwendet dieselbe Ausstattung. Die Bewegung ergänzt beschränkte Beschleunigung, fahrtabhängige Tiefenruderwirkung, druckabhängige Kavitation und Rumpfbelastung. Schaden kann Lärm erhöhen und Notauftauchen erzwingen. Taktische und energetische Zustandsautomaten greifen dadurch ineinander.</a:t>
            </a:r>
          </a:p>
          <a:p/>
          <a:p>
            <a:r>
              <a:t>QUELLEN</a:t>
            </a:r>
          </a:p>
          <a:p>
            <a:r>
              <a:t>src/enemies/endurance.py</a:t>
            </a:r>
          </a:p>
          <a:p>
            <a:r>
              <a:t>src/enemies/sub.py</a:t>
            </a:r>
          </a:p>
          <a:p>
            <a:r>
              <a:t>src/physics/submarine.py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32: Oberfläche, Tiere und Luftverkehr formen die Lage</a:t>
            </a:r>
          </a:p>
          <a:p/>
          <a:p>
            <a:r>
              <a:t>Oberflächenkampfschiffe reagieren auf ihre sensorisch gewonnene Lage und können Flugkörper oder ASW-Waffen einsetzen, sofern Profil und Bereitschaft dies erlauben. Zivile Schifffahrt trägt sowohl zum sichtbaren Lagebild als auch zum modellierten Hintergrundgeräusch bei. Tiere besitzen eigene Bewegung und Signaturen, wodurch die Sonaraufgabe mehr als eine reine Gegnerliste wird. Reguläre Transitflüge verwenden vereinfachte Flugbahnen; Raider besitzen ein Angriffsprofil mit begrenztem Kurvenflug und Pop-up-Phase. Diese Klassen sollten nicht als einheitlicher Flugsimulator beschrieben werden.</a:t>
            </a:r>
          </a:p>
          <a:p/>
          <a:p>
            <a:r>
              <a:t>QUELLEN</a:t>
            </a:r>
          </a:p>
          <a:p>
            <a:r>
              <a:t>src/enemies/surface.py</a:t>
            </a:r>
          </a:p>
          <a:p>
            <a:r>
              <a:t>src/enemies/animal.py</a:t>
            </a:r>
          </a:p>
          <a:p>
            <a:r>
              <a:t>src/air/flights.py</a:t>
            </a:r>
          </a:p>
          <a:p>
            <a:r>
              <a:t>src/air/raid.py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33: Waffenfreigabe ist eine Kette von Bedingungen</a:t>
            </a:r>
          </a:p>
          <a:p/>
          <a:p>
            <a:r>
              <a:t>Die Präsentation fasst die gemeinsamen Kategorien zusammen, ohne eine einzige universelle boolesche Prüfung zu behaupten. Torpedos benötigen andere Beobachtungsdaten als ESSM oder CIWS. Eine verlorene Sensorposition, eine beschädigte Station oder ein leeres Rohr kann einen zuvor plausiblen Angriff verhindern. Das Waffensystem modelliert Lade- und Verbrauchszustände separat von der Zielauswahl. Remote-Crew-Befehle müssen kurz vor ihrer Ausführung nochmals gegen den aktuellen Zustand geprüft werden, weil sich zwischen Browseranzeige und Empfang die Lage geändert haben kann.</a:t>
            </a:r>
          </a:p>
          <a:p/>
          <a:p>
            <a:r>
              <a:t>QUELLEN</a:t>
            </a:r>
          </a:p>
          <a:p>
            <a:r>
              <a:t>src/core/game.py</a:t>
            </a:r>
          </a:p>
          <a:p>
            <a:r>
              <a:t>src/weapons/asw.py</a:t>
            </a:r>
          </a:p>
          <a:p>
            <a:r>
              <a:t>src/weapons/air_defense.py</a:t>
            </a:r>
          </a:p>
          <a:p>
            <a:r>
              <a:t>src/commander/bridge.py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34: Torpedo: Start, Draht, Suche und Endphase</a:t>
            </a:r>
          </a:p>
          <a:p/>
          <a:p>
            <a:r>
              <a:t>Der reguläre Spielpfad gibt Torpedos eine beobachtete Zielposition mit. Drahtupdates beruhen auf einer frischen Kontaktlösung, nicht fortlaufend auf der wahren Position des ursprünglich gewählten Gegners. Nähe zum Datum aktiviert die terminale Suche. Dort darf der Suchkopf intern reale Kandidaten auf geometrische und akustische Eignung untersuchen. Zielwahl ist damit nicht zwangsläufig dauerhaft an den Startkontakt gebunden. Der Torpedocode besitzt auch Fallbacks für Aufrufe ohne Datum; diese sind von der regulären beobachtungsbasierten Einsatzkette zu unterscheiden.</a:t>
            </a:r>
          </a:p>
          <a:p/>
          <a:p>
            <a:r>
              <a:t>QUELLEN</a:t>
            </a:r>
          </a:p>
          <a:p>
            <a:r>
              <a:t>src/weapons/torpedo.py</a:t>
            </a:r>
          </a:p>
          <a:p>
            <a:r>
              <a:t>src/physics/torpedo_dyn.py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35: Warum ein Torpedo verfehlen kann</a:t>
            </a:r>
          </a:p>
          <a:p/>
          <a:p>
            <a:r>
              <a:t>Bei leerem Energiespeicher endet der Motorlauf; die Waffe kann zunächst auslaufen und wird erst bei zu geringer Fahrt verloren. Eigene und gegnerische Torpedos haben Tiefenregelung und geschwindigkeitsabhängige Kurvenbegrenzung. Drahtlänge und Zugbelastung hängen auch von der Bewegung der Fregatte ab. Täuschkörper werden nicht nur als pauschale Ausweichchance betrachtet: Ihre Signale nehmen an der terminalen Zielwahl teil. Die Schadensnähe folgt einer Stoßfaktor-Näherung proportional zu sqrt(Sprengstoffmasse)/Abstand. Die genaue Wirkung ist zielklassenspezifisch.</a:t>
            </a:r>
          </a:p>
          <a:p/>
          <a:p>
            <a:r>
              <a:t>QUELLEN</a:t>
            </a:r>
          </a:p>
          <a:p>
            <a:r>
              <a:t>src/weapons/torpedo.py</a:t>
            </a:r>
          </a:p>
          <a:p>
            <a:r>
              <a:t>src/physics/torpedo_dyn.py</a:t>
            </a:r>
          </a:p>
          <a:p>
            <a:r>
              <a:t>src/enemies/decoy.py</a:t>
            </a:r>
          </a:p>
          <a:p>
            <a:r>
              <a:t>src/weapons/asw.py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36: ASROC und Helikopter verändern den Zustellweg</a:t>
            </a:r>
          </a:p>
          <a:p/>
          <a:p>
            <a:r>
              <a:t>ASROC besitzt eine eigene Flugphase. Erst bei erfolgreichem Einwassern wird die Unterwasserwaffe erzeugt. Deren Bewegung beginnt im nächsten Physikschritt, sodass Zeit nicht doppelt verbraucht wird. Der Helikopter berechnet eine relative Abwurfgeometrie aus einem beobachteten Datum; er darf nicht direkt zu einer verborgenen aktuellen Zielposition geführt werden. Entfernung, Frische und Bereitschaft werden im jeweiligen Freigabepfad geprüft. So bleibt die Beobachtungslage trotz verschiedener Zustellplattformen die gemeinsame Grundlage.</a:t>
            </a:r>
          </a:p>
          <a:p/>
          <a:p>
            <a:r>
              <a:t>QUELLEN</a:t>
            </a:r>
          </a:p>
          <a:p>
            <a:r>
              <a:t>src/weapons/asw.py</a:t>
            </a:r>
          </a:p>
          <a:p>
            <a:r>
              <a:t>src/air/helicopter.py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37: Ein Luftangriff besteht aus mehreren Phasen</a:t>
            </a:r>
          </a:p>
          <a:p/>
          <a:p>
            <a:r>
              <a:t>Raider sind keine voll simulierten fliegenden Cockpits, besitzen aber koordinierte Kurven und begrenzte Vertikalbewegung. Die Pop-up- und Feuerleitphase macht sie anders wahrnehmbar als den tief fliegenden Flugkörper. ASM werden als begrenzte Punktmassen mit Schub- und Höhenphasen geführt. Im Endanflug beschränken Suchfeld, Aufschaltzeit und Querbeschleunigung die Verfolgung. Eigene ECM und Düppel können die Suchentscheidung beeinflussen. Die ESM-Emission des aktiven Suchkopfs ist ein zusätzlicher Warnkanal neben der Radarauffassung des Flugkörpers.</a:t>
            </a:r>
          </a:p>
          <a:p/>
          <a:p>
            <a:r>
              <a:t>QUELLEN</a:t>
            </a:r>
          </a:p>
          <a:p>
            <a:r>
              <a:t>src/air/raid.py</a:t>
            </a:r>
          </a:p>
          <a:p>
            <a:r>
              <a:t>src/air/asm.py</a:t>
            </a:r>
          </a:p>
          <a:p>
            <a:r>
              <a:t>src/physics/missile.py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38: Luftabwehr ist ein begrenztes Schichtsystem</a:t>
            </a:r>
          </a:p>
          <a:p/>
          <a:p>
            <a:r>
              <a:t>Düppel sind gespeicherte Wolken mit Alter, Bloom und Winddrift. Das Suchkopfmodell vergleicht deren Echo mit dem Schiff und kann auf eine Wolke umlenken. ESSM erhält vor der Eigenortung Beobachtungsupdates. CIWS besitzt eine begrenzte Schwenkrate; die Burst-Wirkung berücksichtigt Streuung, Vorhersagefehler und Flugzeit der Geschosse. Ein Burst, der erst nach dem Einschlag eintreffen würde, kann den Angriff nicht mehr abwehren. Die Abwehr folgt den aktuellen Freigaben und begrenzten Ressourcen, nicht einer globalen Unverwundbarkeitswahrscheinlichkeit.</a:t>
            </a:r>
          </a:p>
          <a:p/>
          <a:p>
            <a:r>
              <a:t>QUELLEN</a:t>
            </a:r>
          </a:p>
          <a:p>
            <a:r>
              <a:t>src/air/chaff.py</a:t>
            </a:r>
          </a:p>
          <a:p>
            <a:r>
              <a:t>src/air/asm.py</a:t>
            </a:r>
          </a:p>
          <a:p>
            <a:r>
              <a:t>src/weapons/ciws.py</a:t>
            </a:r>
          </a:p>
          <a:p>
            <a:r>
              <a:t>src/weapons/air_defense.py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39: Der Helikopter verbindet drei Stationen</a:t>
            </a:r>
          </a:p>
          <a:p/>
          <a:p>
            <a:r>
              <a:t>Der Helikopter ist ein kommandiertes eigenes Mittel und daher mit seiner eigenen Position sichtbar. Das bedeutet jedoch keinen Zugriff auf verborgene Feindpositionen. Beim Dippen wirkt Wind gegen eine vereinfachte Positionshaltung; der Treibstoffverbrauch ist gegenüber dem Reiseflug erhöht. Sonarbojen driften mit Oberflächenströmung und einem zusätzlichen Windanteil. Das Flugdeck benötigt ein Roll-/Stampffenster, im Modell 8 Grad Rollen und 3,5 Grad Stampfen. Wind, Sicht, Seegang und neue Vereisungsregeln ergänzen diese mechanischen Grenzen.</a:t>
            </a:r>
          </a:p>
          <a:p/>
          <a:p>
            <a:r>
              <a:t>QUELLEN</a:t>
            </a:r>
          </a:p>
          <a:p>
            <a:r>
              <a:t>src/air/helicopter.py</a:t>
            </a:r>
          </a:p>
          <a:p>
            <a:r>
              <a:t>src/air/sonobuoy.py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40: Ein Treffer setzt eine Folge von Zuständen in Gang</a:t>
            </a:r>
          </a:p>
          <a:p/>
          <a:p>
            <a:r>
              <a:t>Die neun Zonen sind ein fiktives funktionales Abteilungsmodell und kein realer Bauplan. Ein Torpedotreffer ordnet anhand der Aufpralllage lokale Räume zu. Flutung kann elektrische Kurzschlüsse auslösen; anhaltend heiße Schotten können Feuer weitertragen. Ein Magazinbrand kann eine Sekundärwirkung erzeugen. Stationen besitzen eine kontinuierliche capability zusätzlich zu Zuständen wie zerstört. Im nächsten Navigationsschritt werden daraus Fahrtgrenze, Steuerungszustand, Stabilisatorzustand und Flutwassermasse übernommen. So schließen sich die physikalischen Rückkopplungen.</a:t>
            </a:r>
          </a:p>
          <a:p/>
          <a:p>
            <a:r>
              <a:t>QUELLEN</a:t>
            </a:r>
          </a:p>
          <a:p>
            <a:r>
              <a:t>src/ship/damage.py</a:t>
            </a:r>
          </a:p>
          <a:p>
            <a:r>
              <a:t>src/core/game.py</a:t>
            </a:r>
          </a:p>
          <a:p>
            <a:r>
              <a:t>src/ship/ship.py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41: Flutung koppelt Hydraulik und Stabilität</a:t>
            </a:r>
          </a:p>
          <a:p/>
          <a:p>
            <a:r>
              <a:t>Die Druckhöhe wird zwischen äußerer Wasserlinie und innerem Wasserstand bestimmt. Deshalb verlangsamt sich ein Einbruch beim Niveauausgleich; hoch liegende Räume werden nicht automatisch wie Räume unter der Wasserlinie geflutet. Jede Zone besitzt Volumen, Schwerpunkt und Höhenlage. Freie Flüssigkeitsoberflächen reduzieren die metazentrische Stabilität. Das Modell prüft Reserveauftrieb, GM und einen Krängungsgrenzwert. Diese Größen sind spielkalibrierte Näherungen und keine vollständige hydrostatische Schiffsentwurfsrechnung.</a:t>
            </a:r>
          </a:p>
          <a:p/>
          <a:p>
            <a:r>
              <a:t>QUELLEN</a:t>
            </a:r>
          </a:p>
          <a:p>
            <a:r>
              <a:t>src/ship/damage.py</a:t>
            </a:r>
          </a:p>
          <a:p>
            <a:r>
              <a:t>src/ship/ship.py</a:t>
            </a:r>
          </a:p>
          <a:p>
            <a:r>
              <a:t>tests/test_damage_stability.py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42: Reparatur ist eine logistische Entscheidung</a:t>
            </a:r>
          </a:p>
          <a:p/>
          <a:p>
            <a:r>
              <a:t>Reparatur beginnt erst nach Ankunft des Trupps. Die Laufzeit beträgt im Modell 20 Sekunden pro Graphkante; acht Patch-Kits stehen anfänglich zur Verfügung. Ein provisorischer Patch beseitigt ein Leck nicht vollständig. Der Bediener muss deshalb zwischen unmittelbarem Schiffserhalt und Wiedergewinnung von Kampffähigkeit abwägen. Mehrere Schäden können dieselben Zugangswege und Ressourcen beanspruchen. Autocrew kann Reparaturen konservativ zuteilen, bleibt aber an dieselbe Zustands- und Ressourcenwelt gebunden.</a:t>
            </a:r>
          </a:p>
          <a:p/>
          <a:p>
            <a:r>
              <a:t>QUELLEN</a:t>
            </a:r>
          </a:p>
          <a:p>
            <a:r>
              <a:t>src/ship/damage.py</a:t>
            </a:r>
          </a:p>
          <a:p>
            <a:r>
              <a:t>src/core/autocrew.py</a:t>
            </a:r>
          </a:p>
          <a:p>
            <a:r>
              <a:t>tests/test_damage.py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43: Schadenslage sichtbar machen</a:t>
            </a:r>
          </a:p>
          <a:p/>
          <a:p>
            <a:r>
              <a:t>Die Abbildung bietet einen Anlass, den Zusammenhang zwischen Zonen und Stationen durchzugehen. Ein Maschinenschaden verringert Beweglichkeit; ein Sonarschaden schwächt Aufklärung; Flugdeckschaden betrifft eigene Luftmittel und im aktuellen Modell auch achtere Steuerfunktionen. Links- oder rechtsseitige Flutung kann zusätzlich Schlagseite erzeugen. Die Karte visualisiert ein funktionales Modell und darf nicht als maßstäblicher realer Fregattenplan gelesen werden.</a:t>
            </a:r>
          </a:p>
          <a:p/>
          <a:p>
            <a:r>
              <a:t>QUELLEN</a:t>
            </a:r>
          </a:p>
          <a:p>
            <a:r>
              <a:t>src/ui/stations_view.py</a:t>
            </a:r>
          </a:p>
          <a:p>
            <a:r>
              <a:t>src/ship/damage.py</a:t>
            </a:r>
          </a:p>
          <a:p>
            <a:r>
              <a:t>docs/screenshots/de-damage-control-alert.png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44: Neun Stationen bedienen denselben Zustand</a:t>
            </a:r>
          </a:p>
          <a:p/>
          <a:p>
            <a:r>
              <a:t>Lokale Eingaben haben eine eindeutige Zuständigkeit. Menüs, Editor, Verwaltungsansichten und numerische Eingaben werden vor den normalen Stationsaktionen behandelt. Gehaltene Steuerungen werden bei relevanten Wechseln gelöscht. Numerische Eingaben können absichtlich bei laufender Simulation erfolgen. Kartenbedienung gilt nur dort, wo eine Karte sichtbar ist. Dieselbe klare Zuständigkeit wird für Remote Crew benötigt: Ein Browser soll nicht versehentlich zugleich eine andere Station oder den Host verwalten können.</a:t>
            </a:r>
          </a:p>
          <a:p/>
          <a:p>
            <a:r>
              <a:t>QUELLEN</a:t>
            </a:r>
          </a:p>
          <a:p>
            <a:r>
              <a:t>src/core/station.py</a:t>
            </a:r>
          </a:p>
          <a:p>
            <a:r>
              <a:t>src/core/commands.py</a:t>
            </a:r>
          </a:p>
          <a:p>
            <a:r>
              <a:t>src/core/game.py</a:t>
            </a:r>
          </a:p>
          <a:p>
            <a:r>
              <a:t>src/core/help.py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45: Autocrew automatisiert vorhandene Arbeitsplätze</a:t>
            </a:r>
          </a:p>
          <a:p/>
          <a:p>
            <a:r>
              <a:t>Die Automatisierung ist ein Bündel stationsbezogener Regeln, kein lernendes Modell. Die Brücke kann beobachteten Bedrohungen ausweichen und Navigationsgefahren berücksichtigen; Sonar kann unterstützende Mess-/TMA-Aktionen ausführen; Schadensabwehr verteilt Trupps. Der Zustand enthält aktivierte Stationen, nächste Fälligkeiten und letzte Aktionen und wird für die Fortsetzung gespeichert. Die Ausführung erfolgt am Ende eines Substeps, damit neue Beobachtungen bereits verfügbar sind. Dadurch besteht eine klare Verzögerung zwischen Wahrnehmung und Wirkung des nächsten Stellbefehls.</a:t>
            </a:r>
          </a:p>
          <a:p/>
          <a:p>
            <a:r>
              <a:t>QUELLEN</a:t>
            </a:r>
          </a:p>
          <a:p>
            <a:r>
              <a:t>src/core/autocrew.py</a:t>
            </a:r>
          </a:p>
          <a:p>
            <a:r>
              <a:t>src/core/game.py</a:t>
            </a:r>
          </a:p>
          <a:p>
            <a:r>
              <a:t>tests/test_autocrew.py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46: Remote Crew: Der Host bleibt die Autorität</a:t>
            </a:r>
          </a:p>
          <a:p/>
          <a:p>
            <a:r>
              <a:t>Der Netzwerkthread führt keine Physik und keine beliebigen Game-Methoden aus. Nachrichten werden streng validiert und im Hauptthread erneut geprüft. Stationsreihenfolge und pro Client geordnete Befehle bestimmen die Anwendung; Sequenz- und Kontextprüfungen verhindern Doppelanwendung oder alte Befehle nach einem Weltwechsel. Der Host vergibt Rechte, inklusive gesonderter direkter Feuerfreigabe. Solo Crew und der optionale Web-Host erweitern die ausdrücklich freigegebene Host-Bedienoberfläche, ohne eine zweite Simulationsautorität zu erzeugen. Sitzungen und Zugangsdaten sind keine Bestandteile von Spielständen.</a:t>
            </a:r>
          </a:p>
          <a:p/>
          <a:p>
            <a:r>
              <a:t>QUELLEN</a:t>
            </a:r>
          </a:p>
          <a:p>
            <a:r>
              <a:t>src/commander/server.py</a:t>
            </a:r>
          </a:p>
          <a:p>
            <a:r>
              <a:t>src/commander/local.py</a:t>
            </a:r>
          </a:p>
          <a:p>
            <a:r>
              <a:t>src/commander/bridge.py</a:t>
            </a:r>
          </a:p>
          <a:p>
            <a:r>
              <a:t>src/commander/projections.py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47: Lokale und Browseransicht teilen Beobachtungen</a:t>
            </a:r>
          </a:p>
          <a:p/>
          <a:p>
            <a:r>
              <a:t>Der Browser rendert eine zulässige, abgetrennte Projektion. Er erhält keine frei lesbaren Simulationsobjekte und berechnet keine eigene authoritative Welt. Stationsrechte beschränken sowohl Aktionen als auch sichtbare Daten. Lokale, direkte und fernbediente Befehle treffen sich im Game-seitigen Handlungspfad. Die im Repository vorhandenen Screenshots sind Ansichtsbeispiele, keine aktuelle Latenz- oder Lastmessung. Eine gute Netzwerkdarstellung muss veraltete oder widerrufene Zustände für den Bediener erkennbar machen.</a:t>
            </a:r>
          </a:p>
          <a:p/>
          <a:p>
            <a:r>
              <a:t>QUELLEN</a:t>
            </a:r>
          </a:p>
          <a:p>
            <a:r>
              <a:t>src/commander/projections.py</a:t>
            </a:r>
          </a:p>
          <a:p>
            <a:r>
              <a:t>data/commander/app.js</a:t>
            </a:r>
          </a:p>
          <a:p>
            <a:r>
              <a:t>docs/screenshots/commander-v2-de-opz-desktop.png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48: Live-Verkehr ist eine externe Eingangsgröße</a:t>
            </a:r>
          </a:p>
          <a:p/>
          <a:p>
            <a:r>
              <a:t>Das ist eine wesentliche Grenze der Determinismusaussage. Der seedbasierte Kern kann bei identischen Eingaben fortgesetzt werden; ein externer Livestream ist selbst eine zusätzliche Eingabe mit zeitabhängigen Ankünften. Live-Flugzeuge werden im Pump anhand von time.time weitergeführt, Meldungen nach Wandzeit verworfen. Live-Schiffspositionsupdates sind bewusst gedrosselt. Die Pumpreihenfolge bedeutet, dass Netzwerkpflege auch während einer Kernsimulationspause stattfinden kann. Ein gespeicherter Weltzustand ist deshalb keine vollständige Aufzeichnung aller zukünftigen Live-Meldungen.</a:t>
            </a:r>
          </a:p>
          <a:p/>
          <a:p>
            <a:r>
              <a:t>QUELLEN</a:t>
            </a:r>
          </a:p>
          <a:p>
            <a:r>
              <a:t>src/network/live_traffic.py</a:t>
            </a:r>
          </a:p>
          <a:p>
            <a:r>
              <a:t>src/network/ais_client.py</a:t>
            </a:r>
          </a:p>
          <a:p>
            <a:r>
              <a:t>src/network/adsb_client.py</a:t>
            </a:r>
          </a:p>
          <a:p>
            <a:r>
              <a:t>src/air/live_aircraft.py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49: Determinismus braucht mehr als denselben Seed</a:t>
            </a:r>
          </a:p>
          <a:p/>
          <a:p>
            <a:r>
              <a:t>Ein klassischer Zufallsstrom hängt von allen vorherigen Ziehungen ab. Neue Ziehungen können deshalb bestehende Abläufe verschieben. Das counterbasierte detrand bildet Schlüssel wie Seed, Tag, Entität und Tick direkt auf Zufallswerte ab. Speicherfortsetzung muss zusätzlich IDs, Sensorzyklen, ausstehende Ereignisse und Waffenphasen erhalten. Unterschiedliche dt-Sequenzen sind nicht pauschal identisch; einzelne Solver sind besonders substep-stabil, die gesamte Ablaufsteuerung hat jedoch diskrete Ereignisse. Live-Feeds benötigen für eine echte Wiederholung auch identische externe Meldungen.</a:t>
            </a:r>
          </a:p>
          <a:p/>
          <a:p>
            <a:r>
              <a:t>QUELLEN</a:t>
            </a:r>
          </a:p>
          <a:p>
            <a:r>
              <a:t>src/core/detrand.py</a:t>
            </a:r>
          </a:p>
          <a:p>
            <a:r>
              <a:t>src/core/save_schema.py</a:t>
            </a:r>
          </a:p>
          <a:p>
            <a:r>
              <a:t>tests/test_determinism.py</a:t>
            </a:r>
          </a:p>
          <a:p>
            <a:r>
              <a:t>tests/test_runtime_continuation.py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50: Save v12 hält einen fortsetzbaren Weltzustand</a:t>
            </a:r>
          </a:p>
          <a:p/>
          <a:p>
            <a:r>
              <a:t>Ein Spielstand ist mehr als eine Liste sichtbarer Einheiten. Er muss auch einen schon gesendeten Ping, eine laufende Waffenladung, eine gestartete Reparatur oder einen künftigen Sensorzyklus korrekt fortsetzen. Die Weltgeometrie und runtime-relevanten Katalogdaten sind enthalten, um Veränderungen an Generatoren oder installierten Katalogen nicht stillschweigend in einen alten Einsatz einzuschleusen. Validierung und Wiederherstellung erfolgen transaktional. Nicht jeder Darstellungszustand ist persistent: Empfängersignalpuffer haben einen absichtlichen Warm-up, OPZ-Fusionsarbeitsflächen sind transient.</a:t>
            </a:r>
          </a:p>
          <a:p/>
          <a:p>
            <a:r>
              <a:t>QUELLEN</a:t>
            </a:r>
          </a:p>
          <a:p>
            <a:r>
              <a:t>src/core/game.py</a:t>
            </a:r>
          </a:p>
          <a:p>
            <a:r>
              <a:t>src/core/save_schema.py</a:t>
            </a:r>
          </a:p>
          <a:p>
            <a:r>
              <a:t>src/core/version.py</a:t>
            </a:r>
          </a:p>
          <a:p>
            <a:r>
              <a:t>tests/test_save_v12_hygiene.py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51: Mission und Editor: Modellumfang ist nicht Laufzeitumfang</a:t>
            </a:r>
          </a:p>
          <a:p/>
          <a:p>
            <a:r>
              <a:t>Eingebaute Szenarien und die freie Jagd verwenden Mission als Spawn- und Zielplan. Die Missionsprüfung wertet den tatsächlichen Einsatzverlauf aus, einschließlich eigener Verluste, Vorfällen und Zeitlimit. Für editorverfasste Missionen existiert eine engere Runtime-Brücke: unterstützte eingebaute Plattformprofile, keine Events oder Zufallsgruppen und nur sink/survive. Im aktuellen start_custom_mission werden die Ziel-IDs für sink gegen die platzierten feindlichen U-Boote geprüft; die Seite wird beim Erzeugen einer Einheit übernommen. Benutzerinhalte werden mit strikten Typ-, Pfad- und Referenzprüfungen behandelt. Gültige benutzerdefinierte Einheiten haben aktuell keine Simulationseffekt-Zusage.</a:t>
            </a:r>
          </a:p>
          <a:p/>
          <a:p>
            <a:r>
              <a:t>QUELLEN</a:t>
            </a:r>
          </a:p>
          <a:p>
            <a:r>
              <a:t>src/core/mission.py</a:t>
            </a:r>
          </a:p>
          <a:p>
            <a:r>
              <a:t>src/core/mission_definition.py</a:t>
            </a:r>
          </a:p>
          <a:p>
            <a:r>
              <a:t>src/core/game.py</a:t>
            </a:r>
          </a:p>
          <a:p>
            <a:r>
              <a:t>src/data/user_content.py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52: Audio macht die akustische Lage hörbar</a:t>
            </a:r>
          </a:p>
          <a:p/>
          <a:p>
            <a:r>
              <a:t>Die technischen Audiomodule bieten mehr Bausteine, als der aktuelle Game-Pfad ständig abspielt. _update_audio streamt das aktiv gewählte Sonar- oder Helikopterhören. Die Referenzsignale sind synthetisch und sollen Unterscheidungsaufgaben ermöglichen, keine realen geheimen Plattformaufnahmen reproduzieren. Der Empfänger hält Phasen- und Filterzustände über Blöcke. Wiedergabe und Browsertransport haben begrenzte Queues und behandeln Unterbrechungen explizit. Der tactical state darf nicht davon abhängen, ob ein Audiogerät erfolgreich initialisiert wurde.</a:t>
            </a:r>
          </a:p>
          <a:p/>
          <a:p>
            <a:r>
              <a:t>QUELLEN</a:t>
            </a:r>
          </a:p>
          <a:p>
            <a:r>
              <a:t>src/audio/receiver.py</a:t>
            </a:r>
          </a:p>
          <a:p>
            <a:r>
              <a:t>src/audio/hydroacoustics.py</a:t>
            </a:r>
          </a:p>
          <a:p>
            <a:r>
              <a:t>src/audio/engine.py</a:t>
            </a:r>
          </a:p>
          <a:p>
            <a:r>
              <a:t>src/core/game.py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53: Technische Abhängigkeiten bleiben überschaubar</a:t>
            </a:r>
          </a:p>
          <a:p/>
          <a:p>
            <a:r>
              <a:t>Die deklarierten Laufzeitabhängigkeiten stammen aus pyproject.toml. Viele andere Funktionen wie HTTP-Server, Speichertransaktionen, Hashes und Threads beruhen auf der Python-Standardbibliothek. Die Browseroberfläche liegt als paketierte HTML-, CSS- und JavaScript-Dateien vor. Kontaktanalysebilder sind inzwischen ebenfalls Paketressourcen; ältere pauschale Aussagen über keinerlei Bilddateien wären daher zu eng. Die Dokumenterzeugung installiert nur Werkzeuge in der vorhandenen venv; Projektmetadaten und Anforderungen des Spiels werden dadurch nicht verändert.</a:t>
            </a:r>
          </a:p>
          <a:p/>
          <a:p>
            <a:r>
              <a:t>QUELLEN</a:t>
            </a:r>
          </a:p>
          <a:p>
            <a:r>
              <a:t>pyproject.toml</a:t>
            </a:r>
          </a:p>
          <a:p>
            <a:r>
              <a:t>requirements.txt</a:t>
            </a:r>
          </a:p>
          <a:p>
            <a:r>
              <a:t>MANIFEST.in</a:t>
            </a:r>
          </a:p>
          <a:p>
            <a:r>
              <a:t>src/network/ais_client.py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54: Leistung wird durch Begrenzung gewonnen</a:t>
            </a:r>
          </a:p>
          <a:p/>
          <a:p>
            <a:r>
              <a:t>Die reine Desktop- oder Headless-Ausführung belegt nicht, dass die volle Last auf der uConsole stabil bleibt. Besonders teuer sind viele Kandidaten pro Sensor, neue Raytrace-Tabellen und Signalverarbeitung. Darum werden Metadaten und reine Tabellen gecacht, abseits liegende Kandidaten früh verworfen und Publikationstakte begrenzt. Die Obergrenze von zwölf Sitzungen ist ein Protokoll-/Ressourcenlimit, kein gemessener Leistungsnachweis für jeden Clientmix. Der Code besitzt optionale Laufzeitdiagnostik für Physik-, Audio-, Commander- und Zeichenzeiten.</a:t>
            </a:r>
          </a:p>
          <a:p/>
          <a:p>
            <a:r>
              <a:t>QUELLEN</a:t>
            </a:r>
          </a:p>
          <a:p>
            <a:r>
              <a:t>src/core/config.py</a:t>
            </a:r>
          </a:p>
          <a:p>
            <a:r>
              <a:t>src/core/game.py</a:t>
            </a:r>
          </a:p>
          <a:p>
            <a:r>
              <a:t>src/sonar/raytrace.py</a:t>
            </a:r>
          </a:p>
          <a:p>
            <a:r>
              <a:t>src/commander/server.py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55: Beispiel: Ein leiser Kontakt wird bekämpfbar</a:t>
            </a:r>
          </a:p>
          <a:p/>
          <a:p>
            <a:r>
              <a:t>Dieses Beispiel ist keine aufgezeichnete Messreihe und verspricht keine festen Zeit- oder Reichweitenwerte. Es führt die zuvor beschriebenen Abhängigkeiten zusammen. Weniger Fahrt kann die Hörlage verbessern, aber die Manövergeometrie langsamer aufbauen. Ein Helikopter kann helfen, benötigt jedoch Flugwetter, Deck und Treibstoff. Eine TMA-Lösung kann bis zum Waffenstart wieder veralten. Nach dem Start kann der Gegner den Ausstoß oder die laufende Waffe bemerken. Wirkung und Folgelage hängen daher von mehreren unabhängigen begrenzenden Modellen ab.</a:t>
            </a:r>
          </a:p>
          <a:p/>
          <a:p>
            <a:r>
              <a:t>QUELLEN</a:t>
            </a:r>
          </a:p>
          <a:p>
            <a:r>
              <a:t>src/core/game.py</a:t>
            </a:r>
          </a:p>
          <a:p>
            <a:r>
              <a:t>src/sonar/tma.py</a:t>
            </a:r>
          </a:p>
          <a:p>
            <a:r>
              <a:t>src/enemies/sub.py</a:t>
            </a:r>
          </a:p>
          <a:p>
            <a:r>
              <a:t>src/weapons/torpedo.py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56: Beispiel: Ein Wetterwechsel trifft die Einsatzkette</a:t>
            </a:r>
          </a:p>
          <a:p/>
          <a:p>
            <a:r>
              <a:t>Auch dieses Beispiel beschreibt eine Kausalkette und keine garantierte monotone Veränderung jedes Messwertes. Ein verändertes Schallprofil kann manche Wege verschlechtern und andere verbessern. Die Flugentscheidung hängt zusätzlich von Windrichtung relativ zum Schiff und dem momentanen Deckzustand ab. Wenn die Fregatte zur Deckberuhigung den Kurs ändert, verändert das zugleich die Sonargeometrie und eventuell die Drahtbelastung einer laufenden Waffe. Genau solche Querverbindungen machen die Stationsaufteilung sinnvoll.</a:t>
            </a:r>
          </a:p>
          <a:p/>
          <a:p>
            <a:r>
              <a:t>QUELLEN</a:t>
            </a:r>
          </a:p>
          <a:p>
            <a:r>
              <a:t>src/world/world.py</a:t>
            </a:r>
          </a:p>
          <a:p>
            <a:r>
              <a:t>src/physics/ship_dynamics.py</a:t>
            </a:r>
          </a:p>
          <a:p>
            <a:r>
              <a:t>src/core/game.py</a:t>
            </a:r>
          </a:p>
          <a:p>
            <a:r>
              <a:t>src/sonar/equation.py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57: Tests prüfen verschiedene Arten von Richtigkeit</a:t>
            </a:r>
          </a:p>
          <a:p/>
          <a:p>
            <a:r>
              <a:t>Der Kalibrierungsharness vergleicht modellierte Ergebnisse mit gespeicherten Referenzen aus 1.0.0. Änderungen wie andere Mehrwegeausbreitung dürfen bewusst abweichen, wenn sie als bekannte Metrik mit Grund dokumentiert sind. Weitere Tests prüfen Verträge, die eine reine Physikformel nicht abdeckt: Keine versteckte Position in der Bedienansicht, keine alte Fernaktion nach Weltwechsel, kein Teilzustand nach ungültigem Laden. Für diese Dokumentationsarbeit werden gezielte Prüfungen protokolliert; sie sind kein Ersatz für einen vollständigen Release- oder Hardwaretest.</a:t>
            </a:r>
          </a:p>
          <a:p/>
          <a:p>
            <a:r>
              <a:t>QUELLEN</a:t>
            </a:r>
          </a:p>
          <a:p>
            <a:r>
              <a:t>tests/test_calibration.py</a:t>
            </a:r>
          </a:p>
          <a:p>
            <a:r>
              <a:t>tests/calibration/golden.json</a:t>
            </a:r>
          </a:p>
          <a:p>
            <a:r>
              <a:t>tests/calibration/deviations.json</a:t>
            </a:r>
          </a:p>
          <a:p>
            <a:r>
              <a:t>tools/calibrate.py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58: Welche Aussagen die Modelle nicht tragen</a:t>
            </a:r>
          </a:p>
          <a:p/>
          <a:p>
            <a:r>
              <a:t>Offene oder absichtlich ausgelassene Aspekte dürfen nicht aus vorhandenem Fachvokabular hinzugedacht werden. Eine Nomoto-Steuerung ist kein vollständiger CFD-Solver. Ein Temperaturprofil ist keine reale hydrographische Vermessung. Ein ESM-Kandidat ist keine gesicherte Plattformidentität. Der Implementierungsstand hat außerdem Vorrang vor historischen Designplänen und teilweise überholten Kommentaren. Besonders abweichend sind aktuell die feste Echtzeit, optionaler Live-Verkehr, abgeleitete Wetterinstrumente und der opt-in Audiopfad. Die Quelleninventur macht den dokumentierten Arbeitsstand nachvollziehbar.</a:t>
            </a:r>
          </a:p>
          <a:p/>
          <a:p>
            <a:r>
              <a:t>QUELLEN</a:t>
            </a:r>
          </a:p>
          <a:p>
            <a:r>
              <a:t>src/sonar/raytrace.py</a:t>
            </a:r>
          </a:p>
          <a:p>
            <a:r>
              <a:t>src/audio/receiver.py</a:t>
            </a:r>
          </a:p>
          <a:p>
            <a:r>
              <a:t>src/sensors/fusion.py</a:t>
            </a:r>
          </a:p>
          <a:p>
            <a:r>
              <a:t>docs/simulation-gaps.md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59: Was greift ineinander?</a:t>
            </a:r>
          </a:p>
          <a:p/>
          <a:p>
            <a:r>
              <a:t>Zum Abschluss lassen sich alle Details auf diese fünf Ketten zurückführen. Keine Station optimiert allein: Eine Fahrtentscheidung verändert Sonar; ein Sonarmanöver verändert Draht und Deck; ein Treffer verändert die nächste Detektionschance. Der zentrale Integrationscode ordnet diese Wechselwirkungen zeitlich. Die Informationsgrenze verhindert, dass der Spieler schon weiß, was seine Sensoren erst herausfinden müssen. Gemeinsam mit begrenzten Vorräten, Reaktionszeiten und Schäden ergibt sich der taktische Charakter der Simulation.</a:t>
            </a:r>
          </a:p>
          <a:p/>
          <a:p>
            <a:r>
              <a:t>QUELLEN</a:t>
            </a:r>
          </a:p>
          <a:p>
            <a:r>
              <a:t>src/core/game.py</a:t>
            </a:r>
          </a:p>
          <a:p>
            <a:r>
              <a:t>src/core/save_schema.py</a:t>
            </a:r>
          </a:p>
          <a:p>
            <a:r>
              <a:t>src/commander/projections.py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Folie 60: Quellen und Lesewege</a:t>
            </a:r>
          </a:p>
          <a:p/>
          <a:p>
            <a:r>
              <a:t>Priorität der Analyse: ausführbarer Code und fokussierte Tests, danach Paketressourcen und Metadaten, danach aktuelle Handbücher. Historische Designtexte wurden nur als Kontext verwendet. Es wurden keine privaten Referenz-PDFs verwendet. Die Architekturabbildungen wurden für diese Präsentation aus den beschriebenen Beziehungen neu erstellt. Bestehende Screenshots sind als Repository-Abbildungen gekennzeichnet. Das Quelleninventar enthält Dateihashes des lokalen Arbeitsstands; ein Commit-Hash allein würde die bereits vorhandenen lokalen Änderungen nicht hinreichend beschreiben.</a:t>
            </a:r>
          </a:p>
          <a:p/>
          <a:p>
            <a:r>
              <a:t>QUELLEN</a:t>
            </a:r>
          </a:p>
          <a:p>
            <a:r>
              <a:t>AGENTS.md</a:t>
            </a:r>
          </a:p>
          <a:p>
            <a:r>
              <a:t>src/core/version.py</a:t>
            </a:r>
          </a:p>
          <a:p>
            <a:r>
              <a:t>pyproject.toml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SYSTEMÜBERBLICK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01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U-Jagd: Die Simulation verstehen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Wie Welt, Sensoren, Entscheidungen und Wirkung ineinandergreifen</a:t>
            </a:r>
          </a:p>
        </p:txBody>
      </p:sp>
      <p:sp>
        <p:nvSpPr>
          <p:cNvPr id="7" name="TextBox 6"/>
          <p:cNvSpPr txBox="1"/>
          <p:nvPr/>
        </p:nvSpPr>
        <p:spPr>
          <a:xfrm>
            <a:off x="495299" y="2308860"/>
            <a:ext cx="11369040" cy="352043"/>
          </a:xfrm>
          <a:prstGeom prst="rect">
            <a:avLst/>
          </a:prstGeom>
          <a:noFill/>
        </p:spPr>
        <p:txBody>
          <a:bodyPr wrap="none" lIns="0" rIns="0" tIns="0" bIns="0">
            <a:spAutoFit/>
          </a:bodyPr>
          <a:lstStyle/>
          <a:p>
            <a:pPr>
              <a:defRPr sz="1980" b="1">
                <a:solidFill>
                  <a:srgbClr val="54D1BA"/>
                </a:solidFill>
                <a:latin typeface="DejaVu Sans"/>
              </a:defRPr>
            </a:pPr>
            <a:r>
              <a:t>WELT → MESSUNG → ENTSCHEIDUNG → WIRKUNG</a:t>
            </a:r>
          </a:p>
        </p:txBody>
      </p:sp>
      <p:sp>
        <p:nvSpPr>
          <p:cNvPr id="8" name="Rectangle 7"/>
          <p:cNvSpPr/>
          <p:nvPr/>
        </p:nvSpPr>
        <p:spPr>
          <a:xfrm>
            <a:off x="495299" y="3390900"/>
            <a:ext cx="3634740" cy="15544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619500"/>
            <a:ext cx="3329940" cy="448056"/>
          </a:xfrm>
          <a:prstGeom prst="rect">
            <a:avLst/>
          </a:prstGeom>
          <a:noFill/>
        </p:spPr>
        <p:txBody>
          <a:bodyPr wrap="none" lIns="0" rIns="0" tIns="0" bIns="0">
            <a:spAutoFit/>
          </a:bodyPr>
          <a:lstStyle/>
          <a:p>
            <a:pPr>
              <a:defRPr sz="2520" b="1">
                <a:solidFill>
                  <a:srgbClr val="F5C66C"/>
                </a:solidFill>
                <a:latin typeface="DejaVu Sans"/>
              </a:defRPr>
            </a:pPr>
            <a:r>
              <a:t>1.1.0</a:t>
            </a:r>
          </a:p>
        </p:txBody>
      </p:sp>
      <p:sp>
        <p:nvSpPr>
          <p:cNvPr id="10" name="TextBox 9"/>
          <p:cNvSpPr txBox="1"/>
          <p:nvPr/>
        </p:nvSpPr>
        <p:spPr>
          <a:xfrm>
            <a:off x="685800" y="4198620"/>
            <a:ext cx="3329940" cy="256031"/>
          </a:xfrm>
          <a:prstGeom prst="rect">
            <a:avLst/>
          </a:prstGeom>
          <a:noFill/>
        </p:spPr>
        <p:txBody>
          <a:bodyPr wrap="none" lIns="0" rIns="0" tIns="0" bIns="0">
            <a:spAutoFit/>
          </a:bodyPr>
          <a:lstStyle/>
          <a:p>
            <a:pPr>
              <a:defRPr sz="1439" b="0">
                <a:solidFill>
                  <a:srgbClr val="F3F5F3"/>
                </a:solidFill>
                <a:latin typeface="DejaVu Sans"/>
              </a:defRPr>
            </a:pPr>
            <a:r>
              <a:t>Codebasis und lokaler Arbeitsstand</a:t>
            </a:r>
          </a:p>
        </p:txBody>
      </p:sp>
      <p:sp>
        <p:nvSpPr>
          <p:cNvPr id="11" name="Rectangle 10"/>
          <p:cNvSpPr/>
          <p:nvPr/>
        </p:nvSpPr>
        <p:spPr>
          <a:xfrm>
            <a:off x="4328160" y="3390900"/>
            <a:ext cx="3634740" cy="15544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8660" y="3619500"/>
            <a:ext cx="3329940" cy="448056"/>
          </a:xfrm>
          <a:prstGeom prst="rect">
            <a:avLst/>
          </a:prstGeom>
          <a:noFill/>
        </p:spPr>
        <p:txBody>
          <a:bodyPr wrap="none" lIns="0" rIns="0" tIns="0" bIns="0">
            <a:spAutoFit/>
          </a:bodyPr>
          <a:lstStyle/>
          <a:p>
            <a:pPr>
              <a:defRPr sz="2520" b="1">
                <a:solidFill>
                  <a:srgbClr val="F5C66C"/>
                </a:solidFill>
                <a:latin typeface="DejaVu Sans"/>
              </a:defRPr>
            </a:pPr>
            <a:r>
              <a:t>9 Stationen</a:t>
            </a:r>
          </a:p>
        </p:txBody>
      </p:sp>
      <p:sp>
        <p:nvSpPr>
          <p:cNvPr id="13" name="TextBox 12"/>
          <p:cNvSpPr txBox="1"/>
          <p:nvPr/>
        </p:nvSpPr>
        <p:spPr>
          <a:xfrm>
            <a:off x="4518660" y="4198620"/>
            <a:ext cx="3329940" cy="256031"/>
          </a:xfrm>
          <a:prstGeom prst="rect">
            <a:avLst/>
          </a:prstGeom>
          <a:noFill/>
        </p:spPr>
        <p:txBody>
          <a:bodyPr wrap="none" lIns="0" rIns="0" tIns="0" bIns="0">
            <a:spAutoFit/>
          </a:bodyPr>
          <a:lstStyle/>
          <a:p>
            <a:pPr>
              <a:defRPr sz="1439" b="0">
                <a:solidFill>
                  <a:srgbClr val="F3F5F3"/>
                </a:solidFill>
                <a:latin typeface="DejaVu Sans"/>
              </a:defRPr>
            </a:pPr>
            <a:r>
              <a:t>Ein gemeinsames Schiff und</a:t>
            </a:r>
          </a:p>
        </p:txBody>
      </p:sp>
      <p:sp>
        <p:nvSpPr>
          <p:cNvPr id="14" name="TextBox 13"/>
          <p:cNvSpPr txBox="1"/>
          <p:nvPr/>
        </p:nvSpPr>
        <p:spPr>
          <a:xfrm>
            <a:off x="4518660" y="4454652"/>
            <a:ext cx="3329940" cy="256031"/>
          </a:xfrm>
          <a:prstGeom prst="rect">
            <a:avLst/>
          </a:prstGeom>
          <a:noFill/>
        </p:spPr>
        <p:txBody>
          <a:bodyPr wrap="none" lIns="0" rIns="0" tIns="0" bIns="0">
            <a:spAutoFit/>
          </a:bodyPr>
          <a:lstStyle/>
          <a:p>
            <a:pPr>
              <a:defRPr sz="1439" b="0">
                <a:solidFill>
                  <a:srgbClr val="F3F5F3"/>
                </a:solidFill>
                <a:latin typeface="DejaVu Sans"/>
              </a:defRPr>
            </a:pPr>
            <a:r>
              <a:t>Lagebild</a:t>
            </a:r>
          </a:p>
        </p:txBody>
      </p:sp>
      <p:sp>
        <p:nvSpPr>
          <p:cNvPr id="15" name="Rectangle 14"/>
          <p:cNvSpPr/>
          <p:nvPr/>
        </p:nvSpPr>
        <p:spPr>
          <a:xfrm>
            <a:off x="8161020" y="3390900"/>
            <a:ext cx="3634740" cy="15544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1520" y="3619500"/>
            <a:ext cx="3329940" cy="448056"/>
          </a:xfrm>
          <a:prstGeom prst="rect">
            <a:avLst/>
          </a:prstGeom>
          <a:noFill/>
        </p:spPr>
        <p:txBody>
          <a:bodyPr wrap="none" lIns="0" rIns="0" tIns="0" bIns="0">
            <a:spAutoFit/>
          </a:bodyPr>
          <a:lstStyle/>
          <a:p>
            <a:pPr>
              <a:defRPr sz="2520" b="1">
                <a:solidFill>
                  <a:srgbClr val="F5C66C"/>
                </a:solidFill>
                <a:latin typeface="DejaVu Sans"/>
              </a:defRPr>
            </a:pPr>
            <a:r>
              <a:t>24.09.2026</a:t>
            </a:r>
          </a:p>
        </p:txBody>
      </p:sp>
      <p:sp>
        <p:nvSpPr>
          <p:cNvPr id="17" name="TextBox 16"/>
          <p:cNvSpPr txBox="1"/>
          <p:nvPr/>
        </p:nvSpPr>
        <p:spPr>
          <a:xfrm>
            <a:off x="8351520" y="4198620"/>
            <a:ext cx="3329940" cy="256031"/>
          </a:xfrm>
          <a:prstGeom prst="rect">
            <a:avLst/>
          </a:prstGeom>
          <a:noFill/>
        </p:spPr>
        <p:txBody>
          <a:bodyPr wrap="none" lIns="0" rIns="0" tIns="0" bIns="0">
            <a:spAutoFit/>
          </a:bodyPr>
          <a:lstStyle/>
          <a:p>
            <a:pPr>
              <a:defRPr sz="1439" b="0">
                <a:solidFill>
                  <a:srgbClr val="F3F5F3"/>
                </a:solidFill>
                <a:latin typeface="DejaVu Sans"/>
              </a:defRPr>
            </a:pPr>
            <a:r>
              <a:t>Analyse des vorliegenden</a:t>
            </a:r>
          </a:p>
        </p:txBody>
      </p:sp>
      <p:sp>
        <p:nvSpPr>
          <p:cNvPr id="18" name="TextBox 17"/>
          <p:cNvSpPr txBox="1"/>
          <p:nvPr/>
        </p:nvSpPr>
        <p:spPr>
          <a:xfrm>
            <a:off x="8351520" y="4454652"/>
            <a:ext cx="3329940" cy="256031"/>
          </a:xfrm>
          <a:prstGeom prst="rect">
            <a:avLst/>
          </a:prstGeom>
          <a:noFill/>
        </p:spPr>
        <p:txBody>
          <a:bodyPr wrap="none" lIns="0" rIns="0" tIns="0" bIns="0">
            <a:spAutoFit/>
          </a:bodyPr>
          <a:lstStyle/>
          <a:p>
            <a:pPr>
              <a:defRPr sz="1439" b="0">
                <a:solidFill>
                  <a:srgbClr val="F3F5F3"/>
                </a:solidFill>
                <a:latin typeface="DejaVu Sans"/>
              </a:defRPr>
            </a:pPr>
            <a:r>
              <a:t>Repositorys</a:t>
            </a:r>
          </a:p>
        </p:txBody>
      </p:sp>
      <p:sp>
        <p:nvSpPr>
          <p:cNvPr id="19" name="Rectangle 1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Technische Präsentation mit Abläufen, Modellen, Abhängigkeiten und Grenzen.</a:t>
            </a:r>
          </a:p>
        </p:txBody>
      </p:sp>
      <p:sp>
        <p:nvSpPr>
          <p:cNvPr id="21" name="TextBox 2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src/core/version.py · src/core/game.py · pyproject.toml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SYSTEMÜBERBLICK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02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Der rote Faden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Vom Simulationskern bis zum gemeinsamen Einsatz</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01 · Grundlagen</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Architektur, Zeit, Einheiten,</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Daten und Welt</a:t>
            </a:r>
          </a:p>
        </p:txBody>
      </p:sp>
      <p:sp>
        <p:nvSpPr>
          <p:cNvPr id="12" name="Rectangle 11"/>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02 · Wahrnehmung</a:t>
            </a:r>
          </a:p>
        </p:txBody>
      </p:sp>
      <p:sp>
        <p:nvSpPr>
          <p:cNvPr id="15" name="TextBox 14"/>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Akustik, Sonar, TMA, Radar,</a:t>
            </a:r>
          </a:p>
        </p:txBody>
      </p:sp>
      <p:sp>
        <p:nvSpPr>
          <p:cNvPr id="16" name="TextBox 15"/>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Funk und Fusion</a:t>
            </a:r>
          </a:p>
        </p:txBody>
      </p:sp>
      <p:sp>
        <p:nvSpPr>
          <p:cNvPr id="17" name="Rectangle 16"/>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03 · Wechselwirkung</a:t>
            </a:r>
          </a:p>
        </p:txBody>
      </p:sp>
      <p:sp>
        <p:nvSpPr>
          <p:cNvPr id="20" name="TextBox 19"/>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KI, Waffen, Schaden, Crew,</a:t>
            </a:r>
          </a:p>
        </p:txBody>
      </p:sp>
      <p:sp>
        <p:nvSpPr>
          <p:cNvPr id="21" name="TextBox 20"/>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Speicherung und Qualität</a:t>
            </a:r>
          </a:p>
        </p:txBody>
      </p:sp>
      <p:sp>
        <p:nvSpPr>
          <p:cNvPr id="22" name="Rectangle 21"/>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Leitfrage jeder Folie: Was geht hinein, was wird berechnet, wer verwendet das Ergebnis?</a:t>
            </a:r>
          </a:p>
        </p:txBody>
      </p:sp>
      <p:sp>
        <p:nvSpPr>
          <p:cNvPr id="24" name="TextBox 23"/>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SYSTEMÜBERBLICK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03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Eine Welt, mehrere Wissensstände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Das zentrale Prinzip der gesamten Simulation</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Weltzustand</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Position, Tiefe, Kurs,</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Energie, Schaden und</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Emissionen der</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Einheiten.</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Messung</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Ausbreitung,</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Abschattung, Störungen</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und Messfehler</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begrenzen die</a:t>
            </a:r>
          </a:p>
        </p:txBody>
      </p:sp>
      <p:sp>
        <p:nvSpPr>
          <p:cNvPr id="22" name="TextBox 21"/>
          <p:cNvSpPr txBox="1"/>
          <p:nvPr/>
        </p:nvSpPr>
        <p:spPr>
          <a:xfrm>
            <a:off x="353187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Wahrnehmung.</a:t>
            </a:r>
          </a:p>
        </p:txBody>
      </p:sp>
      <p:sp>
        <p:nvSpPr>
          <p:cNvPr id="23" name="TextBox 22"/>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4" name="Rectangle 23"/>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6" name="TextBox 25"/>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Beobachtung</a:t>
            </a:r>
          </a:p>
        </p:txBody>
      </p:sp>
      <p:sp>
        <p:nvSpPr>
          <p:cNvPr id="27" name="TextBox 26"/>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Kontakte und Tracks</a:t>
            </a:r>
          </a:p>
        </p:txBody>
      </p:sp>
      <p:sp>
        <p:nvSpPr>
          <p:cNvPr id="28" name="TextBox 27"/>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enthalten Quelle, Alter,</a:t>
            </a:r>
          </a:p>
        </p:txBody>
      </p:sp>
      <p:sp>
        <p:nvSpPr>
          <p:cNvPr id="29" name="TextBox 28"/>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Qualität und</a:t>
            </a:r>
          </a:p>
        </p:txBody>
      </p:sp>
      <p:sp>
        <p:nvSpPr>
          <p:cNvPr id="30" name="TextBox 29"/>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gegebenenfalls einen</a:t>
            </a:r>
          </a:p>
        </p:txBody>
      </p:sp>
      <p:sp>
        <p:nvSpPr>
          <p:cNvPr id="31" name="TextBox 30"/>
          <p:cNvSpPr txBox="1"/>
          <p:nvPr/>
        </p:nvSpPr>
        <p:spPr>
          <a:xfrm>
            <a:off x="639318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Fix.</a:t>
            </a:r>
          </a:p>
        </p:txBody>
      </p:sp>
      <p:sp>
        <p:nvSpPr>
          <p:cNvPr id="32" name="TextBox 31"/>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3" name="Rectangle 32"/>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5" name="TextBox 34"/>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Handlung</a:t>
            </a:r>
          </a:p>
        </p:txBody>
      </p:sp>
      <p:sp>
        <p:nvSpPr>
          <p:cNvPr id="36" name="TextBox 35"/>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Bediener, KI und Waffen</a:t>
            </a:r>
          </a:p>
        </p:txBody>
      </p:sp>
      <p:sp>
        <p:nvSpPr>
          <p:cNvPr id="37" name="TextBox 36"/>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nutzen die jeweils</a:t>
            </a:r>
          </a:p>
        </p:txBody>
      </p:sp>
      <p:sp>
        <p:nvSpPr>
          <p:cNvPr id="38" name="TextBox 37"/>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verfügbaren</a:t>
            </a:r>
          </a:p>
        </p:txBody>
      </p:sp>
      <p:sp>
        <p:nvSpPr>
          <p:cNvPr id="39" name="TextBox 38"/>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Informationen.</a:t>
            </a:r>
          </a:p>
        </p:txBody>
      </p:sp>
      <p:sp>
        <p:nvSpPr>
          <p:cNvPr id="40" name="Rectangle 3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Handlungen wirken auf den Weltzustand zurück – der Informationskreislauf beginnt erneut.</a:t>
            </a:r>
          </a:p>
        </p:txBody>
      </p:sp>
      <p:sp>
        <p:nvSpPr>
          <p:cNvPr id="42" name="TextBox 4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src/sensors/tracks.py · src/sensors/platform.py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SYSTEMÜBERBLICK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04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Die Architektur in sieben Bausteinen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Game verbindet die Fachmodule und legt die Reihenfolge fest</a:t>
            </a:r>
          </a:p>
        </p:txBody>
      </p:sp>
      <p:cxnSp>
        <p:nvCxnSpPr>
          <p:cNvPr id="7" name="Connector 6"/>
          <p:cNvCxnSpPr/>
          <p:nvPr/>
        </p:nvCxnSpPr>
        <p:spPr>
          <a:xfrm>
            <a:off x="4000500" y="244602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229100" y="2446020"/>
            <a:ext cx="0" cy="90678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229100" y="335280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500" y="368046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29100" y="3680460"/>
            <a:ext cx="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229100" y="368046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00500" y="491490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229100" y="4000500"/>
            <a:ext cx="0" cy="91440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29100" y="400050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962900" y="244602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962900" y="2446020"/>
            <a:ext cx="0" cy="90678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7734300" y="335280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7962900" y="368046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62900" y="3680460"/>
            <a:ext cx="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734300" y="368046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962900" y="491490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962900" y="4000500"/>
            <a:ext cx="0" cy="91440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734300" y="4000500"/>
            <a:ext cx="228600" cy="0"/>
          </a:xfrm>
          <a:prstGeom prst="line">
            <a:avLst/>
          </a:prstGeom>
          <a:ln w="15240">
            <a:solidFill>
              <a:srgbClr val="B6C6CC"/>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95299" y="1943100"/>
            <a:ext cx="3505200" cy="10058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 y="2072640"/>
            <a:ext cx="3261360" cy="288036"/>
          </a:xfrm>
          <a:prstGeom prst="rect">
            <a:avLst/>
          </a:prstGeom>
          <a:noFill/>
        </p:spPr>
        <p:txBody>
          <a:bodyPr wrap="none" lIns="0" rIns="0" tIns="0" bIns="0">
            <a:spAutoFit/>
          </a:bodyPr>
          <a:lstStyle/>
          <a:p>
            <a:pPr>
              <a:defRPr sz="1620" b="1">
                <a:solidFill>
                  <a:srgbClr val="F3F5F3"/>
                </a:solidFill>
                <a:latin typeface="DejaVu Sans"/>
              </a:defRPr>
            </a:pPr>
            <a:r>
              <a:t>Daten &amp; Konfiguration</a:t>
            </a:r>
          </a:p>
        </p:txBody>
      </p:sp>
      <p:sp>
        <p:nvSpPr>
          <p:cNvPr id="27" name="TextBox 26"/>
          <p:cNvSpPr txBox="1"/>
          <p:nvPr/>
        </p:nvSpPr>
        <p:spPr>
          <a:xfrm>
            <a:off x="662940" y="2423160"/>
            <a:ext cx="3261360" cy="234696"/>
          </a:xfrm>
          <a:prstGeom prst="rect">
            <a:avLst/>
          </a:prstGeom>
          <a:noFill/>
        </p:spPr>
        <p:txBody>
          <a:bodyPr wrap="none" lIns="0" rIns="0" tIns="0" bIns="0">
            <a:spAutoFit/>
          </a:bodyPr>
          <a:lstStyle/>
          <a:p>
            <a:pPr>
              <a:defRPr sz="1320" b="0">
                <a:solidFill>
                  <a:srgbClr val="B6C6CC"/>
                </a:solidFill>
                <a:latin typeface="DejaVu Sans"/>
              </a:defRPr>
            </a:pPr>
            <a:r>
              <a:t>JSON-Kataloge · Loadouts · Szenarien</a:t>
            </a:r>
          </a:p>
        </p:txBody>
      </p:sp>
      <p:sp>
        <p:nvSpPr>
          <p:cNvPr id="28" name="Rectangle 27"/>
          <p:cNvSpPr/>
          <p:nvPr/>
        </p:nvSpPr>
        <p:spPr>
          <a:xfrm>
            <a:off x="495299" y="3177540"/>
            <a:ext cx="3505200" cy="10058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 y="3307080"/>
            <a:ext cx="3261360" cy="288036"/>
          </a:xfrm>
          <a:prstGeom prst="rect">
            <a:avLst/>
          </a:prstGeom>
          <a:noFill/>
        </p:spPr>
        <p:txBody>
          <a:bodyPr wrap="none" lIns="0" rIns="0" tIns="0" bIns="0">
            <a:spAutoFit/>
          </a:bodyPr>
          <a:lstStyle/>
          <a:p>
            <a:pPr>
              <a:defRPr sz="1620" b="1">
                <a:solidFill>
                  <a:srgbClr val="F3F5F3"/>
                </a:solidFill>
                <a:latin typeface="DejaVu Sans"/>
              </a:defRPr>
            </a:pPr>
            <a:r>
              <a:t>Welt &amp; Physik</a:t>
            </a:r>
          </a:p>
        </p:txBody>
      </p:sp>
      <p:sp>
        <p:nvSpPr>
          <p:cNvPr id="30" name="TextBox 29"/>
          <p:cNvSpPr txBox="1"/>
          <p:nvPr/>
        </p:nvSpPr>
        <p:spPr>
          <a:xfrm>
            <a:off x="662940" y="3657600"/>
            <a:ext cx="3261360" cy="234696"/>
          </a:xfrm>
          <a:prstGeom prst="rect">
            <a:avLst/>
          </a:prstGeom>
          <a:noFill/>
        </p:spPr>
        <p:txBody>
          <a:bodyPr wrap="none" lIns="0" rIns="0" tIns="0" bIns="0">
            <a:spAutoFit/>
          </a:bodyPr>
          <a:lstStyle/>
          <a:p>
            <a:pPr>
              <a:defRPr sz="1320" b="0">
                <a:solidFill>
                  <a:srgbClr val="B6C6CC"/>
                </a:solidFill>
                <a:latin typeface="DejaVu Sans"/>
              </a:defRPr>
            </a:pPr>
            <a:r>
              <a:t>Umwelt · Bewegung · Gelände</a:t>
            </a:r>
          </a:p>
        </p:txBody>
      </p:sp>
      <p:sp>
        <p:nvSpPr>
          <p:cNvPr id="31" name="Rectangle 30"/>
          <p:cNvSpPr/>
          <p:nvPr/>
        </p:nvSpPr>
        <p:spPr>
          <a:xfrm>
            <a:off x="495299" y="4411980"/>
            <a:ext cx="3505200" cy="10058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 y="4541520"/>
            <a:ext cx="3261360" cy="288036"/>
          </a:xfrm>
          <a:prstGeom prst="rect">
            <a:avLst/>
          </a:prstGeom>
          <a:noFill/>
        </p:spPr>
        <p:txBody>
          <a:bodyPr wrap="none" lIns="0" rIns="0" tIns="0" bIns="0">
            <a:spAutoFit/>
          </a:bodyPr>
          <a:lstStyle/>
          <a:p>
            <a:pPr>
              <a:defRPr sz="1620" b="1">
                <a:solidFill>
                  <a:srgbClr val="F3F5F3"/>
                </a:solidFill>
                <a:latin typeface="DejaVu Sans"/>
              </a:defRPr>
            </a:pPr>
            <a:r>
              <a:t>Einheiten &amp; Waffen</a:t>
            </a:r>
          </a:p>
        </p:txBody>
      </p:sp>
      <p:sp>
        <p:nvSpPr>
          <p:cNvPr id="33" name="TextBox 32"/>
          <p:cNvSpPr txBox="1"/>
          <p:nvPr/>
        </p:nvSpPr>
        <p:spPr>
          <a:xfrm>
            <a:off x="662940" y="4892040"/>
            <a:ext cx="3261360" cy="234696"/>
          </a:xfrm>
          <a:prstGeom prst="rect">
            <a:avLst/>
          </a:prstGeom>
          <a:noFill/>
        </p:spPr>
        <p:txBody>
          <a:bodyPr wrap="none" lIns="0" rIns="0" tIns="0" bIns="0">
            <a:spAutoFit/>
          </a:bodyPr>
          <a:lstStyle/>
          <a:p>
            <a:pPr>
              <a:defRPr sz="1320" b="0">
                <a:solidFill>
                  <a:srgbClr val="B6C6CC"/>
                </a:solidFill>
                <a:latin typeface="DejaVu Sans"/>
              </a:defRPr>
            </a:pPr>
            <a:r>
              <a:t>Schiff · Gegner · Luft · Wirkmittel</a:t>
            </a:r>
          </a:p>
        </p:txBody>
      </p:sp>
      <p:sp>
        <p:nvSpPr>
          <p:cNvPr id="34" name="Rectangle 33"/>
          <p:cNvSpPr/>
          <p:nvPr/>
        </p:nvSpPr>
        <p:spPr>
          <a:xfrm>
            <a:off x="8191500" y="1943100"/>
            <a:ext cx="3505200" cy="10058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59140" y="2072640"/>
            <a:ext cx="3261360" cy="288036"/>
          </a:xfrm>
          <a:prstGeom prst="rect">
            <a:avLst/>
          </a:prstGeom>
          <a:noFill/>
        </p:spPr>
        <p:txBody>
          <a:bodyPr wrap="none" lIns="0" rIns="0" tIns="0" bIns="0">
            <a:spAutoFit/>
          </a:bodyPr>
          <a:lstStyle/>
          <a:p>
            <a:pPr>
              <a:defRPr sz="1620" b="1">
                <a:solidFill>
                  <a:srgbClr val="F3F5F3"/>
                </a:solidFill>
                <a:latin typeface="DejaVu Sans"/>
              </a:defRPr>
            </a:pPr>
            <a:r>
              <a:t>Sensoren &amp; Tracks</a:t>
            </a:r>
          </a:p>
        </p:txBody>
      </p:sp>
      <p:sp>
        <p:nvSpPr>
          <p:cNvPr id="36" name="TextBox 35"/>
          <p:cNvSpPr txBox="1"/>
          <p:nvPr/>
        </p:nvSpPr>
        <p:spPr>
          <a:xfrm>
            <a:off x="8359140" y="2423160"/>
            <a:ext cx="3261360" cy="234696"/>
          </a:xfrm>
          <a:prstGeom prst="rect">
            <a:avLst/>
          </a:prstGeom>
          <a:noFill/>
        </p:spPr>
        <p:txBody>
          <a:bodyPr wrap="none" lIns="0" rIns="0" tIns="0" bIns="0">
            <a:spAutoFit/>
          </a:bodyPr>
          <a:lstStyle/>
          <a:p>
            <a:pPr>
              <a:defRPr sz="1320" b="0">
                <a:solidFill>
                  <a:srgbClr val="B6C6CC"/>
                </a:solidFill>
                <a:latin typeface="DejaVu Sans"/>
              </a:defRPr>
            </a:pPr>
            <a:r>
              <a:t>Sonar · Radar · ESM · TMA</a:t>
            </a:r>
          </a:p>
        </p:txBody>
      </p:sp>
      <p:sp>
        <p:nvSpPr>
          <p:cNvPr id="37" name="Rectangle 36"/>
          <p:cNvSpPr/>
          <p:nvPr/>
        </p:nvSpPr>
        <p:spPr>
          <a:xfrm>
            <a:off x="4457700" y="3009900"/>
            <a:ext cx="3276600" cy="1333500"/>
          </a:xfrm>
          <a:prstGeom prst="rect">
            <a:avLst/>
          </a:prstGeom>
          <a:solidFill>
            <a:srgbClr val="225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25340" y="3139440"/>
            <a:ext cx="3032760" cy="288036"/>
          </a:xfrm>
          <a:prstGeom prst="rect">
            <a:avLst/>
          </a:prstGeom>
          <a:noFill/>
        </p:spPr>
        <p:txBody>
          <a:bodyPr wrap="none" lIns="0" rIns="0" tIns="0" bIns="0">
            <a:spAutoFit/>
          </a:bodyPr>
          <a:lstStyle/>
          <a:p>
            <a:pPr>
              <a:defRPr sz="1620" b="1">
                <a:solidFill>
                  <a:srgbClr val="54D1BA"/>
                </a:solidFill>
                <a:latin typeface="DejaVu Sans"/>
              </a:defRPr>
            </a:pPr>
            <a:r>
              <a:t>Game</a:t>
            </a:r>
          </a:p>
        </p:txBody>
      </p:sp>
      <p:sp>
        <p:nvSpPr>
          <p:cNvPr id="39" name="TextBox 38"/>
          <p:cNvSpPr txBox="1"/>
          <p:nvPr/>
        </p:nvSpPr>
        <p:spPr>
          <a:xfrm>
            <a:off x="4625340" y="3489960"/>
            <a:ext cx="3032760" cy="234696"/>
          </a:xfrm>
          <a:prstGeom prst="rect">
            <a:avLst/>
          </a:prstGeom>
          <a:noFill/>
        </p:spPr>
        <p:txBody>
          <a:bodyPr wrap="none" lIns="0" rIns="0" tIns="0" bIns="0">
            <a:spAutoFit/>
          </a:bodyPr>
          <a:lstStyle/>
          <a:p>
            <a:pPr>
              <a:defRPr sz="1320" b="0">
                <a:solidFill>
                  <a:srgbClr val="B6C6CC"/>
                </a:solidFill>
                <a:latin typeface="DejaVu Sans"/>
              </a:defRPr>
            </a:pPr>
            <a:r>
              <a:t>Initialisierung · Update · Befehle ·</a:t>
            </a:r>
          </a:p>
        </p:txBody>
      </p:sp>
      <p:sp>
        <p:nvSpPr>
          <p:cNvPr id="40" name="TextBox 39"/>
          <p:cNvSpPr txBox="1"/>
          <p:nvPr/>
        </p:nvSpPr>
        <p:spPr>
          <a:xfrm>
            <a:off x="4625340" y="3724656"/>
            <a:ext cx="3032760" cy="234696"/>
          </a:xfrm>
          <a:prstGeom prst="rect">
            <a:avLst/>
          </a:prstGeom>
          <a:noFill/>
        </p:spPr>
        <p:txBody>
          <a:bodyPr wrap="none" lIns="0" rIns="0" tIns="0" bIns="0">
            <a:spAutoFit/>
          </a:bodyPr>
          <a:lstStyle/>
          <a:p>
            <a:pPr>
              <a:defRPr sz="1320" b="0">
                <a:solidFill>
                  <a:srgbClr val="B6C6CC"/>
                </a:solidFill>
                <a:latin typeface="DejaVu Sans"/>
              </a:defRPr>
            </a:pPr>
            <a:r>
              <a:t>Mission</a:t>
            </a:r>
          </a:p>
        </p:txBody>
      </p:sp>
      <p:sp>
        <p:nvSpPr>
          <p:cNvPr id="41" name="Rectangle 40"/>
          <p:cNvSpPr/>
          <p:nvPr/>
        </p:nvSpPr>
        <p:spPr>
          <a:xfrm>
            <a:off x="8191500" y="3177540"/>
            <a:ext cx="3505200" cy="10058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9140" y="3307080"/>
            <a:ext cx="3261360" cy="288036"/>
          </a:xfrm>
          <a:prstGeom prst="rect">
            <a:avLst/>
          </a:prstGeom>
          <a:noFill/>
        </p:spPr>
        <p:txBody>
          <a:bodyPr wrap="none" lIns="0" rIns="0" tIns="0" bIns="0">
            <a:spAutoFit/>
          </a:bodyPr>
          <a:lstStyle/>
          <a:p>
            <a:pPr>
              <a:defRPr sz="1620" b="1">
                <a:solidFill>
                  <a:srgbClr val="F3F5F3"/>
                </a:solidFill>
                <a:latin typeface="DejaVu Sans"/>
              </a:defRPr>
            </a:pPr>
            <a:r>
              <a:t>Bedienung &amp; Netzwerk</a:t>
            </a:r>
          </a:p>
        </p:txBody>
      </p:sp>
      <p:sp>
        <p:nvSpPr>
          <p:cNvPr id="43" name="TextBox 42"/>
          <p:cNvSpPr txBox="1"/>
          <p:nvPr/>
        </p:nvSpPr>
        <p:spPr>
          <a:xfrm>
            <a:off x="8359140" y="3657600"/>
            <a:ext cx="3261360" cy="234696"/>
          </a:xfrm>
          <a:prstGeom prst="rect">
            <a:avLst/>
          </a:prstGeom>
          <a:noFill/>
        </p:spPr>
        <p:txBody>
          <a:bodyPr wrap="none" lIns="0" rIns="0" tIns="0" bIns="0">
            <a:spAutoFit/>
          </a:bodyPr>
          <a:lstStyle/>
          <a:p>
            <a:pPr>
              <a:defRPr sz="1320" b="0">
                <a:solidFill>
                  <a:srgbClr val="B6C6CC"/>
                </a:solidFill>
                <a:latin typeface="DejaVu Sans"/>
              </a:defRPr>
            </a:pPr>
            <a:r>
              <a:t>Stationen · Autocrew · Remote Crew</a:t>
            </a:r>
          </a:p>
        </p:txBody>
      </p:sp>
      <p:sp>
        <p:nvSpPr>
          <p:cNvPr id="44" name="Rectangle 43"/>
          <p:cNvSpPr/>
          <p:nvPr/>
        </p:nvSpPr>
        <p:spPr>
          <a:xfrm>
            <a:off x="8191500" y="4411980"/>
            <a:ext cx="3505200" cy="10058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59140" y="4541520"/>
            <a:ext cx="3261360" cy="288036"/>
          </a:xfrm>
          <a:prstGeom prst="rect">
            <a:avLst/>
          </a:prstGeom>
          <a:noFill/>
        </p:spPr>
        <p:txBody>
          <a:bodyPr wrap="none" lIns="0" rIns="0" tIns="0" bIns="0">
            <a:spAutoFit/>
          </a:bodyPr>
          <a:lstStyle/>
          <a:p>
            <a:pPr>
              <a:defRPr sz="1620" b="1">
                <a:solidFill>
                  <a:srgbClr val="F3F5F3"/>
                </a:solidFill>
                <a:latin typeface="DejaVu Sans"/>
              </a:defRPr>
            </a:pPr>
            <a:r>
              <a:t>Persistenz &amp; Ausgabe</a:t>
            </a:r>
          </a:p>
        </p:txBody>
      </p:sp>
      <p:sp>
        <p:nvSpPr>
          <p:cNvPr id="46" name="TextBox 45"/>
          <p:cNvSpPr txBox="1"/>
          <p:nvPr/>
        </p:nvSpPr>
        <p:spPr>
          <a:xfrm>
            <a:off x="8359140" y="4892040"/>
            <a:ext cx="3261360" cy="234696"/>
          </a:xfrm>
          <a:prstGeom prst="rect">
            <a:avLst/>
          </a:prstGeom>
          <a:noFill/>
        </p:spPr>
        <p:txBody>
          <a:bodyPr wrap="none" lIns="0" rIns="0" tIns="0" bIns="0">
            <a:spAutoFit/>
          </a:bodyPr>
          <a:lstStyle/>
          <a:p>
            <a:pPr>
              <a:defRPr sz="1320" b="0">
                <a:solidFill>
                  <a:srgbClr val="B6C6CC"/>
                </a:solidFill>
                <a:latin typeface="DejaVu Sans"/>
              </a:defRPr>
            </a:pPr>
            <a:r>
              <a:t>Save v12 · UI · Audio · SimLog</a:t>
            </a:r>
          </a:p>
        </p:txBody>
      </p:sp>
      <p:sp>
        <p:nvSpPr>
          <p:cNvPr id="47" name="TextBox 46"/>
          <p:cNvSpPr txBox="1"/>
          <p:nvPr/>
        </p:nvSpPr>
        <p:spPr>
          <a:xfrm>
            <a:off x="4701540" y="4488180"/>
            <a:ext cx="2987040" cy="245363"/>
          </a:xfrm>
          <a:prstGeom prst="rect">
            <a:avLst/>
          </a:prstGeom>
          <a:noFill/>
        </p:spPr>
        <p:txBody>
          <a:bodyPr wrap="none" lIns="0" rIns="0" tIns="0" bIns="0">
            <a:spAutoFit/>
          </a:bodyPr>
          <a:lstStyle/>
          <a:p>
            <a:pPr>
              <a:defRPr sz="1380" b="0">
                <a:solidFill>
                  <a:srgbClr val="B6C6CC"/>
                </a:solidFill>
                <a:latin typeface="DejaVu Sans"/>
              </a:defRPr>
            </a:pPr>
            <a:r>
              <a:t>Orchestriert den</a:t>
            </a:r>
          </a:p>
        </p:txBody>
      </p:sp>
      <p:sp>
        <p:nvSpPr>
          <p:cNvPr id="48" name="TextBox 47"/>
          <p:cNvSpPr txBox="1"/>
          <p:nvPr/>
        </p:nvSpPr>
        <p:spPr>
          <a:xfrm>
            <a:off x="4701540" y="4733544"/>
            <a:ext cx="2987040" cy="245363"/>
          </a:xfrm>
          <a:prstGeom prst="rect">
            <a:avLst/>
          </a:prstGeom>
          <a:noFill/>
        </p:spPr>
        <p:txBody>
          <a:bodyPr wrap="none" lIns="0" rIns="0" tIns="0" bIns="0">
            <a:spAutoFit/>
          </a:bodyPr>
          <a:lstStyle/>
          <a:p>
            <a:pPr>
              <a:defRPr sz="1380" b="0">
                <a:solidFill>
                  <a:srgbClr val="B6C6CC"/>
                </a:solidFill>
                <a:latin typeface="DejaVu Sans"/>
              </a:defRPr>
            </a:pPr>
            <a:r>
              <a:t>Zustandsübergang</a:t>
            </a:r>
          </a:p>
        </p:txBody>
      </p:sp>
      <p:sp>
        <p:nvSpPr>
          <p:cNvPr id="49" name="Rectangle 4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Fachmodelle berechnen lokale Ergebnisse; der zentrale Ablauf macht daraus einen zusammenhängenden Einsatz.</a:t>
            </a:r>
          </a:p>
        </p:txBody>
      </p:sp>
      <p:sp>
        <p:nvSpPr>
          <p:cNvPr id="51" name="TextBox 5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src/physics/ship_dynamics.py · src/commander/local.py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SYSTEMÜBERBLICK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05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Daten legen Fähigkeiten fest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Katalogwerte werden in Laufzeitmodelle übersetzt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Kontaktkatalog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Profile für Plattformen, Akustik,</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Torpedos, Täuschkörper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Emittenten.</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Eigene Ausrüstung</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Loadouts definieren Magazine,</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Rohre, Abwehrmittel und</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Rumpfparameter.</a:t>
            </a:r>
          </a:p>
        </p:txBody>
      </p:sp>
      <p:sp>
        <p:nvSpPr>
          <p:cNvPr id="19" name="Rectangle 18"/>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Laufzeitbindung</a:t>
            </a:r>
          </a:p>
        </p:txBody>
      </p:sp>
      <p:sp>
        <p:nvSpPr>
          <p:cNvPr id="22" name="TextBox 21"/>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Loader und Validatoren prüfen</a:t>
            </a:r>
          </a:p>
        </p:txBody>
      </p:sp>
      <p:sp>
        <p:nvSpPr>
          <p:cNvPr id="23" name="TextBox 22"/>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Daten; Entitäten erhalten</a:t>
            </a:r>
          </a:p>
        </p:txBody>
      </p:sp>
      <p:sp>
        <p:nvSpPr>
          <p:cNvPr id="24" name="TextBox 23"/>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konkrete Profile und Zustände.</a:t>
            </a:r>
          </a:p>
        </p:txBody>
      </p:sp>
      <p:sp>
        <p:nvSpPr>
          <p:cNvPr id="25" name="Rectangle 24"/>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 Datenfeld wirkt erst dann auf das Spiel, wenn Laufzeitcode es tatsächlich verwendet.</a:t>
            </a:r>
          </a:p>
        </p:txBody>
      </p:sp>
      <p:sp>
        <p:nvSpPr>
          <p:cNvPr id="27" name="TextBox 26"/>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src/data/catalog.py · data/contacts/subs.json · data/loadouts/ownship.json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ZEIT &amp; ABLAUF</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06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Zeit und Koordinaten sind gemeinsame Verträge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Der aktuelle Arbeitsstand läuft ausschließlich mit Faktor 1</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Raum</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Position und Entfernung: NM</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Geschwindigkeit: kn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Tiefe: m</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Frequenz: Hz</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Orientierung</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0° = Norden, 90° = Osten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x wächst nach Osten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y wächst nach Süden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Zeit</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1 s Simulation = 1 s bei</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normalem Lauf</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Uhrzeit und Mission folgen dt</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Pause stoppt die</a:t>
            </a:r>
          </a:p>
        </p:txBody>
      </p:sp>
      <p:sp>
        <p:nvSpPr>
          <p:cNvPr id="27" name="TextBox 26"/>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Kernsimulation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Weg pro Sekunde = Geschwindigkeit in kn / 3600. Beispiel: 18 kn → 0,005 NM/s.</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src/core/config.py · src/core/game.py · src/world/world.py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ZEIT &amp; ABLAUF</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07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Ein Frame: Eingaben vor der Simulation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Reihenfolge verhindert unkontrollierte Zustandsänderungen</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Zeit erfassen</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Ziel: 60 FPS. Wall-dt</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wird für die Simulation</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auf höchstens 0,1 s</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begrenzt.</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Befehle anwenden</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Lokale Events,</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Remote-Crew-Pump und</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optionaler Live-Verkehr</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werden verarbeitet.</a:t>
            </a:r>
          </a:p>
        </p:txBody>
      </p:sp>
      <p:sp>
        <p:nvSpPr>
          <p:cNvPr id="22" name="TextBox 21"/>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3" name="Rectangle 22"/>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5" name="TextBox 24"/>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Welt fortschreiben</a:t>
            </a:r>
          </a:p>
        </p:txBody>
      </p:sp>
      <p:sp>
        <p:nvSpPr>
          <p:cNvPr id="26" name="TextBox 25"/>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Game.update prüft</a:t>
            </a:r>
          </a:p>
        </p:txBody>
      </p:sp>
      <p:sp>
        <p:nvSpPr>
          <p:cNvPr id="27" name="TextBox 26"/>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Sperrzustände und</a:t>
            </a:r>
          </a:p>
        </p:txBody>
      </p:sp>
      <p:sp>
        <p:nvSpPr>
          <p:cNvPr id="28" name="TextBox 27"/>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zerlegt dt in</a:t>
            </a:r>
          </a:p>
        </p:txBody>
      </p:sp>
      <p:sp>
        <p:nvSpPr>
          <p:cNvPr id="29" name="TextBox 28"/>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Physikschritte.</a:t>
            </a:r>
          </a:p>
        </p:txBody>
      </p:sp>
      <p:sp>
        <p:nvSpPr>
          <p:cNvPr id="30" name="TextBox 29"/>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1" name="Rectangle 30"/>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3" name="TextBox 32"/>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Ausgabe</a:t>
            </a:r>
          </a:p>
        </p:txBody>
      </p:sp>
      <p:sp>
        <p:nvSpPr>
          <p:cNvPr id="34" name="TextBox 33"/>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Audio aktualisieren,</a:t>
            </a:r>
          </a:p>
        </p:txBody>
      </p:sp>
      <p:sp>
        <p:nvSpPr>
          <p:cNvPr id="35" name="TextBox 34"/>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Station zeichnen und</a:t>
            </a:r>
          </a:p>
        </p:txBody>
      </p:sp>
      <p:sp>
        <p:nvSpPr>
          <p:cNvPr id="36" name="TextBox 35"/>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auf das Fenster</a:t>
            </a:r>
          </a:p>
        </p:txBody>
      </p:sp>
      <p:sp>
        <p:nvSpPr>
          <p:cNvPr id="37" name="TextBox 36"/>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abbilden.</a:t>
            </a:r>
          </a:p>
        </p:txBody>
      </p:sp>
      <p:sp>
        <p:nvSpPr>
          <p:cNvPr id="38" name="Rectangle 3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Browsertransport und Rendering sind keine eigenständigen Simulationsinstanzen.</a:t>
            </a:r>
          </a:p>
        </p:txBody>
      </p:sp>
      <p:sp>
        <p:nvSpPr>
          <p:cNvPr id="40" name="TextBox 3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src/commander/local.py · src/network/live_traffic.py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ZEIT &amp; ABLAUF</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08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Innerhalb eines Physikschritts</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Diese Update-Reihenfolge ist selbst eine Abhängigkeit</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1 · Basis</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Simulationszeit →</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Navigation/Welt →</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Vorräte →</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Sonarmechanik →</a:t>
            </a:r>
          </a:p>
        </p:txBody>
      </p:sp>
      <p:sp>
        <p:nvSpPr>
          <p:cNvPr id="14" name="TextBox 13"/>
          <p:cNvSpPr txBox="1"/>
          <p:nvPr/>
        </p:nvSpPr>
        <p:spPr>
          <a:xfrm>
            <a:off x="67056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Radarschwenk</a:t>
            </a:r>
          </a:p>
        </p:txBody>
      </p:sp>
      <p:sp>
        <p:nvSpPr>
          <p:cNvPr id="15" name="TextBox 14"/>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6" name="Rectangle 15"/>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8" name="TextBox 17"/>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2 · Akteure</a:t>
            </a:r>
          </a:p>
        </p:txBody>
      </p:sp>
      <p:sp>
        <p:nvSpPr>
          <p:cNvPr id="19" name="TextBox 18"/>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NPC-Sensoren bei</a:t>
            </a:r>
          </a:p>
        </p:txBody>
      </p:sp>
      <p:sp>
        <p:nvSpPr>
          <p:cNvPr id="20" name="TextBox 19"/>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Fälligkeit →</a:t>
            </a:r>
          </a:p>
        </p:txBody>
      </p:sp>
      <p:sp>
        <p:nvSpPr>
          <p:cNvPr id="21" name="TextBox 20"/>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Unterwasser-/See-Einheiten</a:t>
            </a:r>
          </a:p>
        </p:txBody>
      </p:sp>
      <p:sp>
        <p:nvSpPr>
          <p:cNvPr id="22" name="TextBox 21"/>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 Helikopter/Bojen</a:t>
            </a:r>
          </a:p>
        </p:txBody>
      </p:sp>
      <p:sp>
        <p:nvSpPr>
          <p:cNvPr id="23" name="TextBox 22"/>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4" name="Rectangle 23"/>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6" name="TextBox 25"/>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3 · Kampf</a:t>
            </a:r>
          </a:p>
        </p:txBody>
      </p:sp>
      <p:sp>
        <p:nvSpPr>
          <p:cNvPr id="27" name="TextBox 26"/>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Raider → Luftabwehr →</a:t>
            </a:r>
          </a:p>
        </p:txBody>
      </p:sp>
      <p:sp>
        <p:nvSpPr>
          <p:cNvPr id="28" name="TextBox 27"/>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Feindtorpedos → eigene</a:t>
            </a:r>
          </a:p>
        </p:txBody>
      </p:sp>
      <p:sp>
        <p:nvSpPr>
          <p:cNvPr id="29" name="TextBox 28"/>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Torpedos → ASROC</a:t>
            </a:r>
          </a:p>
        </p:txBody>
      </p:sp>
      <p:sp>
        <p:nvSpPr>
          <p:cNvPr id="30" name="TextBox 29"/>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1" name="Rectangle 30"/>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3" name="TextBox 32"/>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4 · Lage &amp; Folgen</a:t>
            </a:r>
          </a:p>
        </p:txBody>
      </p:sp>
      <p:sp>
        <p:nvSpPr>
          <p:cNvPr id="34" name="TextBox 33"/>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Sonar → ESM/Funk →</a:t>
            </a:r>
          </a:p>
        </p:txBody>
      </p:sp>
      <p:sp>
        <p:nvSpPr>
          <p:cNvPr id="35" name="TextBox 34"/>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Schaden/Mission →</a:t>
            </a:r>
          </a:p>
        </p:txBody>
      </p:sp>
      <p:sp>
        <p:nvSpPr>
          <p:cNvPr id="36" name="TextBox 35"/>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Autocrew → SimLog</a:t>
            </a:r>
          </a:p>
        </p:txBody>
      </p:sp>
      <p:sp>
        <p:nvSpPr>
          <p:cNvPr id="37" name="Rectangle 3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Autocrew liest die gerade publizierten Beobachtungen; ihre Stellbefehle wirken ab dem folgenden Schritt.</a:t>
            </a:r>
          </a:p>
        </p:txBody>
      </p:sp>
      <p:sp>
        <p:nvSpPr>
          <p:cNvPr id="39" name="TextBox 3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ZEIT &amp; ABLAUF</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09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Mehrere Takte teilen sich eine Zeitbasis</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Nicht jedes System braucht eine neue Rechnung pro Bild</a:t>
            </a:r>
          </a:p>
        </p:txBody>
      </p:sp>
      <p:sp>
        <p:nvSpPr>
          <p:cNvPr id="7" name="TextBox 6"/>
          <p:cNvSpPr txBox="1"/>
          <p:nvPr/>
        </p:nvSpPr>
        <p:spPr>
          <a:xfrm>
            <a:off x="609600" y="1889760"/>
            <a:ext cx="2034540" cy="202692"/>
          </a:xfrm>
          <a:prstGeom prst="rect">
            <a:avLst/>
          </a:prstGeom>
          <a:noFill/>
        </p:spPr>
        <p:txBody>
          <a:bodyPr wrap="none" lIns="0" rIns="0" tIns="0" bIns="0">
            <a:spAutoFit/>
          </a:bodyPr>
          <a:lstStyle/>
          <a:p>
            <a:pPr>
              <a:defRPr sz="1140" b="1">
                <a:solidFill>
                  <a:srgbClr val="54D1BA"/>
                </a:solidFill>
                <a:latin typeface="DejaVu Sans"/>
              </a:defRPr>
            </a:pPr>
            <a:r>
              <a:t>BEREICH</a:t>
            </a:r>
          </a:p>
        </p:txBody>
      </p:sp>
      <p:sp>
        <p:nvSpPr>
          <p:cNvPr id="8" name="TextBox 7"/>
          <p:cNvSpPr txBox="1"/>
          <p:nvPr/>
        </p:nvSpPr>
        <p:spPr>
          <a:xfrm>
            <a:off x="2895600" y="1889760"/>
            <a:ext cx="3901440" cy="202692"/>
          </a:xfrm>
          <a:prstGeom prst="rect">
            <a:avLst/>
          </a:prstGeom>
          <a:noFill/>
        </p:spPr>
        <p:txBody>
          <a:bodyPr wrap="none" lIns="0" rIns="0" tIns="0" bIns="0">
            <a:spAutoFit/>
          </a:bodyPr>
          <a:lstStyle/>
          <a:p>
            <a:pPr>
              <a:defRPr sz="1140" b="1">
                <a:solidFill>
                  <a:srgbClr val="54D1BA"/>
                </a:solidFill>
                <a:latin typeface="DejaVu Sans"/>
              </a:defRPr>
            </a:pPr>
            <a:r>
              <a:t>MODELL / INHALT</a:t>
            </a:r>
          </a:p>
        </p:txBody>
      </p:sp>
      <p:sp>
        <p:nvSpPr>
          <p:cNvPr id="9" name="TextBox 8"/>
          <p:cNvSpPr txBox="1"/>
          <p:nvPr/>
        </p:nvSpPr>
        <p:spPr>
          <a:xfrm>
            <a:off x="7048500" y="1889760"/>
            <a:ext cx="4663440" cy="202692"/>
          </a:xfrm>
          <a:prstGeom prst="rect">
            <a:avLst/>
          </a:prstGeom>
          <a:noFill/>
        </p:spPr>
        <p:txBody>
          <a:bodyPr wrap="none" lIns="0" rIns="0" tIns="0" bIns="0">
            <a:spAutoFit/>
          </a:bodyPr>
          <a:lstStyle/>
          <a:p>
            <a:pPr>
              <a:defRPr sz="1140" b="1">
                <a:solidFill>
                  <a:srgbClr val="54D1BA"/>
                </a:solidFill>
                <a:latin typeface="DejaVu Sans"/>
              </a:defRPr>
            </a:pPr>
            <a:r>
              <a:t>FOLGE / VERWENDUNG</a:t>
            </a:r>
          </a:p>
        </p:txBody>
      </p:sp>
      <p:sp>
        <p:nvSpPr>
          <p:cNvPr id="10" name="Rectangle 9"/>
          <p:cNvSpPr/>
          <p:nvPr/>
        </p:nvSpPr>
        <p:spPr>
          <a:xfrm>
            <a:off x="495299" y="224790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339340"/>
            <a:ext cx="2011680" cy="245363"/>
          </a:xfrm>
          <a:prstGeom prst="rect">
            <a:avLst/>
          </a:prstGeom>
          <a:noFill/>
        </p:spPr>
        <p:txBody>
          <a:bodyPr wrap="none" lIns="0" rIns="0" tIns="0" bIns="0">
            <a:spAutoFit/>
          </a:bodyPr>
          <a:lstStyle/>
          <a:p>
            <a:pPr>
              <a:defRPr sz="1380" b="1">
                <a:solidFill>
                  <a:srgbClr val="F3F5F3"/>
                </a:solidFill>
                <a:latin typeface="DejaVu Sans"/>
              </a:defRPr>
            </a:pPr>
            <a:r>
              <a:t>Physik</a:t>
            </a:r>
          </a:p>
        </p:txBody>
      </p:sp>
      <p:sp>
        <p:nvSpPr>
          <p:cNvPr id="12" name="TextBox 11"/>
          <p:cNvSpPr txBox="1"/>
          <p:nvPr/>
        </p:nvSpPr>
        <p:spPr>
          <a:xfrm>
            <a:off x="2895600" y="2339340"/>
            <a:ext cx="3878579" cy="245363"/>
          </a:xfrm>
          <a:prstGeom prst="rect">
            <a:avLst/>
          </a:prstGeom>
          <a:noFill/>
        </p:spPr>
        <p:txBody>
          <a:bodyPr wrap="none" lIns="0" rIns="0" tIns="0" bIns="0">
            <a:spAutoFit/>
          </a:bodyPr>
          <a:lstStyle/>
          <a:p>
            <a:pPr>
              <a:defRPr sz="1380" b="0">
                <a:solidFill>
                  <a:srgbClr val="B6C6CC"/>
                </a:solidFill>
                <a:latin typeface="DejaVu Sans"/>
              </a:defRPr>
            </a:pPr>
            <a:r>
              <a:t>Substeps bis 0,05 s</a:t>
            </a:r>
          </a:p>
        </p:txBody>
      </p:sp>
      <p:sp>
        <p:nvSpPr>
          <p:cNvPr id="13" name="TextBox 12"/>
          <p:cNvSpPr txBox="1"/>
          <p:nvPr/>
        </p:nvSpPr>
        <p:spPr>
          <a:xfrm>
            <a:off x="7048500" y="2339340"/>
            <a:ext cx="4640580" cy="245363"/>
          </a:xfrm>
          <a:prstGeom prst="rect">
            <a:avLst/>
          </a:prstGeom>
          <a:noFill/>
        </p:spPr>
        <p:txBody>
          <a:bodyPr wrap="none" lIns="0" rIns="0" tIns="0" bIns="0">
            <a:spAutoFit/>
          </a:bodyPr>
          <a:lstStyle/>
          <a:p>
            <a:pPr>
              <a:defRPr sz="1380" b="0">
                <a:solidFill>
                  <a:srgbClr val="B6C6CC"/>
                </a:solidFill>
                <a:latin typeface="DejaVu Sans"/>
              </a:defRPr>
            </a:pPr>
            <a:r>
              <a:t>Bewegung, Waffen, Mechanik</a:t>
            </a:r>
          </a:p>
        </p:txBody>
      </p:sp>
      <p:sp>
        <p:nvSpPr>
          <p:cNvPr id="14" name="Rectangle 13"/>
          <p:cNvSpPr/>
          <p:nvPr/>
        </p:nvSpPr>
        <p:spPr>
          <a:xfrm>
            <a:off x="495299" y="288036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600" y="2971800"/>
            <a:ext cx="2011680" cy="245363"/>
          </a:xfrm>
          <a:prstGeom prst="rect">
            <a:avLst/>
          </a:prstGeom>
          <a:noFill/>
        </p:spPr>
        <p:txBody>
          <a:bodyPr wrap="none" lIns="0" rIns="0" tIns="0" bIns="0">
            <a:spAutoFit/>
          </a:bodyPr>
          <a:lstStyle/>
          <a:p>
            <a:pPr>
              <a:defRPr sz="1380" b="1">
                <a:solidFill>
                  <a:srgbClr val="F3F5F3"/>
                </a:solidFill>
                <a:latin typeface="DejaVu Sans"/>
              </a:defRPr>
            </a:pPr>
            <a:r>
              <a:t>Sensorlage</a:t>
            </a:r>
          </a:p>
        </p:txBody>
      </p:sp>
      <p:sp>
        <p:nvSpPr>
          <p:cNvPr id="16" name="TextBox 15"/>
          <p:cNvSpPr txBox="1"/>
          <p:nvPr/>
        </p:nvSpPr>
        <p:spPr>
          <a:xfrm>
            <a:off x="2895600" y="2971800"/>
            <a:ext cx="3878579" cy="245363"/>
          </a:xfrm>
          <a:prstGeom prst="rect">
            <a:avLst/>
          </a:prstGeom>
          <a:noFill/>
        </p:spPr>
        <p:txBody>
          <a:bodyPr wrap="none" lIns="0" rIns="0" tIns="0" bIns="0">
            <a:spAutoFit/>
          </a:bodyPr>
          <a:lstStyle/>
          <a:p>
            <a:pPr>
              <a:defRPr sz="1380" b="0">
                <a:solidFill>
                  <a:srgbClr val="B6C6CC"/>
                </a:solidFill>
                <a:latin typeface="DejaVu Sans"/>
              </a:defRPr>
            </a:pPr>
            <a:r>
              <a:t>ab 0,25 s Akkumulator</a:t>
            </a:r>
          </a:p>
        </p:txBody>
      </p:sp>
      <p:sp>
        <p:nvSpPr>
          <p:cNvPr id="17" name="TextBox 16"/>
          <p:cNvSpPr txBox="1"/>
          <p:nvPr/>
        </p:nvSpPr>
        <p:spPr>
          <a:xfrm>
            <a:off x="7048500" y="2971800"/>
            <a:ext cx="4640580" cy="245363"/>
          </a:xfrm>
          <a:prstGeom prst="rect">
            <a:avLst/>
          </a:prstGeom>
          <a:noFill/>
        </p:spPr>
        <p:txBody>
          <a:bodyPr wrap="none" lIns="0" rIns="0" tIns="0" bIns="0">
            <a:spAutoFit/>
          </a:bodyPr>
          <a:lstStyle/>
          <a:p>
            <a:pPr>
              <a:defRPr sz="1380" b="0">
                <a:solidFill>
                  <a:srgbClr val="B6C6CC"/>
                </a:solidFill>
                <a:latin typeface="DejaVu Sans"/>
              </a:defRPr>
            </a:pPr>
            <a:r>
              <a:t>NPC-Sensoren und eigenes Sonar</a:t>
            </a:r>
          </a:p>
        </p:txBody>
      </p:sp>
      <p:sp>
        <p:nvSpPr>
          <p:cNvPr id="18" name="Rectangle 17"/>
          <p:cNvSpPr/>
          <p:nvPr/>
        </p:nvSpPr>
        <p:spPr>
          <a:xfrm>
            <a:off x="495299" y="351282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600" y="3604260"/>
            <a:ext cx="2011680" cy="245363"/>
          </a:xfrm>
          <a:prstGeom prst="rect">
            <a:avLst/>
          </a:prstGeom>
          <a:noFill/>
        </p:spPr>
        <p:txBody>
          <a:bodyPr wrap="none" lIns="0" rIns="0" tIns="0" bIns="0">
            <a:spAutoFit/>
          </a:bodyPr>
          <a:lstStyle/>
          <a:p>
            <a:pPr>
              <a:defRPr sz="1380" b="1">
                <a:solidFill>
                  <a:srgbClr val="F3F5F3"/>
                </a:solidFill>
                <a:latin typeface="DejaVu Sans"/>
              </a:defRPr>
            </a:pPr>
            <a:r>
              <a:t>ESM / Funk</a:t>
            </a:r>
          </a:p>
        </p:txBody>
      </p:sp>
      <p:sp>
        <p:nvSpPr>
          <p:cNvPr id="20" name="TextBox 19"/>
          <p:cNvSpPr txBox="1"/>
          <p:nvPr/>
        </p:nvSpPr>
        <p:spPr>
          <a:xfrm>
            <a:off x="2895600" y="3604260"/>
            <a:ext cx="3878579" cy="245363"/>
          </a:xfrm>
          <a:prstGeom prst="rect">
            <a:avLst/>
          </a:prstGeom>
          <a:noFill/>
        </p:spPr>
        <p:txBody>
          <a:bodyPr wrap="none" lIns="0" rIns="0" tIns="0" bIns="0">
            <a:spAutoFit/>
          </a:bodyPr>
          <a:lstStyle/>
          <a:p>
            <a:pPr>
              <a:defRPr sz="1380" b="0">
                <a:solidFill>
                  <a:srgbClr val="B6C6CC"/>
                </a:solidFill>
                <a:latin typeface="DejaVu Sans"/>
              </a:defRPr>
            </a:pPr>
            <a:r>
              <a:t>ab 0,5 s Akkumulator</a:t>
            </a:r>
          </a:p>
        </p:txBody>
      </p:sp>
      <p:sp>
        <p:nvSpPr>
          <p:cNvPr id="21" name="TextBox 20"/>
          <p:cNvSpPr txBox="1"/>
          <p:nvPr/>
        </p:nvSpPr>
        <p:spPr>
          <a:xfrm>
            <a:off x="7048500" y="3604260"/>
            <a:ext cx="4640580" cy="245363"/>
          </a:xfrm>
          <a:prstGeom prst="rect">
            <a:avLst/>
          </a:prstGeom>
          <a:noFill/>
        </p:spPr>
        <p:txBody>
          <a:bodyPr wrap="none" lIns="0" rIns="0" tIns="0" bIns="0">
            <a:spAutoFit/>
          </a:bodyPr>
          <a:lstStyle/>
          <a:p>
            <a:pPr>
              <a:defRPr sz="1380" b="0">
                <a:solidFill>
                  <a:srgbClr val="B6C6CC"/>
                </a:solidFill>
                <a:latin typeface="DejaVu Sans"/>
              </a:defRPr>
            </a:pPr>
            <a:r>
              <a:t>Publikation der jeweiligen Lage</a:t>
            </a:r>
          </a:p>
        </p:txBody>
      </p:sp>
      <p:sp>
        <p:nvSpPr>
          <p:cNvPr id="22" name="Rectangle 21"/>
          <p:cNvSpPr/>
          <p:nvPr/>
        </p:nvSpPr>
        <p:spPr>
          <a:xfrm>
            <a:off x="495299" y="414528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 y="4236720"/>
            <a:ext cx="2011680" cy="245363"/>
          </a:xfrm>
          <a:prstGeom prst="rect">
            <a:avLst/>
          </a:prstGeom>
          <a:noFill/>
        </p:spPr>
        <p:txBody>
          <a:bodyPr wrap="none" lIns="0" rIns="0" tIns="0" bIns="0">
            <a:spAutoFit/>
          </a:bodyPr>
          <a:lstStyle/>
          <a:p>
            <a:pPr>
              <a:defRPr sz="1380" b="1">
                <a:solidFill>
                  <a:srgbClr val="F3F5F3"/>
                </a:solidFill>
                <a:latin typeface="DejaVu Sans"/>
              </a:defRPr>
            </a:pPr>
            <a:r>
              <a:t>Schaden / Mission</a:t>
            </a:r>
          </a:p>
        </p:txBody>
      </p:sp>
      <p:sp>
        <p:nvSpPr>
          <p:cNvPr id="24" name="TextBox 23"/>
          <p:cNvSpPr txBox="1"/>
          <p:nvPr/>
        </p:nvSpPr>
        <p:spPr>
          <a:xfrm>
            <a:off x="2895600" y="4236720"/>
            <a:ext cx="3878579" cy="245363"/>
          </a:xfrm>
          <a:prstGeom prst="rect">
            <a:avLst/>
          </a:prstGeom>
          <a:noFill/>
        </p:spPr>
        <p:txBody>
          <a:bodyPr wrap="none" lIns="0" rIns="0" tIns="0" bIns="0">
            <a:spAutoFit/>
          </a:bodyPr>
          <a:lstStyle/>
          <a:p>
            <a:pPr>
              <a:defRPr sz="1380" b="0">
                <a:solidFill>
                  <a:srgbClr val="B6C6CC"/>
                </a:solidFill>
                <a:latin typeface="DejaVu Sans"/>
              </a:defRPr>
            </a:pPr>
            <a:r>
              <a:t>ab 0,5 s Akkumulator</a:t>
            </a:r>
          </a:p>
        </p:txBody>
      </p:sp>
      <p:sp>
        <p:nvSpPr>
          <p:cNvPr id="25" name="TextBox 24"/>
          <p:cNvSpPr txBox="1"/>
          <p:nvPr/>
        </p:nvSpPr>
        <p:spPr>
          <a:xfrm>
            <a:off x="7048500" y="4236720"/>
            <a:ext cx="4640580" cy="245363"/>
          </a:xfrm>
          <a:prstGeom prst="rect">
            <a:avLst/>
          </a:prstGeom>
          <a:noFill/>
        </p:spPr>
        <p:txBody>
          <a:bodyPr wrap="none" lIns="0" rIns="0" tIns="0" bIns="0">
            <a:spAutoFit/>
          </a:bodyPr>
          <a:lstStyle/>
          <a:p>
            <a:pPr>
              <a:defRPr sz="1380" b="0">
                <a:solidFill>
                  <a:srgbClr val="B6C6CC"/>
                </a:solidFill>
                <a:latin typeface="DejaVu Sans"/>
              </a:defRPr>
            </a:pPr>
            <a:r>
              <a:t>Flutung, Brand, Zielprüfung</a:t>
            </a:r>
          </a:p>
        </p:txBody>
      </p:sp>
      <p:sp>
        <p:nvSpPr>
          <p:cNvPr id="26" name="Rectangle 25"/>
          <p:cNvSpPr/>
          <p:nvPr/>
        </p:nvSpPr>
        <p:spPr>
          <a:xfrm>
            <a:off x="495299" y="477774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600" y="4869180"/>
            <a:ext cx="2011680" cy="245363"/>
          </a:xfrm>
          <a:prstGeom prst="rect">
            <a:avLst/>
          </a:prstGeom>
          <a:noFill/>
        </p:spPr>
        <p:txBody>
          <a:bodyPr wrap="none" lIns="0" rIns="0" tIns="0" bIns="0">
            <a:spAutoFit/>
          </a:bodyPr>
          <a:lstStyle/>
          <a:p>
            <a:pPr>
              <a:defRPr sz="1380" b="1">
                <a:solidFill>
                  <a:srgbClr val="F3F5F3"/>
                </a:solidFill>
                <a:latin typeface="DejaVu Sans"/>
              </a:defRPr>
            </a:pPr>
            <a:r>
              <a:t>Autocrew / Audio</a:t>
            </a:r>
          </a:p>
        </p:txBody>
      </p:sp>
      <p:sp>
        <p:nvSpPr>
          <p:cNvPr id="28" name="TextBox 27"/>
          <p:cNvSpPr txBox="1"/>
          <p:nvPr/>
        </p:nvSpPr>
        <p:spPr>
          <a:xfrm>
            <a:off x="2895600" y="4869180"/>
            <a:ext cx="3878579" cy="245363"/>
          </a:xfrm>
          <a:prstGeom prst="rect">
            <a:avLst/>
          </a:prstGeom>
          <a:noFill/>
        </p:spPr>
        <p:txBody>
          <a:bodyPr wrap="none" lIns="0" rIns="0" tIns="0" bIns="0">
            <a:spAutoFit/>
          </a:bodyPr>
          <a:lstStyle/>
          <a:p>
            <a:pPr>
              <a:defRPr sz="1380" b="0">
                <a:solidFill>
                  <a:srgbClr val="B6C6CC"/>
                </a:solidFill>
                <a:latin typeface="DejaVu Sans"/>
              </a:defRPr>
            </a:pPr>
            <a:r>
              <a:t>stations- bzw. blockweise</a:t>
            </a:r>
          </a:p>
        </p:txBody>
      </p:sp>
      <p:sp>
        <p:nvSpPr>
          <p:cNvPr id="29" name="TextBox 28"/>
          <p:cNvSpPr txBox="1"/>
          <p:nvPr/>
        </p:nvSpPr>
        <p:spPr>
          <a:xfrm>
            <a:off x="7048500" y="4869180"/>
            <a:ext cx="4640580" cy="245363"/>
          </a:xfrm>
          <a:prstGeom prst="rect">
            <a:avLst/>
          </a:prstGeom>
          <a:noFill/>
        </p:spPr>
        <p:txBody>
          <a:bodyPr wrap="none" lIns="0" rIns="0" tIns="0" bIns="0">
            <a:spAutoFit/>
          </a:bodyPr>
          <a:lstStyle/>
          <a:p>
            <a:pPr>
              <a:defRPr sz="1380" b="0">
                <a:solidFill>
                  <a:srgbClr val="B6C6CC"/>
                </a:solidFill>
                <a:latin typeface="DejaVu Sans"/>
              </a:defRPr>
            </a:pPr>
            <a:r>
              <a:t>Crew: 0,5–5 s; Empfänger: 0,25 s</a:t>
            </a:r>
          </a:p>
        </p:txBody>
      </p:sp>
      <p:sp>
        <p:nvSpPr>
          <p:cNvPr id="30" name="Rectangle 2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Takte sind Implementierungsintervalle; die Ausführung erfolgt beim nächsten passenden Substep.</a:t>
            </a:r>
          </a:p>
        </p:txBody>
      </p:sp>
      <p:sp>
        <p:nvSpPr>
          <p:cNvPr id="32" name="TextBox 3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src/core/autocrew.py · src/audio/receiver.py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WELT &amp; UMWELT</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10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Geografie ist mehr als ein Kartenhintergrund</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Bekannte Küsten, synthetischer Meeresboden und physische Abfragen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Sektor</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128 validierte reale</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500-NM-Sektoren; seed % 128</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wählt im Seed-Modus den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Abschnitt.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Tiefenmodell</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Kartentiefe + Gezeit;</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Unterwasserfelsen können die</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effektive Tiefe begrenzen.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Abfragen</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Landkontakt, Rumpffreiheit,</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Sichtlinien und</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Unterwasserabschattung</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begrenzen Aktionen.</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Reale geografische Namen bedeuten keine real vermessene Bathymetrie oder reale militärische Lage.</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src/world/real_coast.py · src/world/coastline.py · src/world/world.py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WELT &amp; UMWELT</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11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Die Umwelt verzweigt in fast alle Systeme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Gemeinsame Ursachen erzeugen mehrere taktische Folgen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Wind &amp; Seegang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Zusatzwiderstand,</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Rollen/Stampfen, Eigen-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Umgebungsgeräusch,</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Radarclutter, Fluggrenzen.</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Regen &amp; Sicht</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Radarabschwächung, optische</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Reichweite, akustischer</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Hintergrund und Flugwetter.</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Ozean &amp; Tiefe</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Schallprofil, Reflexion, Gezeit,</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Bodenfreiheit, Tauchgrenzen</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und Drift.</a:t>
            </a:r>
          </a:p>
        </p:txBody>
      </p:sp>
      <p:sp>
        <p:nvSpPr>
          <p:cNvPr id="26" name="Rectangle 25"/>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 Wetterwechsel verändert Mobilität, Aufklärung und verfügbare Einsatzmittel gleichzeitig.</a:t>
            </a:r>
          </a:p>
        </p:txBody>
      </p:sp>
      <p:sp>
        <p:nvSpPr>
          <p:cNvPr id="28" name="TextBox 27"/>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src/world/world.py · src/world/ocean.py · src/physics/ship_dynamics.py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WELT &amp; UMWELT</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12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Der Ozean verändert die Schallwege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Temperatur, Salzgehalt, Druck und Grenzflächen bilden das akustische Milieu</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Zeitabhängigkeit</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M2-/S2-Gezeit,</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Winddurchmischung,</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Tagesgang, Saison und interne</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Wellen.</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Schallgeschwindigkeit</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Mackenzie-Näherung aus</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Temperatur, Salzgehalt und</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Tiefe; Profil bis zum Boden.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Grenzflächen</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Sediment bestimmt</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Bodenverluste; Wind</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beeinflusst</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Oberflächenverluste; Wracks</a:t>
            </a:r>
          </a:p>
        </p:txBody>
      </p:sp>
      <p:sp>
        <p:nvSpPr>
          <p:cNvPr id="27" name="TextBox 26"/>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erzeugen Echos.</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Thermokline ist kein universeller An/Aus-Schalter: Der gesamte Schallweg entscheidet.</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src/world/ocean.py · src/world/world.py · src/sonar/propagation.py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WELT &amp; UMWELT</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13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Wetteranzeige und Flugwetter sind gekoppelt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Neue Funktionen des vorliegenden lokalen Arbeitsstands</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Atmosphäre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Luftdruck und Tendenz,</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Temperatur, Böen, Bewölkung,</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Wolkenuntergrenze, Vereisung,</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Sonne/Mond.</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Entscheidungswirkung</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Helikopter prüft Wind,</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Querwind, Böen, Sicht,</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Seegang, Untergrenze und</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Vereisung.</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Messgrenze</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Das Unterwasserprofil im</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Wetterpanel erscheint erst</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nach einer BT-Messung und</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kann veralten.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Nicht jede atmosphärische Anzeige ist ein eigenes dynamisches Physiksystem; viele Größen sind abgeleitet.</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src/world/atmosphere.py · src/ui/weather_station.py · src/core/game.py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SCHIFF &amp; BEWEGUNG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14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Das Eigenschiff wird kraftbasiert bewegt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Befehle verändern Zielwerte; der Rumpf reagiert mit Trägheit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Längsbewegung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Schub minus Widerstand →</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Beschleunigung. Seegang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zusätzliche Masse verändern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die Antwort.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Drehbewegung</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Autopilot → Ruderausschlag →</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verzögerte Gierrate nach</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Nomoto → neuer Kurs.</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Lage &amp; Tiefgang</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Wellen, Kurvenfahrt und</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Stabilisierung →</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Rollen/Stampfen; Masse und</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Squat → Tiefgang.</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M · dv/dt = a₀ − a₁v − a₂v²; die Längsbewegung wird mit einer geschlossenen Riccati-Lösung integriert.</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src/ship/ship.py · src/physics/ship_dynamics.py · data/loadouts/ownship_hull.json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SCHIFF &amp; BEWEGUNG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15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Fahrt ist eine Entscheidung mit vier Folgen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Maschinenraum und Brücke verändern die taktischen Möglichkeiten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Mobilität</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Höhere Fahrt verkürzt</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Verlegung, verändert</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Kurvenfahrt und erhöht die</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Energie beim Auflaufen.</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Akustik</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Fahrt und Kavitation erhöhen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Eigenlärm und verschlechtern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das passive Hören.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Ressourcen &amp; Mittel</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Treibstoffbedarf,</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Schleppantenne, Drahtführung</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und Deckbewegung begrenzen</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die Nutzung.</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Schneller fahren kann einen Raumgewinn bringen und gleichzeitig den Informationsvorsprung verringern.</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src/ship/ship.py · src/sonar/sonar.py · src/weapons/torpedo.py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SCHIFF &amp; BEWEGUNG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16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Grundberührung wird entlang des Weges geprüft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Auch zwischen zwei Positionen darf der Rumpf keine Küste überspringen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Geometrie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Rumpflänge, Breite, Kurs und</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dynamischer Tiefgang</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definieren die Kollisionsform.</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Bewegungsprüfung</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Swept Grounding untersucht</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Translation und Drehung bis</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zur ersten sicheren Grenzpose.</a:t>
            </a:r>
          </a:p>
        </p:txBody>
      </p:sp>
      <p:sp>
        <p:nvSpPr>
          <p:cNvPr id="19" name="Rectangle 18"/>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Wirkung</a:t>
            </a:r>
          </a:p>
        </p:txBody>
      </p:sp>
      <p:sp>
        <p:nvSpPr>
          <p:cNvPr id="22" name="TextBox 21"/>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Normale</a:t>
            </a:r>
          </a:p>
        </p:txBody>
      </p:sp>
      <p:sp>
        <p:nvSpPr>
          <p:cNvPr id="23" name="TextBox 22"/>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Aufprallgeschwindigkeit →</a:t>
            </a:r>
          </a:p>
        </p:txBody>
      </p:sp>
      <p:sp>
        <p:nvSpPr>
          <p:cNvPr id="24" name="TextBox 23"/>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kinetische Energie →</a:t>
            </a:r>
          </a:p>
        </p:txBody>
      </p:sp>
      <p:sp>
        <p:nvSpPr>
          <p:cNvPr id="25" name="TextBox 24"/>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lokalisierter Schaden und</a:t>
            </a:r>
          </a:p>
        </p:txBody>
      </p:sp>
      <p:sp>
        <p:nvSpPr>
          <p:cNvPr id="26" name="TextBox 25"/>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Stillstand.</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 = ½ · m · v²: Eine Verdoppelung der normalen Aufprallfahrt vervierfacht die Aufprallenergie.</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src/world/grounding.py · src/ship/ship.py · src/ship/damage.py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17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Passives Sonar ist eine Signalkette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Ein lautes Ziel ist nicht unter allen Bedingungen leicht hörbar</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Quelle</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Katalogsignatur +</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aktuelle Fahrt +</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Maschinenzustand +</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transiente Geräusche.</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Übertragung</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Entfernung, Absorption,</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Schallprofil,</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Boden/Oberfläche und</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Abschattung.</a:t>
            </a:r>
          </a:p>
        </p:txBody>
      </p:sp>
      <p:sp>
        <p:nvSpPr>
          <p:cNvPr id="22" name="TextBox 21"/>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3" name="Rectangle 22"/>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5" name="TextBox 24"/>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Empfänger</a:t>
            </a:r>
          </a:p>
        </p:txBody>
      </p:sp>
      <p:sp>
        <p:nvSpPr>
          <p:cNvPr id="26" name="TextBox 25"/>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Richtwirkung,</a:t>
            </a:r>
          </a:p>
        </p:txBody>
      </p:sp>
      <p:sp>
        <p:nvSpPr>
          <p:cNvPr id="27" name="TextBox 26"/>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Eigenlärm, Seegang,</a:t>
            </a:r>
          </a:p>
        </p:txBody>
      </p:sp>
      <p:sp>
        <p:nvSpPr>
          <p:cNvPr id="28" name="TextBox 27"/>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Regen und</a:t>
            </a:r>
          </a:p>
        </p:txBody>
      </p:sp>
      <p:sp>
        <p:nvSpPr>
          <p:cNvPr id="29" name="TextBox 28"/>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Schiffsverkehr.</a:t>
            </a:r>
          </a:p>
        </p:txBody>
      </p:sp>
      <p:sp>
        <p:nvSpPr>
          <p:cNvPr id="30" name="TextBox 29"/>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1" name="Rectangle 30"/>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3" name="TextBox 32"/>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Kontakt</a:t>
            </a:r>
          </a:p>
        </p:txBody>
      </p:sp>
      <p:sp>
        <p:nvSpPr>
          <p:cNvPr id="34" name="TextBox 33"/>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Signalüberschuss</a:t>
            </a:r>
          </a:p>
        </p:txBody>
      </p:sp>
      <p:sp>
        <p:nvSpPr>
          <p:cNvPr id="35" name="TextBox 34"/>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erzeugt eine</a:t>
            </a:r>
          </a:p>
        </p:txBody>
      </p:sp>
      <p:sp>
        <p:nvSpPr>
          <p:cNvPr id="36" name="TextBox 35"/>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verrauschte Peilung mit</a:t>
            </a:r>
          </a:p>
        </p:txBody>
      </p:sp>
      <p:sp>
        <p:nvSpPr>
          <p:cNvPr id="37" name="TextBox 36"/>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Qualität und</a:t>
            </a:r>
          </a:p>
        </p:txBody>
      </p:sp>
      <p:sp>
        <p:nvSpPr>
          <p:cNvPr id="38" name="TextBox 37"/>
          <p:cNvSpPr txBox="1"/>
          <p:nvPr/>
        </p:nvSpPr>
        <p:spPr>
          <a:xfrm>
            <a:off x="925449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Zeitstempel.</a:t>
            </a:r>
          </a:p>
        </p:txBody>
      </p:sp>
      <p:sp>
        <p:nvSpPr>
          <p:cNvPr id="39" name="Rectangle 3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Passive Detektion liefert zunächst Richtung und akustische Evidenz; Entfernung muss zusätzlich gewonnen werden.</a:t>
            </a:r>
          </a:p>
        </p:txBody>
      </p:sp>
      <p:sp>
        <p:nvSpPr>
          <p:cNvPr id="41" name="TextBox 4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src/sonar/sonar.py · src/sonar/equation.py · src/sonar/propagation.py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18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Die passive Sonargleichung</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Signalüberschuss als Bilanz in Dezibel</a:t>
            </a:r>
          </a:p>
        </p:txBody>
      </p:sp>
      <p:sp>
        <p:nvSpPr>
          <p:cNvPr id="7" name="Rectangle 6"/>
          <p:cNvSpPr/>
          <p:nvPr/>
        </p:nvSpPr>
        <p:spPr>
          <a:xfrm>
            <a:off x="495299" y="2034540"/>
            <a:ext cx="549783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549783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5208270" cy="320040"/>
          </a:xfrm>
          <a:prstGeom prst="rect">
            <a:avLst/>
          </a:prstGeom>
          <a:noFill/>
        </p:spPr>
        <p:txBody>
          <a:bodyPr wrap="none" lIns="0" rIns="0" tIns="0" bIns="0">
            <a:spAutoFit/>
          </a:bodyPr>
          <a:lstStyle/>
          <a:p>
            <a:pPr>
              <a:defRPr sz="1800" b="1">
                <a:solidFill>
                  <a:srgbClr val="F3F5F3"/>
                </a:solidFill>
                <a:latin typeface="DejaVu Sans"/>
              </a:defRPr>
            </a:pPr>
            <a:r>
              <a:t>SE = SL − TL − NL + DI − DT</a:t>
            </a:r>
          </a:p>
        </p:txBody>
      </p:sp>
      <p:sp>
        <p:nvSpPr>
          <p:cNvPr id="10" name="TextBox 9"/>
          <p:cNvSpPr txBox="1"/>
          <p:nvPr/>
        </p:nvSpPr>
        <p:spPr>
          <a:xfrm>
            <a:off x="685800" y="2964180"/>
            <a:ext cx="5208270" cy="288036"/>
          </a:xfrm>
          <a:prstGeom prst="rect">
            <a:avLst/>
          </a:prstGeom>
          <a:noFill/>
        </p:spPr>
        <p:txBody>
          <a:bodyPr wrap="none" lIns="0" rIns="0" tIns="0" bIns="0">
            <a:spAutoFit/>
          </a:bodyPr>
          <a:lstStyle/>
          <a:p>
            <a:pPr>
              <a:defRPr sz="1620" b="0">
                <a:solidFill>
                  <a:srgbClr val="B6C6CC"/>
                </a:solidFill>
                <a:latin typeface="DejaVu Sans"/>
              </a:defRPr>
            </a:pPr>
            <a:r>
              <a:t>SL: Quellpegel</a:t>
            </a:r>
          </a:p>
        </p:txBody>
      </p:sp>
      <p:sp>
        <p:nvSpPr>
          <p:cNvPr id="11" name="TextBox 10"/>
          <p:cNvSpPr txBox="1"/>
          <p:nvPr/>
        </p:nvSpPr>
        <p:spPr>
          <a:xfrm>
            <a:off x="685800" y="3252216"/>
            <a:ext cx="5208270" cy="288036"/>
          </a:xfrm>
          <a:prstGeom prst="rect">
            <a:avLst/>
          </a:prstGeom>
          <a:noFill/>
        </p:spPr>
        <p:txBody>
          <a:bodyPr wrap="none" lIns="0" rIns="0" tIns="0" bIns="0">
            <a:spAutoFit/>
          </a:bodyPr>
          <a:lstStyle/>
          <a:p>
            <a:pPr>
              <a:defRPr sz="1620" b="0">
                <a:solidFill>
                  <a:srgbClr val="B6C6CC"/>
                </a:solidFill>
                <a:latin typeface="DejaVu Sans"/>
              </a:defRPr>
            </a:pPr>
            <a:r>
              <a:t>TL: Übertragungsverlust</a:t>
            </a:r>
          </a:p>
        </p:txBody>
      </p:sp>
      <p:sp>
        <p:nvSpPr>
          <p:cNvPr id="12" name="TextBox 11"/>
          <p:cNvSpPr txBox="1"/>
          <p:nvPr/>
        </p:nvSpPr>
        <p:spPr>
          <a:xfrm>
            <a:off x="685800" y="3540252"/>
            <a:ext cx="5208270" cy="288036"/>
          </a:xfrm>
          <a:prstGeom prst="rect">
            <a:avLst/>
          </a:prstGeom>
          <a:noFill/>
        </p:spPr>
        <p:txBody>
          <a:bodyPr wrap="none" lIns="0" rIns="0" tIns="0" bIns="0">
            <a:spAutoFit/>
          </a:bodyPr>
          <a:lstStyle/>
          <a:p>
            <a:pPr>
              <a:defRPr sz="1620" b="0">
                <a:solidFill>
                  <a:srgbClr val="B6C6CC"/>
                </a:solidFill>
                <a:latin typeface="DejaVu Sans"/>
              </a:defRPr>
            </a:pPr>
            <a:r>
              <a:t>NL: Rauschpegel</a:t>
            </a:r>
          </a:p>
        </p:txBody>
      </p:sp>
      <p:sp>
        <p:nvSpPr>
          <p:cNvPr id="13" name="TextBox 12"/>
          <p:cNvSpPr txBox="1"/>
          <p:nvPr/>
        </p:nvSpPr>
        <p:spPr>
          <a:xfrm>
            <a:off x="685800" y="3828288"/>
            <a:ext cx="5208270" cy="288036"/>
          </a:xfrm>
          <a:prstGeom prst="rect">
            <a:avLst/>
          </a:prstGeom>
          <a:noFill/>
        </p:spPr>
        <p:txBody>
          <a:bodyPr wrap="none" lIns="0" rIns="0" tIns="0" bIns="0">
            <a:spAutoFit/>
          </a:bodyPr>
          <a:lstStyle/>
          <a:p>
            <a:pPr>
              <a:defRPr sz="1620" b="0">
                <a:solidFill>
                  <a:srgbClr val="B6C6CC"/>
                </a:solidFill>
                <a:latin typeface="DejaVu Sans"/>
              </a:defRPr>
            </a:pPr>
            <a:r>
              <a:t>DI: Richtgewinn</a:t>
            </a:r>
          </a:p>
        </p:txBody>
      </p:sp>
      <p:sp>
        <p:nvSpPr>
          <p:cNvPr id="14" name="TextBox 13"/>
          <p:cNvSpPr txBox="1"/>
          <p:nvPr/>
        </p:nvSpPr>
        <p:spPr>
          <a:xfrm>
            <a:off x="685800" y="4116324"/>
            <a:ext cx="5208270" cy="288036"/>
          </a:xfrm>
          <a:prstGeom prst="rect">
            <a:avLst/>
          </a:prstGeom>
          <a:noFill/>
        </p:spPr>
        <p:txBody>
          <a:bodyPr wrap="none" lIns="0" rIns="0" tIns="0" bIns="0">
            <a:spAutoFit/>
          </a:bodyPr>
          <a:lstStyle/>
          <a:p>
            <a:pPr>
              <a:defRPr sz="1620" b="0">
                <a:solidFill>
                  <a:srgbClr val="B6C6CC"/>
                </a:solidFill>
                <a:latin typeface="DejaVu Sans"/>
              </a:defRPr>
            </a:pPr>
            <a:r>
              <a:t>DT: Detektionsschwelle</a:t>
            </a:r>
          </a:p>
        </p:txBody>
      </p:sp>
      <p:sp>
        <p:nvSpPr>
          <p:cNvPr id="15" name="Rectangle 14"/>
          <p:cNvSpPr/>
          <p:nvPr/>
        </p:nvSpPr>
        <p:spPr>
          <a:xfrm>
            <a:off x="6198870" y="2034540"/>
            <a:ext cx="549783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8870" y="2034540"/>
            <a:ext cx="549783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9370" y="2270760"/>
            <a:ext cx="5208270" cy="320040"/>
          </a:xfrm>
          <a:prstGeom prst="rect">
            <a:avLst/>
          </a:prstGeom>
          <a:noFill/>
        </p:spPr>
        <p:txBody>
          <a:bodyPr wrap="none" lIns="0" rIns="0" tIns="0" bIns="0">
            <a:spAutoFit/>
          </a:bodyPr>
          <a:lstStyle/>
          <a:p>
            <a:pPr>
              <a:defRPr sz="1800" b="1">
                <a:solidFill>
                  <a:srgbClr val="F3F5F3"/>
                </a:solidFill>
                <a:latin typeface="DejaVu Sans"/>
              </a:defRPr>
            </a:pPr>
            <a:r>
              <a:t>Was verändert die Bilanz?</a:t>
            </a:r>
          </a:p>
        </p:txBody>
      </p:sp>
      <p:sp>
        <p:nvSpPr>
          <p:cNvPr id="18" name="TextBox 17"/>
          <p:cNvSpPr txBox="1"/>
          <p:nvPr/>
        </p:nvSpPr>
        <p:spPr>
          <a:xfrm>
            <a:off x="6389370" y="2964180"/>
            <a:ext cx="5208270" cy="288036"/>
          </a:xfrm>
          <a:prstGeom prst="rect">
            <a:avLst/>
          </a:prstGeom>
          <a:noFill/>
        </p:spPr>
        <p:txBody>
          <a:bodyPr wrap="none" lIns="0" rIns="0" tIns="0" bIns="0">
            <a:spAutoFit/>
          </a:bodyPr>
          <a:lstStyle/>
          <a:p>
            <a:pPr>
              <a:defRPr sz="1620" b="0">
                <a:solidFill>
                  <a:srgbClr val="B6C6CC"/>
                </a:solidFill>
                <a:latin typeface="DejaVu Sans"/>
              </a:defRPr>
            </a:pPr>
            <a:r>
              <a:t>Fahrt und Kavitation erhöhen Eigenlärm.</a:t>
            </a:r>
          </a:p>
        </p:txBody>
      </p:sp>
      <p:sp>
        <p:nvSpPr>
          <p:cNvPr id="19" name="TextBox 18"/>
          <p:cNvSpPr txBox="1"/>
          <p:nvPr/>
        </p:nvSpPr>
        <p:spPr>
          <a:xfrm>
            <a:off x="6389370" y="3252216"/>
            <a:ext cx="5208270" cy="288036"/>
          </a:xfrm>
          <a:prstGeom prst="rect">
            <a:avLst/>
          </a:prstGeom>
          <a:noFill/>
        </p:spPr>
        <p:txBody>
          <a:bodyPr wrap="none" lIns="0" rIns="0" tIns="0" bIns="0">
            <a:spAutoFit/>
          </a:bodyPr>
          <a:lstStyle/>
          <a:p>
            <a:pPr>
              <a:defRPr sz="1620" b="0">
                <a:solidFill>
                  <a:srgbClr val="B6C6CC"/>
                </a:solidFill>
                <a:latin typeface="DejaVu Sans"/>
              </a:defRPr>
            </a:pPr>
            <a:r>
              <a:t>Frequenz und Weg bestimmen Verlust. Antenne</a:t>
            </a:r>
          </a:p>
        </p:txBody>
      </p:sp>
      <p:sp>
        <p:nvSpPr>
          <p:cNvPr id="20" name="TextBox 19"/>
          <p:cNvSpPr txBox="1"/>
          <p:nvPr/>
        </p:nvSpPr>
        <p:spPr>
          <a:xfrm>
            <a:off x="6389370" y="3540252"/>
            <a:ext cx="5208270" cy="288036"/>
          </a:xfrm>
          <a:prstGeom prst="rect">
            <a:avLst/>
          </a:prstGeom>
          <a:noFill/>
        </p:spPr>
        <p:txBody>
          <a:bodyPr wrap="none" lIns="0" rIns="0" tIns="0" bIns="0">
            <a:spAutoFit/>
          </a:bodyPr>
          <a:lstStyle/>
          <a:p>
            <a:pPr>
              <a:defRPr sz="1620" b="0">
                <a:solidFill>
                  <a:srgbClr val="B6C6CC"/>
                </a:solidFill>
                <a:latin typeface="DejaVu Sans"/>
              </a:defRPr>
            </a:pPr>
            <a:r>
              <a:t>und Empfindlichkeit verändern den nutzbaren</a:t>
            </a:r>
          </a:p>
        </p:txBody>
      </p:sp>
      <p:sp>
        <p:nvSpPr>
          <p:cNvPr id="21" name="TextBox 20"/>
          <p:cNvSpPr txBox="1"/>
          <p:nvPr/>
        </p:nvSpPr>
        <p:spPr>
          <a:xfrm>
            <a:off x="6389370" y="3828288"/>
            <a:ext cx="5208270" cy="288036"/>
          </a:xfrm>
          <a:prstGeom prst="rect">
            <a:avLst/>
          </a:prstGeom>
          <a:noFill/>
        </p:spPr>
        <p:txBody>
          <a:bodyPr wrap="none" lIns="0" rIns="0" tIns="0" bIns="0">
            <a:spAutoFit/>
          </a:bodyPr>
          <a:lstStyle/>
          <a:p>
            <a:pPr>
              <a:defRPr sz="1620" b="0">
                <a:solidFill>
                  <a:srgbClr val="B6C6CC"/>
                </a:solidFill>
                <a:latin typeface="DejaVu Sans"/>
              </a:defRPr>
            </a:pPr>
            <a:r>
              <a:t>Pegel.</a:t>
            </a:r>
          </a:p>
        </p:txBody>
      </p:sp>
      <p:sp>
        <p:nvSpPr>
          <p:cNvPr id="22" name="Rectangle 21"/>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Modelle werden an Spielreferenzen kalibriert; eine nominelle Reichweite ist kein fester Detektionskreis.</a:t>
            </a:r>
          </a:p>
        </p:txBody>
      </p:sp>
      <p:sp>
        <p:nvSpPr>
          <p:cNvPr id="24" name="TextBox 23"/>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src/sonar/equation.py · src/sonar/sonar.py · tools/calibrate.py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19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Strahlverfolgung statt pauschaler Schichtstrafe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Form des Schallprofils erzeugt unterschiedliche Empfangszonen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Eingabe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Quantisiertes Profil,</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Sendertiefe, Wassertiefe,</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Sediment und Wind.</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Berechnung</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48 Strahlen; Brechung nach</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Snell; Umkehrpunkte;</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Oberflächen- und</a:t>
            </a:r>
          </a:p>
        </p:txBody>
      </p:sp>
      <p:sp>
        <p:nvSpPr>
          <p:cNvPr id="19" name="TextBox 18"/>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Bodenreflexion.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Ergebnis</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Verlusttabellen über</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Entfernung/Tiefe je Band;</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begrenzter Cache mit 64</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Einträgen.</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Schatten, Oberflächenkanal und Mehrwegeausbreitung entstehen im vereinfachten Profilmodell.</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src/sonar/raytrace.py · src/sonar/propagation.py · src/world/ocean.py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20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Bug-, Schlepp- und abgesetzte Sensoren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Position des Empfängers ist Teil der Messung</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Bugsonar</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Direkt am Eigenschiff; Fahrt,</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Eigenlärm, Rumpf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Schäden beeinflussen den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Empfang.</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Schleppantenne</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Eigener Ausbringzustand und</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Tiefe; Richtwirkung und</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Links/Rechts-Mehrdeutigkeit.</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Dippen &amp; Bojen</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Andere Beobachterpositionen</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liefern zusätzliche Peilungen</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und verbessern die Geometrie.</a:t>
            </a:r>
          </a:p>
        </p:txBody>
      </p:sp>
      <p:sp>
        <p:nvSpPr>
          <p:cNvPr id="26" name="Rectangle 25"/>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Mehr Sensoren helfen vor allem dann, wenn sie neue, verwertbare Beobachtungsgeometrie liefern.</a:t>
            </a:r>
          </a:p>
        </p:txBody>
      </p:sp>
      <p:sp>
        <p:nvSpPr>
          <p:cNvPr id="28" name="TextBox 27"/>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src/sonar/sonar.py · src/air/helicopter.py · src/air/sonobuoy.py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21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Aktivsonar tauscht Tarnung gegen einen Fix</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Ein Ping verursacht ein zeitverzögertes Messereignis</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Aussenden</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Pulswahl CW oder LFM,</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Bereitschaft und</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Sensorzustand werden</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berücksichtigt.</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Weg &amp; Echo</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Hin- und Rückweg,</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Zielstärke, Nachhall,</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Doppler und</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Schallgeschwindigkeit</a:t>
            </a:r>
          </a:p>
        </p:txBody>
      </p:sp>
      <p:sp>
        <p:nvSpPr>
          <p:cNvPr id="22" name="TextBox 21"/>
          <p:cNvSpPr txBox="1"/>
          <p:nvPr/>
        </p:nvSpPr>
        <p:spPr>
          <a:xfrm>
            <a:off x="353187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bestimmen Empfang.</a:t>
            </a:r>
          </a:p>
        </p:txBody>
      </p:sp>
      <p:sp>
        <p:nvSpPr>
          <p:cNvPr id="23" name="TextBox 22"/>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4" name="Rectangle 23"/>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6" name="TextBox 25"/>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Publizieren</a:t>
            </a:r>
          </a:p>
        </p:txBody>
      </p:sp>
      <p:sp>
        <p:nvSpPr>
          <p:cNvPr id="27" name="TextBox 26"/>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Ein gespeichertes Echo</a:t>
            </a:r>
          </a:p>
        </p:txBody>
      </p:sp>
      <p:sp>
        <p:nvSpPr>
          <p:cNvPr id="28" name="TextBox 27"/>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trifft später ein und</a:t>
            </a:r>
          </a:p>
        </p:txBody>
      </p:sp>
      <p:sp>
        <p:nvSpPr>
          <p:cNvPr id="29" name="TextBox 28"/>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liefert fehlerbehaftete</a:t>
            </a:r>
          </a:p>
        </p:txBody>
      </p:sp>
      <p:sp>
        <p:nvSpPr>
          <p:cNvPr id="30" name="TextBox 29"/>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Peilung, Entfernung und</a:t>
            </a:r>
          </a:p>
        </p:txBody>
      </p:sp>
      <p:sp>
        <p:nvSpPr>
          <p:cNvPr id="31" name="TextBox 30"/>
          <p:cNvSpPr txBox="1"/>
          <p:nvPr/>
        </p:nvSpPr>
        <p:spPr>
          <a:xfrm>
            <a:off x="639318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Tiefe.</a:t>
            </a:r>
          </a:p>
        </p:txBody>
      </p:sp>
      <p:sp>
        <p:nvSpPr>
          <p:cNvPr id="32" name="TextBox 31"/>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3" name="Rectangle 32"/>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5" name="TextBox 34"/>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Gegenwirkung</a:t>
            </a:r>
          </a:p>
        </p:txBody>
      </p:sp>
      <p:sp>
        <p:nvSpPr>
          <p:cNvPr id="36" name="TextBox 35"/>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Andere Einheiten</a:t>
            </a:r>
          </a:p>
        </p:txBody>
      </p:sp>
      <p:sp>
        <p:nvSpPr>
          <p:cNvPr id="37" name="TextBox 36"/>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können den Ping</a:t>
            </a:r>
          </a:p>
        </p:txBody>
      </p:sp>
      <p:sp>
        <p:nvSpPr>
          <p:cNvPr id="38" name="TextBox 37"/>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bemerken; Wracks</a:t>
            </a:r>
          </a:p>
        </p:txBody>
      </p:sp>
      <p:sp>
        <p:nvSpPr>
          <p:cNvPr id="39" name="TextBox 38"/>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können unzugeordnete</a:t>
            </a:r>
          </a:p>
        </p:txBody>
      </p:sp>
      <p:sp>
        <p:nvSpPr>
          <p:cNvPr id="40" name="TextBox 39"/>
          <p:cNvSpPr txBox="1"/>
          <p:nvPr/>
        </p:nvSpPr>
        <p:spPr>
          <a:xfrm>
            <a:off x="925449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Echos liefern.</a:t>
            </a:r>
          </a:p>
        </p:txBody>
      </p:sp>
      <p:sp>
        <p:nvSpPr>
          <p:cNvPr id="41" name="Rectangle 40"/>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Echolaufzeit ≈ 2R/c. Bei 10 NM und c = 1500 m/s sind das rund 24,7 Sekunden.</a:t>
            </a:r>
          </a:p>
        </p:txBody>
      </p:sp>
      <p:sp>
        <p:nvSpPr>
          <p:cNvPr id="43" name="TextBox 42"/>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src/sonar/sonar.py · src/sonar/equation.py · src/world/world.py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22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TMA gewinnt Bewegung aus einer Peilungsfolge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Target Motion Analysis schätzt; sie liest keine Zielkoordinaten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Messhistorie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Zeit, rohe Peilung, Messfehler</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und eigene</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Beobachterposition; optional</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Doppler.</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Schätzer</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Grobe Kurs-/Fahrtsuche, lokale</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Verfeinerung und</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Levenberg-Marquardt-Anpassung.</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Lösung</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Geschätzte Position, Kurs,</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Fahrt, Qualität und</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Kovarianzellipse; Hysterese</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stabilisiert Neulösungen.</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Ohne ausreichende Geometrie kann es viele plausible Lösungen geben – auch bei einer langen Kontaktspur.</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src/sonar/tma.py · src/sonar/tma_lm.py · src/sonar/sonar.py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23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Was die Sonaranzeigen tatsächlich zeigen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Verschiedene Auswertungen derselben beobachteten Signalwelt</a:t>
            </a:r>
          </a:p>
        </p:txBody>
      </p:sp>
      <p:sp>
        <p:nvSpPr>
          <p:cNvPr id="7" name="TextBox 6"/>
          <p:cNvSpPr txBox="1"/>
          <p:nvPr/>
        </p:nvSpPr>
        <p:spPr>
          <a:xfrm>
            <a:off x="609600" y="1889760"/>
            <a:ext cx="2034540" cy="202692"/>
          </a:xfrm>
          <a:prstGeom prst="rect">
            <a:avLst/>
          </a:prstGeom>
          <a:noFill/>
        </p:spPr>
        <p:txBody>
          <a:bodyPr wrap="none" lIns="0" rIns="0" tIns="0" bIns="0">
            <a:spAutoFit/>
          </a:bodyPr>
          <a:lstStyle/>
          <a:p>
            <a:pPr>
              <a:defRPr sz="1140" b="1">
                <a:solidFill>
                  <a:srgbClr val="54D1BA"/>
                </a:solidFill>
                <a:latin typeface="DejaVu Sans"/>
              </a:defRPr>
            </a:pPr>
            <a:r>
              <a:t>BEREICH</a:t>
            </a:r>
          </a:p>
        </p:txBody>
      </p:sp>
      <p:sp>
        <p:nvSpPr>
          <p:cNvPr id="8" name="TextBox 7"/>
          <p:cNvSpPr txBox="1"/>
          <p:nvPr/>
        </p:nvSpPr>
        <p:spPr>
          <a:xfrm>
            <a:off x="2895600" y="1889760"/>
            <a:ext cx="3901440" cy="202692"/>
          </a:xfrm>
          <a:prstGeom prst="rect">
            <a:avLst/>
          </a:prstGeom>
          <a:noFill/>
        </p:spPr>
        <p:txBody>
          <a:bodyPr wrap="none" lIns="0" rIns="0" tIns="0" bIns="0">
            <a:spAutoFit/>
          </a:bodyPr>
          <a:lstStyle/>
          <a:p>
            <a:pPr>
              <a:defRPr sz="1140" b="1">
                <a:solidFill>
                  <a:srgbClr val="54D1BA"/>
                </a:solidFill>
                <a:latin typeface="DejaVu Sans"/>
              </a:defRPr>
            </a:pPr>
            <a:r>
              <a:t>MODELL / INHALT</a:t>
            </a:r>
          </a:p>
        </p:txBody>
      </p:sp>
      <p:sp>
        <p:nvSpPr>
          <p:cNvPr id="9" name="TextBox 8"/>
          <p:cNvSpPr txBox="1"/>
          <p:nvPr/>
        </p:nvSpPr>
        <p:spPr>
          <a:xfrm>
            <a:off x="7048500" y="1889760"/>
            <a:ext cx="4663440" cy="202692"/>
          </a:xfrm>
          <a:prstGeom prst="rect">
            <a:avLst/>
          </a:prstGeom>
          <a:noFill/>
        </p:spPr>
        <p:txBody>
          <a:bodyPr wrap="none" lIns="0" rIns="0" tIns="0" bIns="0">
            <a:spAutoFit/>
          </a:bodyPr>
          <a:lstStyle/>
          <a:p>
            <a:pPr>
              <a:defRPr sz="1140" b="1">
                <a:solidFill>
                  <a:srgbClr val="54D1BA"/>
                </a:solidFill>
                <a:latin typeface="DejaVu Sans"/>
              </a:defRPr>
            </a:pPr>
            <a:r>
              <a:t>FOLGE / VERWENDUNG</a:t>
            </a:r>
          </a:p>
        </p:txBody>
      </p:sp>
      <p:sp>
        <p:nvSpPr>
          <p:cNvPr id="10" name="Rectangle 9"/>
          <p:cNvSpPr/>
          <p:nvPr/>
        </p:nvSpPr>
        <p:spPr>
          <a:xfrm>
            <a:off x="495299" y="224790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339340"/>
            <a:ext cx="2011680" cy="245363"/>
          </a:xfrm>
          <a:prstGeom prst="rect">
            <a:avLst/>
          </a:prstGeom>
          <a:noFill/>
        </p:spPr>
        <p:txBody>
          <a:bodyPr wrap="none" lIns="0" rIns="0" tIns="0" bIns="0">
            <a:spAutoFit/>
          </a:bodyPr>
          <a:lstStyle/>
          <a:p>
            <a:pPr>
              <a:defRPr sz="1380" b="1">
                <a:solidFill>
                  <a:srgbClr val="F3F5F3"/>
                </a:solidFill>
                <a:latin typeface="DejaVu Sans"/>
              </a:defRPr>
            </a:pPr>
            <a:r>
              <a:t>Breitband</a:t>
            </a:r>
          </a:p>
        </p:txBody>
      </p:sp>
      <p:sp>
        <p:nvSpPr>
          <p:cNvPr id="12" name="TextBox 11"/>
          <p:cNvSpPr txBox="1"/>
          <p:nvPr/>
        </p:nvSpPr>
        <p:spPr>
          <a:xfrm>
            <a:off x="2895600" y="2339340"/>
            <a:ext cx="3878579" cy="245363"/>
          </a:xfrm>
          <a:prstGeom prst="rect">
            <a:avLst/>
          </a:prstGeom>
          <a:noFill/>
        </p:spPr>
        <p:txBody>
          <a:bodyPr wrap="none" lIns="0" rIns="0" tIns="0" bIns="0">
            <a:spAutoFit/>
          </a:bodyPr>
          <a:lstStyle/>
          <a:p>
            <a:pPr>
              <a:defRPr sz="1380" b="0">
                <a:solidFill>
                  <a:srgbClr val="B6C6CC"/>
                </a:solidFill>
                <a:latin typeface="DejaVu Sans"/>
              </a:defRPr>
            </a:pPr>
            <a:r>
              <a:t>Energie über Peilung und Zeit</a:t>
            </a:r>
          </a:p>
        </p:txBody>
      </p:sp>
      <p:sp>
        <p:nvSpPr>
          <p:cNvPr id="13" name="TextBox 12"/>
          <p:cNvSpPr txBox="1"/>
          <p:nvPr/>
        </p:nvSpPr>
        <p:spPr>
          <a:xfrm>
            <a:off x="7048500" y="2339340"/>
            <a:ext cx="4640580" cy="245363"/>
          </a:xfrm>
          <a:prstGeom prst="rect">
            <a:avLst/>
          </a:prstGeom>
          <a:noFill/>
        </p:spPr>
        <p:txBody>
          <a:bodyPr wrap="none" lIns="0" rIns="0" tIns="0" bIns="0">
            <a:spAutoFit/>
          </a:bodyPr>
          <a:lstStyle/>
          <a:p>
            <a:pPr>
              <a:defRPr sz="1380" b="0">
                <a:solidFill>
                  <a:srgbClr val="B6C6CC"/>
                </a:solidFill>
                <a:latin typeface="DejaVu Sans"/>
              </a:defRPr>
            </a:pPr>
            <a:r>
              <a:t>Wo treten akustische Quellen auf?</a:t>
            </a:r>
          </a:p>
        </p:txBody>
      </p:sp>
      <p:sp>
        <p:nvSpPr>
          <p:cNvPr id="14" name="Rectangle 13"/>
          <p:cNvSpPr/>
          <p:nvPr/>
        </p:nvSpPr>
        <p:spPr>
          <a:xfrm>
            <a:off x="495299" y="288036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600" y="2971800"/>
            <a:ext cx="2011680" cy="245363"/>
          </a:xfrm>
          <a:prstGeom prst="rect">
            <a:avLst/>
          </a:prstGeom>
          <a:noFill/>
        </p:spPr>
        <p:txBody>
          <a:bodyPr wrap="none" lIns="0" rIns="0" tIns="0" bIns="0">
            <a:spAutoFit/>
          </a:bodyPr>
          <a:lstStyle/>
          <a:p>
            <a:pPr>
              <a:defRPr sz="1380" b="1">
                <a:solidFill>
                  <a:srgbClr val="F3F5F3"/>
                </a:solidFill>
                <a:latin typeface="DejaVu Sans"/>
              </a:defRPr>
            </a:pPr>
            <a:r>
              <a:t>LOFAR</a:t>
            </a:r>
          </a:p>
        </p:txBody>
      </p:sp>
      <p:sp>
        <p:nvSpPr>
          <p:cNvPr id="16" name="TextBox 15"/>
          <p:cNvSpPr txBox="1"/>
          <p:nvPr/>
        </p:nvSpPr>
        <p:spPr>
          <a:xfrm>
            <a:off x="2895600" y="2971800"/>
            <a:ext cx="3878579" cy="245363"/>
          </a:xfrm>
          <a:prstGeom prst="rect">
            <a:avLst/>
          </a:prstGeom>
          <a:noFill/>
        </p:spPr>
        <p:txBody>
          <a:bodyPr wrap="none" lIns="0" rIns="0" tIns="0" bIns="0">
            <a:spAutoFit/>
          </a:bodyPr>
          <a:lstStyle/>
          <a:p>
            <a:pPr>
              <a:defRPr sz="1380" b="0">
                <a:solidFill>
                  <a:srgbClr val="B6C6CC"/>
                </a:solidFill>
                <a:latin typeface="DejaVu Sans"/>
              </a:defRPr>
            </a:pPr>
            <a:r>
              <a:t>Schmalbandlinien über Frequenz/Zeit</a:t>
            </a:r>
          </a:p>
        </p:txBody>
      </p:sp>
      <p:sp>
        <p:nvSpPr>
          <p:cNvPr id="17" name="TextBox 16"/>
          <p:cNvSpPr txBox="1"/>
          <p:nvPr/>
        </p:nvSpPr>
        <p:spPr>
          <a:xfrm>
            <a:off x="7048500" y="2971800"/>
            <a:ext cx="4640580" cy="245363"/>
          </a:xfrm>
          <a:prstGeom prst="rect">
            <a:avLst/>
          </a:prstGeom>
          <a:noFill/>
        </p:spPr>
        <p:txBody>
          <a:bodyPr wrap="none" lIns="0" rIns="0" tIns="0" bIns="0">
            <a:spAutoFit/>
          </a:bodyPr>
          <a:lstStyle/>
          <a:p>
            <a:pPr>
              <a:defRPr sz="1380" b="0">
                <a:solidFill>
                  <a:srgbClr val="B6C6CC"/>
                </a:solidFill>
                <a:latin typeface="DejaVu Sans"/>
              </a:defRPr>
            </a:pPr>
            <a:r>
              <a:t>Welche stabilen tonalen Merkmale sind hörbar?</a:t>
            </a:r>
          </a:p>
        </p:txBody>
      </p:sp>
      <p:sp>
        <p:nvSpPr>
          <p:cNvPr id="18" name="Rectangle 17"/>
          <p:cNvSpPr/>
          <p:nvPr/>
        </p:nvSpPr>
        <p:spPr>
          <a:xfrm>
            <a:off x="495299" y="351282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600" y="3604260"/>
            <a:ext cx="2011680" cy="245363"/>
          </a:xfrm>
          <a:prstGeom prst="rect">
            <a:avLst/>
          </a:prstGeom>
          <a:noFill/>
        </p:spPr>
        <p:txBody>
          <a:bodyPr wrap="none" lIns="0" rIns="0" tIns="0" bIns="0">
            <a:spAutoFit/>
          </a:bodyPr>
          <a:lstStyle/>
          <a:p>
            <a:pPr>
              <a:defRPr sz="1380" b="1">
                <a:solidFill>
                  <a:srgbClr val="F3F5F3"/>
                </a:solidFill>
                <a:latin typeface="DejaVu Sans"/>
              </a:defRPr>
            </a:pPr>
            <a:r>
              <a:t>DEMON</a:t>
            </a:r>
          </a:p>
        </p:txBody>
      </p:sp>
      <p:sp>
        <p:nvSpPr>
          <p:cNvPr id="20" name="TextBox 19"/>
          <p:cNvSpPr txBox="1"/>
          <p:nvPr/>
        </p:nvSpPr>
        <p:spPr>
          <a:xfrm>
            <a:off x="2895600" y="3604260"/>
            <a:ext cx="3878579" cy="245363"/>
          </a:xfrm>
          <a:prstGeom prst="rect">
            <a:avLst/>
          </a:prstGeom>
          <a:noFill/>
        </p:spPr>
        <p:txBody>
          <a:bodyPr wrap="none" lIns="0" rIns="0" tIns="0" bIns="0">
            <a:spAutoFit/>
          </a:bodyPr>
          <a:lstStyle/>
          <a:p>
            <a:pPr>
              <a:defRPr sz="1380" b="0">
                <a:solidFill>
                  <a:srgbClr val="B6C6CC"/>
                </a:solidFill>
                <a:latin typeface="DejaVu Sans"/>
              </a:defRPr>
            </a:pPr>
            <a:r>
              <a:t>Modulation aus der Signalhüllkurve</a:t>
            </a:r>
          </a:p>
        </p:txBody>
      </p:sp>
      <p:sp>
        <p:nvSpPr>
          <p:cNvPr id="21" name="TextBox 20"/>
          <p:cNvSpPr txBox="1"/>
          <p:nvPr/>
        </p:nvSpPr>
        <p:spPr>
          <a:xfrm>
            <a:off x="7048500" y="3604260"/>
            <a:ext cx="4640580" cy="245363"/>
          </a:xfrm>
          <a:prstGeom prst="rect">
            <a:avLst/>
          </a:prstGeom>
          <a:noFill/>
        </p:spPr>
        <p:txBody>
          <a:bodyPr wrap="none" lIns="0" rIns="0" tIns="0" bIns="0">
            <a:spAutoFit/>
          </a:bodyPr>
          <a:lstStyle/>
          <a:p>
            <a:pPr>
              <a:defRPr sz="1380" b="0">
                <a:solidFill>
                  <a:srgbClr val="B6C6CC"/>
                </a:solidFill>
                <a:latin typeface="DejaVu Sans"/>
              </a:defRPr>
            </a:pPr>
            <a:r>
              <a:t>Welche Periodizitäten und RPM-Hypothesen</a:t>
            </a:r>
          </a:p>
        </p:txBody>
      </p:sp>
      <p:sp>
        <p:nvSpPr>
          <p:cNvPr id="22" name="TextBox 21"/>
          <p:cNvSpPr txBox="1"/>
          <p:nvPr/>
        </p:nvSpPr>
        <p:spPr>
          <a:xfrm>
            <a:off x="7048500" y="3849624"/>
            <a:ext cx="4640580" cy="245363"/>
          </a:xfrm>
          <a:prstGeom prst="rect">
            <a:avLst/>
          </a:prstGeom>
          <a:noFill/>
        </p:spPr>
        <p:txBody>
          <a:bodyPr wrap="none" lIns="0" rIns="0" tIns="0" bIns="0">
            <a:spAutoFit/>
          </a:bodyPr>
          <a:lstStyle/>
          <a:p>
            <a:pPr>
              <a:defRPr sz="1380" b="0">
                <a:solidFill>
                  <a:srgbClr val="B6C6CC"/>
                </a:solidFill>
                <a:latin typeface="DejaVu Sans"/>
              </a:defRPr>
            </a:pPr>
            <a:r>
              <a:t>passen?</a:t>
            </a:r>
          </a:p>
        </p:txBody>
      </p:sp>
      <p:sp>
        <p:nvSpPr>
          <p:cNvPr id="23" name="Rectangle 22"/>
          <p:cNvSpPr/>
          <p:nvPr/>
        </p:nvSpPr>
        <p:spPr>
          <a:xfrm>
            <a:off x="495299" y="414528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600" y="4236720"/>
            <a:ext cx="2011680" cy="245363"/>
          </a:xfrm>
          <a:prstGeom prst="rect">
            <a:avLst/>
          </a:prstGeom>
          <a:noFill/>
        </p:spPr>
        <p:txBody>
          <a:bodyPr wrap="none" lIns="0" rIns="0" tIns="0" bIns="0">
            <a:spAutoFit/>
          </a:bodyPr>
          <a:lstStyle/>
          <a:p>
            <a:pPr>
              <a:defRPr sz="1380" b="1">
                <a:solidFill>
                  <a:srgbClr val="F3F5F3"/>
                </a:solidFill>
                <a:latin typeface="DejaVu Sans"/>
              </a:defRPr>
            </a:pPr>
            <a:r>
              <a:t>TMA</a:t>
            </a:r>
          </a:p>
        </p:txBody>
      </p:sp>
      <p:sp>
        <p:nvSpPr>
          <p:cNvPr id="25" name="TextBox 24"/>
          <p:cNvSpPr txBox="1"/>
          <p:nvPr/>
        </p:nvSpPr>
        <p:spPr>
          <a:xfrm>
            <a:off x="2895600" y="4236720"/>
            <a:ext cx="3878579" cy="245363"/>
          </a:xfrm>
          <a:prstGeom prst="rect">
            <a:avLst/>
          </a:prstGeom>
          <a:noFill/>
        </p:spPr>
        <p:txBody>
          <a:bodyPr wrap="none" lIns="0" rIns="0" tIns="0" bIns="0">
            <a:spAutoFit/>
          </a:bodyPr>
          <a:lstStyle/>
          <a:p>
            <a:pPr>
              <a:defRPr sz="1380" b="0">
                <a:solidFill>
                  <a:srgbClr val="B6C6CC"/>
                </a:solidFill>
                <a:latin typeface="DejaVu Sans"/>
              </a:defRPr>
            </a:pPr>
            <a:r>
              <a:t>Geometrie und geschätzte Bewegung</a:t>
            </a:r>
          </a:p>
        </p:txBody>
      </p:sp>
      <p:sp>
        <p:nvSpPr>
          <p:cNvPr id="26" name="TextBox 25"/>
          <p:cNvSpPr txBox="1"/>
          <p:nvPr/>
        </p:nvSpPr>
        <p:spPr>
          <a:xfrm>
            <a:off x="7048500" y="4236720"/>
            <a:ext cx="4640580" cy="245363"/>
          </a:xfrm>
          <a:prstGeom prst="rect">
            <a:avLst/>
          </a:prstGeom>
          <a:noFill/>
        </p:spPr>
        <p:txBody>
          <a:bodyPr wrap="none" lIns="0" rIns="0" tIns="0" bIns="0">
            <a:spAutoFit/>
          </a:bodyPr>
          <a:lstStyle/>
          <a:p>
            <a:pPr>
              <a:defRPr sz="1380" b="0">
                <a:solidFill>
                  <a:srgbClr val="B6C6CC"/>
                </a:solidFill>
                <a:latin typeface="DejaVu Sans"/>
              </a:defRPr>
            </a:pPr>
            <a:r>
              <a:t>Wo könnte der Kontakt mit welcher Unsicherheit</a:t>
            </a:r>
          </a:p>
        </p:txBody>
      </p:sp>
      <p:sp>
        <p:nvSpPr>
          <p:cNvPr id="27" name="TextBox 26"/>
          <p:cNvSpPr txBox="1"/>
          <p:nvPr/>
        </p:nvSpPr>
        <p:spPr>
          <a:xfrm>
            <a:off x="7048500" y="4482084"/>
            <a:ext cx="4640580" cy="245363"/>
          </a:xfrm>
          <a:prstGeom prst="rect">
            <a:avLst/>
          </a:prstGeom>
          <a:noFill/>
        </p:spPr>
        <p:txBody>
          <a:bodyPr wrap="none" lIns="0" rIns="0" tIns="0" bIns="0">
            <a:spAutoFit/>
          </a:bodyPr>
          <a:lstStyle/>
          <a:p>
            <a:pPr>
              <a:defRPr sz="1380" b="0">
                <a:solidFill>
                  <a:srgbClr val="B6C6CC"/>
                </a:solidFill>
                <a:latin typeface="DejaVu Sans"/>
              </a:defRPr>
            </a:pPr>
            <a:r>
              <a:t>sein?</a:t>
            </a:r>
          </a:p>
        </p:txBody>
      </p:sp>
      <p:sp>
        <p:nvSpPr>
          <p:cNvPr id="28" name="Rectangle 27"/>
          <p:cNvSpPr/>
          <p:nvPr/>
        </p:nvSpPr>
        <p:spPr>
          <a:xfrm>
            <a:off x="495299" y="477774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9600" y="4869180"/>
            <a:ext cx="2011680" cy="245363"/>
          </a:xfrm>
          <a:prstGeom prst="rect">
            <a:avLst/>
          </a:prstGeom>
          <a:noFill/>
        </p:spPr>
        <p:txBody>
          <a:bodyPr wrap="none" lIns="0" rIns="0" tIns="0" bIns="0">
            <a:spAutoFit/>
          </a:bodyPr>
          <a:lstStyle/>
          <a:p>
            <a:pPr>
              <a:defRPr sz="1380" b="1">
                <a:solidFill>
                  <a:srgbClr val="F3F5F3"/>
                </a:solidFill>
                <a:latin typeface="DejaVu Sans"/>
              </a:defRPr>
            </a:pPr>
            <a:r>
              <a:t>BT / Umwelt</a:t>
            </a:r>
          </a:p>
        </p:txBody>
      </p:sp>
      <p:sp>
        <p:nvSpPr>
          <p:cNvPr id="30" name="TextBox 29"/>
          <p:cNvSpPr txBox="1"/>
          <p:nvPr/>
        </p:nvSpPr>
        <p:spPr>
          <a:xfrm>
            <a:off x="2895600" y="4869180"/>
            <a:ext cx="3878579" cy="245363"/>
          </a:xfrm>
          <a:prstGeom prst="rect">
            <a:avLst/>
          </a:prstGeom>
          <a:noFill/>
        </p:spPr>
        <p:txBody>
          <a:bodyPr wrap="none" lIns="0" rIns="0" tIns="0" bIns="0">
            <a:spAutoFit/>
          </a:bodyPr>
          <a:lstStyle/>
          <a:p>
            <a:pPr>
              <a:defRPr sz="1380" b="0">
                <a:solidFill>
                  <a:srgbClr val="B6C6CC"/>
                </a:solidFill>
                <a:latin typeface="DejaVu Sans"/>
              </a:defRPr>
            </a:pPr>
            <a:r>
              <a:t>Gemessenes Temperatur-/Schallprofil</a:t>
            </a:r>
          </a:p>
        </p:txBody>
      </p:sp>
      <p:sp>
        <p:nvSpPr>
          <p:cNvPr id="31" name="TextBox 30"/>
          <p:cNvSpPr txBox="1"/>
          <p:nvPr/>
        </p:nvSpPr>
        <p:spPr>
          <a:xfrm>
            <a:off x="7048500" y="4869180"/>
            <a:ext cx="4640580" cy="245363"/>
          </a:xfrm>
          <a:prstGeom prst="rect">
            <a:avLst/>
          </a:prstGeom>
          <a:noFill/>
        </p:spPr>
        <p:txBody>
          <a:bodyPr wrap="none" lIns="0" rIns="0" tIns="0" bIns="0">
            <a:spAutoFit/>
          </a:bodyPr>
          <a:lstStyle/>
          <a:p>
            <a:pPr>
              <a:defRPr sz="1380" b="0">
                <a:solidFill>
                  <a:srgbClr val="B6C6CC"/>
                </a:solidFill>
                <a:latin typeface="DejaVu Sans"/>
              </a:defRPr>
            </a:pPr>
            <a:r>
              <a:t>Welche Empfangsbedingungen sind plausibel?</a:t>
            </a:r>
          </a:p>
        </p:txBody>
      </p:sp>
      <p:sp>
        <p:nvSpPr>
          <p:cNvPr id="32" name="Rectangle 31"/>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Signaturähnlichkeit ist Evidenz; Klassifikation und Zugehörigkeit bleiben eine Bedienbewertung.</a:t>
            </a:r>
          </a:p>
        </p:txBody>
      </p:sp>
      <p:sp>
        <p:nvSpPr>
          <p:cNvPr id="34" name="TextBox 33"/>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src/audio/receiver.py · src/audio/demon.py · src/sonar/sonar.py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AKUSTIK &amp; SONAR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24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Sonar als Arbeitsplatz</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Repository-Abbildung: mehrere Auswertungen unterstützen eine gemeinsame Entscheidung</a:t>
            </a:r>
          </a:p>
        </p:txBody>
      </p:sp>
      <p:pic>
        <p:nvPicPr>
          <p:cNvPr id="7" name="Picture 6" descr="de-sonar-tma.png"/>
          <p:cNvPicPr>
            <a:picLocks noChangeAspect="1"/>
          </p:cNvPicPr>
          <p:nvPr/>
        </p:nvPicPr>
        <p:blipFill>
          <a:blip r:embed="rId2"/>
          <a:stretch>
            <a:fillRect/>
          </a:stretch>
        </p:blipFill>
        <p:spPr>
          <a:xfrm>
            <a:off x="1432560" y="1813560"/>
            <a:ext cx="6659880" cy="3749039"/>
          </a:xfrm>
          <a:prstGeom prst="rect">
            <a:avLst/>
          </a:prstGeom>
        </p:spPr>
      </p:pic>
      <p:sp>
        <p:nvSpPr>
          <p:cNvPr id="8" name="Rectangle 7"/>
          <p:cNvSpPr/>
          <p:nvPr/>
        </p:nvSpPr>
        <p:spPr>
          <a:xfrm>
            <a:off x="9296400" y="1958340"/>
            <a:ext cx="2400300" cy="32537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48800" y="2156460"/>
            <a:ext cx="2186940" cy="202692"/>
          </a:xfrm>
          <a:prstGeom prst="rect">
            <a:avLst/>
          </a:prstGeom>
          <a:noFill/>
        </p:spPr>
        <p:txBody>
          <a:bodyPr wrap="none" lIns="0" rIns="0" tIns="0" bIns="0">
            <a:spAutoFit/>
          </a:bodyPr>
          <a:lstStyle/>
          <a:p>
            <a:pPr>
              <a:defRPr sz="1140" b="1">
                <a:solidFill>
                  <a:srgbClr val="54D1BA"/>
                </a:solidFill>
                <a:latin typeface="DejaVu Sans"/>
              </a:defRPr>
            </a:pPr>
            <a:r>
              <a:t>ANSICHTSBEISPIEL</a:t>
            </a:r>
          </a:p>
        </p:txBody>
      </p:sp>
      <p:sp>
        <p:nvSpPr>
          <p:cNvPr id="10" name="TextBox 9"/>
          <p:cNvSpPr txBox="1"/>
          <p:nvPr/>
        </p:nvSpPr>
        <p:spPr>
          <a:xfrm>
            <a:off x="9448800" y="2613660"/>
            <a:ext cx="2186940" cy="288036"/>
          </a:xfrm>
          <a:prstGeom prst="rect">
            <a:avLst/>
          </a:prstGeom>
          <a:noFill/>
        </p:spPr>
        <p:txBody>
          <a:bodyPr wrap="none" lIns="0" rIns="0" tIns="0" bIns="0">
            <a:spAutoFit/>
          </a:bodyPr>
          <a:lstStyle/>
          <a:p>
            <a:pPr>
              <a:defRPr sz="1620" b="0">
                <a:solidFill>
                  <a:srgbClr val="F3F5F3"/>
                </a:solidFill>
                <a:latin typeface="DejaVu Sans"/>
              </a:defRPr>
            </a:pPr>
            <a:r>
              <a:t>TMA verbindet</a:t>
            </a:r>
          </a:p>
        </p:txBody>
      </p:sp>
      <p:sp>
        <p:nvSpPr>
          <p:cNvPr id="11" name="TextBox 10"/>
          <p:cNvSpPr txBox="1"/>
          <p:nvPr/>
        </p:nvSpPr>
        <p:spPr>
          <a:xfrm>
            <a:off x="9448800" y="2901696"/>
            <a:ext cx="2186940" cy="288036"/>
          </a:xfrm>
          <a:prstGeom prst="rect">
            <a:avLst/>
          </a:prstGeom>
          <a:noFill/>
        </p:spPr>
        <p:txBody>
          <a:bodyPr wrap="none" lIns="0" rIns="0" tIns="0" bIns="0">
            <a:spAutoFit/>
          </a:bodyPr>
          <a:lstStyle/>
          <a:p>
            <a:pPr>
              <a:defRPr sz="1620" b="0">
                <a:solidFill>
                  <a:srgbClr val="F3F5F3"/>
                </a:solidFill>
                <a:latin typeface="DejaVu Sans"/>
              </a:defRPr>
            </a:pPr>
            <a:r>
              <a:t>Peilungshistorie,</a:t>
            </a:r>
          </a:p>
        </p:txBody>
      </p:sp>
      <p:sp>
        <p:nvSpPr>
          <p:cNvPr id="12" name="TextBox 11"/>
          <p:cNvSpPr txBox="1"/>
          <p:nvPr/>
        </p:nvSpPr>
        <p:spPr>
          <a:xfrm>
            <a:off x="9448800" y="3189732"/>
            <a:ext cx="2186940" cy="288036"/>
          </a:xfrm>
          <a:prstGeom prst="rect">
            <a:avLst/>
          </a:prstGeom>
          <a:noFill/>
        </p:spPr>
        <p:txBody>
          <a:bodyPr wrap="none" lIns="0" rIns="0" tIns="0" bIns="0">
            <a:spAutoFit/>
          </a:bodyPr>
          <a:lstStyle/>
          <a:p>
            <a:pPr>
              <a:defRPr sz="1620" b="0">
                <a:solidFill>
                  <a:srgbClr val="F3F5F3"/>
                </a:solidFill>
                <a:latin typeface="DejaVu Sans"/>
              </a:defRPr>
            </a:pPr>
            <a:r>
              <a:t>Eigenbewegung</a:t>
            </a:r>
          </a:p>
        </p:txBody>
      </p:sp>
      <p:sp>
        <p:nvSpPr>
          <p:cNvPr id="13" name="TextBox 12"/>
          <p:cNvSpPr txBox="1"/>
          <p:nvPr/>
        </p:nvSpPr>
        <p:spPr>
          <a:xfrm>
            <a:off x="9448800" y="3477768"/>
            <a:ext cx="2186940" cy="288036"/>
          </a:xfrm>
          <a:prstGeom prst="rect">
            <a:avLst/>
          </a:prstGeom>
          <a:noFill/>
        </p:spPr>
        <p:txBody>
          <a:bodyPr wrap="none" lIns="0" rIns="0" tIns="0" bIns="0">
            <a:spAutoFit/>
          </a:bodyPr>
          <a:lstStyle/>
          <a:p>
            <a:pPr>
              <a:defRPr sz="1620" b="0">
                <a:solidFill>
                  <a:srgbClr val="F3F5F3"/>
                </a:solidFill>
                <a:latin typeface="DejaVu Sans"/>
              </a:defRPr>
            </a:pPr>
            <a:r>
              <a:t>und Unsicherheit.</a:t>
            </a:r>
          </a:p>
        </p:txBody>
      </p:sp>
      <p:sp>
        <p:nvSpPr>
          <p:cNvPr id="14" name="Rectangle 13"/>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Anzeige ist eine Sicht auf Messungen und Schätzungen; der wahre Zielzustand bleibt im Simulationskern.</a:t>
            </a:r>
          </a:p>
        </p:txBody>
      </p:sp>
      <p:sp>
        <p:nvSpPr>
          <p:cNvPr id="16" name="TextBox 15"/>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src/ui/sonar_view.py · src/sonar/tma.py · docs/screenshots/de-sonar-tma.png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SENSOREN &amp; LAGE</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25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Radar: Reichweite, Suchstrahl und Wahrscheinlichkeit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Ein Kontakt erhält erst beim Strahldurchgang einen neuen Look</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Signalmodell</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Echo ∝ Radarquerfläche / R⁴.</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Seegang, Regen und Störung</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verringern das</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Signal-Stör-Verhältnis.</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Detektionsmodell</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Swerling-1-Fluktuation und</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CA-CFAR-Näherung liefern eine</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Detektionswahrscheinlichkeit.</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Zeit &amp; Geometrie</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Antenne dreht mit 90°/s;</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Abschattung und</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Radarhorizont begrenzen</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relevante Ziele.</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 deterministischer Zufallsentscheid pro Look macht Detektion reproduzierbar, aber nicht garantiert.</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src/sensors/radar.py · src/core/game.py · src/core/detrand.py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SENSOREN &amp; LAGE</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26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ESM beobachtet Emissionen, ECM verändert Suchköpfe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Passive Aufklärung und aktive Störung haben unterschiedliche Rollen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ESM / ELOKA</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Misst Peilung, Frequenz,</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Puls-/Scanmerkmale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Pegel; vergleicht Signale mit</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Emittentenkandidaten.</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Betriebszustand</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Rotierende Sender erzeugen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zeitliche Auffassungen; Tracks</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können live, gehalten oder</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veraltet sein.</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ECM</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Frische Signale und begrenzte</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Kanäle steuern modellierte</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Rausch- und Täuschverfahren</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gegen Suchköpfe.</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Eine ESM-Reichweitenschätzung hängt von Annahmen über die Senderleistung ab und ist kein Radarfix.</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src/sensors/esm.py · src/core/game.py · src/air/asm.py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SENSOREN &amp; LAGE</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27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AIS, Ausguck und HFDF ergänzen sich</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Jeder Sensor beantwortet andere Fragen und hat eigene Grenzen</a:t>
            </a:r>
          </a:p>
        </p:txBody>
      </p:sp>
      <p:sp>
        <p:nvSpPr>
          <p:cNvPr id="7" name="TextBox 6"/>
          <p:cNvSpPr txBox="1"/>
          <p:nvPr/>
        </p:nvSpPr>
        <p:spPr>
          <a:xfrm>
            <a:off x="609600" y="1889760"/>
            <a:ext cx="2034540" cy="202692"/>
          </a:xfrm>
          <a:prstGeom prst="rect">
            <a:avLst/>
          </a:prstGeom>
          <a:noFill/>
        </p:spPr>
        <p:txBody>
          <a:bodyPr wrap="none" lIns="0" rIns="0" tIns="0" bIns="0">
            <a:spAutoFit/>
          </a:bodyPr>
          <a:lstStyle/>
          <a:p>
            <a:pPr>
              <a:defRPr sz="1140" b="1">
                <a:solidFill>
                  <a:srgbClr val="54D1BA"/>
                </a:solidFill>
                <a:latin typeface="DejaVu Sans"/>
              </a:defRPr>
            </a:pPr>
            <a:r>
              <a:t>BEREICH</a:t>
            </a:r>
          </a:p>
        </p:txBody>
      </p:sp>
      <p:sp>
        <p:nvSpPr>
          <p:cNvPr id="8" name="TextBox 7"/>
          <p:cNvSpPr txBox="1"/>
          <p:nvPr/>
        </p:nvSpPr>
        <p:spPr>
          <a:xfrm>
            <a:off x="2895600" y="1889760"/>
            <a:ext cx="3901440" cy="202692"/>
          </a:xfrm>
          <a:prstGeom prst="rect">
            <a:avLst/>
          </a:prstGeom>
          <a:noFill/>
        </p:spPr>
        <p:txBody>
          <a:bodyPr wrap="none" lIns="0" rIns="0" tIns="0" bIns="0">
            <a:spAutoFit/>
          </a:bodyPr>
          <a:lstStyle/>
          <a:p>
            <a:pPr>
              <a:defRPr sz="1140" b="1">
                <a:solidFill>
                  <a:srgbClr val="54D1BA"/>
                </a:solidFill>
                <a:latin typeface="DejaVu Sans"/>
              </a:defRPr>
            </a:pPr>
            <a:r>
              <a:t>MODELL / INHALT</a:t>
            </a:r>
          </a:p>
        </p:txBody>
      </p:sp>
      <p:sp>
        <p:nvSpPr>
          <p:cNvPr id="9" name="TextBox 8"/>
          <p:cNvSpPr txBox="1"/>
          <p:nvPr/>
        </p:nvSpPr>
        <p:spPr>
          <a:xfrm>
            <a:off x="7048500" y="1889760"/>
            <a:ext cx="4663440" cy="202692"/>
          </a:xfrm>
          <a:prstGeom prst="rect">
            <a:avLst/>
          </a:prstGeom>
          <a:noFill/>
        </p:spPr>
        <p:txBody>
          <a:bodyPr wrap="none" lIns="0" rIns="0" tIns="0" bIns="0">
            <a:spAutoFit/>
          </a:bodyPr>
          <a:lstStyle/>
          <a:p>
            <a:pPr>
              <a:defRPr sz="1140" b="1">
                <a:solidFill>
                  <a:srgbClr val="54D1BA"/>
                </a:solidFill>
                <a:latin typeface="DejaVu Sans"/>
              </a:defRPr>
            </a:pPr>
            <a:r>
              <a:t>FOLGE / VERWENDUNG</a:t>
            </a:r>
          </a:p>
        </p:txBody>
      </p:sp>
      <p:sp>
        <p:nvSpPr>
          <p:cNvPr id="10" name="Rectangle 9"/>
          <p:cNvSpPr/>
          <p:nvPr/>
        </p:nvSpPr>
        <p:spPr>
          <a:xfrm>
            <a:off x="495299" y="2247900"/>
            <a:ext cx="11201400" cy="7162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339340"/>
            <a:ext cx="2011680" cy="245363"/>
          </a:xfrm>
          <a:prstGeom prst="rect">
            <a:avLst/>
          </a:prstGeom>
          <a:noFill/>
        </p:spPr>
        <p:txBody>
          <a:bodyPr wrap="none" lIns="0" rIns="0" tIns="0" bIns="0">
            <a:spAutoFit/>
          </a:bodyPr>
          <a:lstStyle/>
          <a:p>
            <a:pPr>
              <a:defRPr sz="1380" b="1">
                <a:solidFill>
                  <a:srgbClr val="F3F5F3"/>
                </a:solidFill>
                <a:latin typeface="DejaVu Sans"/>
              </a:defRPr>
            </a:pPr>
            <a:r>
              <a:t>AIS</a:t>
            </a:r>
          </a:p>
        </p:txBody>
      </p:sp>
      <p:sp>
        <p:nvSpPr>
          <p:cNvPr id="12" name="TextBox 11"/>
          <p:cNvSpPr txBox="1"/>
          <p:nvPr/>
        </p:nvSpPr>
        <p:spPr>
          <a:xfrm>
            <a:off x="2895600" y="2339340"/>
            <a:ext cx="3878579" cy="245363"/>
          </a:xfrm>
          <a:prstGeom prst="rect">
            <a:avLst/>
          </a:prstGeom>
          <a:noFill/>
        </p:spPr>
        <p:txBody>
          <a:bodyPr wrap="none" lIns="0" rIns="0" tIns="0" bIns="0">
            <a:spAutoFit/>
          </a:bodyPr>
          <a:lstStyle/>
          <a:p>
            <a:pPr>
              <a:defRPr sz="1380" b="0">
                <a:solidFill>
                  <a:srgbClr val="B6C6CC"/>
                </a:solidFill>
                <a:latin typeface="DejaVu Sans"/>
              </a:defRPr>
            </a:pPr>
            <a:r>
              <a:t>Empfangene dynamische und statische</a:t>
            </a:r>
          </a:p>
        </p:txBody>
      </p:sp>
      <p:sp>
        <p:nvSpPr>
          <p:cNvPr id="13" name="TextBox 12"/>
          <p:cNvSpPr txBox="1"/>
          <p:nvPr/>
        </p:nvSpPr>
        <p:spPr>
          <a:xfrm>
            <a:off x="2895600" y="2584704"/>
            <a:ext cx="3878579" cy="245363"/>
          </a:xfrm>
          <a:prstGeom prst="rect">
            <a:avLst/>
          </a:prstGeom>
          <a:noFill/>
        </p:spPr>
        <p:txBody>
          <a:bodyPr wrap="none" lIns="0" rIns="0" tIns="0" bIns="0">
            <a:spAutoFit/>
          </a:bodyPr>
          <a:lstStyle/>
          <a:p>
            <a:pPr>
              <a:defRPr sz="1380" b="0">
                <a:solidFill>
                  <a:srgbClr val="B6C6CC"/>
                </a:solidFill>
                <a:latin typeface="DejaVu Sans"/>
              </a:defRPr>
            </a:pPr>
            <a:r>
              <a:t>Meldungen</a:t>
            </a:r>
          </a:p>
        </p:txBody>
      </p:sp>
      <p:sp>
        <p:nvSpPr>
          <p:cNvPr id="14" name="TextBox 13"/>
          <p:cNvSpPr txBox="1"/>
          <p:nvPr/>
        </p:nvSpPr>
        <p:spPr>
          <a:xfrm>
            <a:off x="7048500" y="2339340"/>
            <a:ext cx="4640580" cy="245363"/>
          </a:xfrm>
          <a:prstGeom prst="rect">
            <a:avLst/>
          </a:prstGeom>
          <a:noFill/>
        </p:spPr>
        <p:txBody>
          <a:bodyPr wrap="none" lIns="0" rIns="0" tIns="0" bIns="0">
            <a:spAutoFit/>
          </a:bodyPr>
          <a:lstStyle/>
          <a:p>
            <a:pPr>
              <a:defRPr sz="1380" b="0">
                <a:solidFill>
                  <a:srgbClr val="B6C6CC"/>
                </a:solidFill>
                <a:latin typeface="DejaVu Sans"/>
              </a:defRPr>
            </a:pPr>
            <a:r>
              <a:t>VHF-Sichtlinie, Meldeintervall, Gelände</a:t>
            </a:r>
          </a:p>
        </p:txBody>
      </p:sp>
      <p:sp>
        <p:nvSpPr>
          <p:cNvPr id="15" name="Rectangle 14"/>
          <p:cNvSpPr/>
          <p:nvPr/>
        </p:nvSpPr>
        <p:spPr>
          <a:xfrm>
            <a:off x="495299" y="3017520"/>
            <a:ext cx="11201400" cy="7162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600" y="3108960"/>
            <a:ext cx="2011680" cy="245363"/>
          </a:xfrm>
          <a:prstGeom prst="rect">
            <a:avLst/>
          </a:prstGeom>
          <a:noFill/>
        </p:spPr>
        <p:txBody>
          <a:bodyPr wrap="none" lIns="0" rIns="0" tIns="0" bIns="0">
            <a:spAutoFit/>
          </a:bodyPr>
          <a:lstStyle/>
          <a:p>
            <a:pPr>
              <a:defRPr sz="1380" b="1">
                <a:solidFill>
                  <a:srgbClr val="F3F5F3"/>
                </a:solidFill>
                <a:latin typeface="DejaVu Sans"/>
              </a:defRPr>
            </a:pPr>
            <a:r>
              <a:t>Ausguck</a:t>
            </a:r>
          </a:p>
        </p:txBody>
      </p:sp>
      <p:sp>
        <p:nvSpPr>
          <p:cNvPr id="17" name="TextBox 16"/>
          <p:cNvSpPr txBox="1"/>
          <p:nvPr/>
        </p:nvSpPr>
        <p:spPr>
          <a:xfrm>
            <a:off x="2895600" y="3108960"/>
            <a:ext cx="3878579" cy="245363"/>
          </a:xfrm>
          <a:prstGeom prst="rect">
            <a:avLst/>
          </a:prstGeom>
          <a:noFill/>
        </p:spPr>
        <p:txBody>
          <a:bodyPr wrap="none" lIns="0" rIns="0" tIns="0" bIns="0">
            <a:spAutoFit/>
          </a:bodyPr>
          <a:lstStyle/>
          <a:p>
            <a:pPr>
              <a:defRPr sz="1380" b="0">
                <a:solidFill>
                  <a:srgbClr val="B6C6CC"/>
                </a:solidFill>
                <a:latin typeface="DejaVu Sans"/>
              </a:defRPr>
            </a:pPr>
            <a:r>
              <a:t>Sichtkontakt und begrenzte beobachtete</a:t>
            </a:r>
          </a:p>
        </p:txBody>
      </p:sp>
      <p:sp>
        <p:nvSpPr>
          <p:cNvPr id="18" name="TextBox 17"/>
          <p:cNvSpPr txBox="1"/>
          <p:nvPr/>
        </p:nvSpPr>
        <p:spPr>
          <a:xfrm>
            <a:off x="2895600" y="3354324"/>
            <a:ext cx="3878579" cy="245363"/>
          </a:xfrm>
          <a:prstGeom prst="rect">
            <a:avLst/>
          </a:prstGeom>
          <a:noFill/>
        </p:spPr>
        <p:txBody>
          <a:bodyPr wrap="none" lIns="0" rIns="0" tIns="0" bIns="0">
            <a:spAutoFit/>
          </a:bodyPr>
          <a:lstStyle/>
          <a:p>
            <a:pPr>
              <a:defRPr sz="1380" b="0">
                <a:solidFill>
                  <a:srgbClr val="B6C6CC"/>
                </a:solidFill>
                <a:latin typeface="DejaVu Sans"/>
              </a:defRPr>
            </a:pPr>
            <a:r>
              <a:t>Merkmale</a:t>
            </a:r>
          </a:p>
        </p:txBody>
      </p:sp>
      <p:sp>
        <p:nvSpPr>
          <p:cNvPr id="19" name="TextBox 18"/>
          <p:cNvSpPr txBox="1"/>
          <p:nvPr/>
        </p:nvSpPr>
        <p:spPr>
          <a:xfrm>
            <a:off x="7048500" y="3108960"/>
            <a:ext cx="4640580" cy="245363"/>
          </a:xfrm>
          <a:prstGeom prst="rect">
            <a:avLst/>
          </a:prstGeom>
          <a:noFill/>
        </p:spPr>
        <p:txBody>
          <a:bodyPr wrap="none" lIns="0" rIns="0" tIns="0" bIns="0">
            <a:spAutoFit/>
          </a:bodyPr>
          <a:lstStyle/>
          <a:p>
            <a:pPr>
              <a:defRPr sz="1380" b="0">
                <a:solidFill>
                  <a:srgbClr val="B6C6CC"/>
                </a:solidFill>
                <a:latin typeface="DejaVu Sans"/>
              </a:defRPr>
            </a:pPr>
            <a:r>
              <a:t>Kontrast, Zielgröße, Horizont, Sicht und Mondlicht</a:t>
            </a:r>
          </a:p>
        </p:txBody>
      </p:sp>
      <p:sp>
        <p:nvSpPr>
          <p:cNvPr id="20" name="Rectangle 19"/>
          <p:cNvSpPr/>
          <p:nvPr/>
        </p:nvSpPr>
        <p:spPr>
          <a:xfrm>
            <a:off x="495299" y="3787140"/>
            <a:ext cx="11201400" cy="7162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600" y="3878579"/>
            <a:ext cx="2011680" cy="245363"/>
          </a:xfrm>
          <a:prstGeom prst="rect">
            <a:avLst/>
          </a:prstGeom>
          <a:noFill/>
        </p:spPr>
        <p:txBody>
          <a:bodyPr wrap="none" lIns="0" rIns="0" tIns="0" bIns="0">
            <a:spAutoFit/>
          </a:bodyPr>
          <a:lstStyle/>
          <a:p>
            <a:pPr>
              <a:defRPr sz="1380" b="1">
                <a:solidFill>
                  <a:srgbClr val="F3F5F3"/>
                </a:solidFill>
                <a:latin typeface="DejaVu Sans"/>
              </a:defRPr>
            </a:pPr>
            <a:r>
              <a:t>HFDF</a:t>
            </a:r>
          </a:p>
        </p:txBody>
      </p:sp>
      <p:sp>
        <p:nvSpPr>
          <p:cNvPr id="22" name="TextBox 21"/>
          <p:cNvSpPr txBox="1"/>
          <p:nvPr/>
        </p:nvSpPr>
        <p:spPr>
          <a:xfrm>
            <a:off x="2895600" y="3878579"/>
            <a:ext cx="3878579" cy="245363"/>
          </a:xfrm>
          <a:prstGeom prst="rect">
            <a:avLst/>
          </a:prstGeom>
          <a:noFill/>
        </p:spPr>
        <p:txBody>
          <a:bodyPr wrap="none" lIns="0" rIns="0" tIns="0" bIns="0">
            <a:spAutoFit/>
          </a:bodyPr>
          <a:lstStyle/>
          <a:p>
            <a:pPr>
              <a:defRPr sz="1380" b="0">
                <a:solidFill>
                  <a:srgbClr val="B6C6CC"/>
                </a:solidFill>
                <a:latin typeface="DejaVu Sans"/>
              </a:defRPr>
            </a:pPr>
            <a:r>
              <a:t>Peilung eines Funkereignisses plus</a:t>
            </a:r>
          </a:p>
        </p:txBody>
      </p:sp>
      <p:sp>
        <p:nvSpPr>
          <p:cNvPr id="23" name="TextBox 22"/>
          <p:cNvSpPr txBox="1"/>
          <p:nvPr/>
        </p:nvSpPr>
        <p:spPr>
          <a:xfrm>
            <a:off x="2895600" y="4123944"/>
            <a:ext cx="3878579" cy="245363"/>
          </a:xfrm>
          <a:prstGeom prst="rect">
            <a:avLst/>
          </a:prstGeom>
          <a:noFill/>
        </p:spPr>
        <p:txBody>
          <a:bodyPr wrap="none" lIns="0" rIns="0" tIns="0" bIns="0">
            <a:spAutoFit/>
          </a:bodyPr>
          <a:lstStyle/>
          <a:p>
            <a:pPr>
              <a:defRPr sz="1380" b="0">
                <a:solidFill>
                  <a:srgbClr val="B6C6CC"/>
                </a:solidFill>
                <a:latin typeface="DejaVu Sans"/>
              </a:defRPr>
            </a:pPr>
            <a:r>
              <a:t>Frequenz</a:t>
            </a:r>
          </a:p>
        </p:txBody>
      </p:sp>
      <p:sp>
        <p:nvSpPr>
          <p:cNvPr id="24" name="TextBox 23"/>
          <p:cNvSpPr txBox="1"/>
          <p:nvPr/>
        </p:nvSpPr>
        <p:spPr>
          <a:xfrm>
            <a:off x="7048500" y="3878579"/>
            <a:ext cx="4640580" cy="245363"/>
          </a:xfrm>
          <a:prstGeom prst="rect">
            <a:avLst/>
          </a:prstGeom>
          <a:noFill/>
        </p:spPr>
        <p:txBody>
          <a:bodyPr wrap="none" lIns="0" rIns="0" tIns="0" bIns="0">
            <a:spAutoFit/>
          </a:bodyPr>
          <a:lstStyle/>
          <a:p>
            <a:pPr>
              <a:defRPr sz="1380" b="0">
                <a:solidFill>
                  <a:srgbClr val="B6C6CC"/>
                </a:solidFill>
                <a:latin typeface="DejaVu Sans"/>
              </a:defRPr>
            </a:pPr>
            <a:r>
              <a:t>Boden-/Raumwelle, Sprungzone, Tag/Nacht</a:t>
            </a:r>
          </a:p>
        </p:txBody>
      </p:sp>
      <p:sp>
        <p:nvSpPr>
          <p:cNvPr id="25" name="Rectangle 24"/>
          <p:cNvSpPr/>
          <p:nvPr/>
        </p:nvSpPr>
        <p:spPr>
          <a:xfrm>
            <a:off x="495299" y="4556760"/>
            <a:ext cx="11201400" cy="71628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600" y="4648200"/>
            <a:ext cx="2011680" cy="245363"/>
          </a:xfrm>
          <a:prstGeom prst="rect">
            <a:avLst/>
          </a:prstGeom>
          <a:noFill/>
        </p:spPr>
        <p:txBody>
          <a:bodyPr wrap="none" lIns="0" rIns="0" tIns="0" bIns="0">
            <a:spAutoFit/>
          </a:bodyPr>
          <a:lstStyle/>
          <a:p>
            <a:pPr>
              <a:defRPr sz="1380" b="1">
                <a:solidFill>
                  <a:srgbClr val="F3F5F3"/>
                </a:solidFill>
                <a:latin typeface="DejaVu Sans"/>
              </a:defRPr>
            </a:pPr>
            <a:r>
              <a:t>Funk / HQ</a:t>
            </a:r>
          </a:p>
        </p:txBody>
      </p:sp>
      <p:sp>
        <p:nvSpPr>
          <p:cNvPr id="27" name="TextBox 26"/>
          <p:cNvSpPr txBox="1"/>
          <p:nvPr/>
        </p:nvSpPr>
        <p:spPr>
          <a:xfrm>
            <a:off x="2895600" y="4648200"/>
            <a:ext cx="3878579" cy="245363"/>
          </a:xfrm>
          <a:prstGeom prst="rect">
            <a:avLst/>
          </a:prstGeom>
          <a:noFill/>
        </p:spPr>
        <p:txBody>
          <a:bodyPr wrap="none" lIns="0" rIns="0" tIns="0" bIns="0">
            <a:spAutoFit/>
          </a:bodyPr>
          <a:lstStyle/>
          <a:p>
            <a:pPr>
              <a:defRPr sz="1380" b="0">
                <a:solidFill>
                  <a:srgbClr val="B6C6CC"/>
                </a:solidFill>
                <a:latin typeface="DejaVu Sans"/>
              </a:defRPr>
            </a:pPr>
            <a:r>
              <a:t>Meldungen und grobe</a:t>
            </a:r>
          </a:p>
        </p:txBody>
      </p:sp>
      <p:sp>
        <p:nvSpPr>
          <p:cNvPr id="28" name="TextBox 27"/>
          <p:cNvSpPr txBox="1"/>
          <p:nvPr/>
        </p:nvSpPr>
        <p:spPr>
          <a:xfrm>
            <a:off x="2895600" y="4893564"/>
            <a:ext cx="3878579" cy="245363"/>
          </a:xfrm>
          <a:prstGeom prst="rect">
            <a:avLst/>
          </a:prstGeom>
          <a:noFill/>
        </p:spPr>
        <p:txBody>
          <a:bodyPr wrap="none" lIns="0" rIns="0" tIns="0" bIns="0">
            <a:spAutoFit/>
          </a:bodyPr>
          <a:lstStyle/>
          <a:p>
            <a:pPr>
              <a:defRPr sz="1380" b="0">
                <a:solidFill>
                  <a:srgbClr val="B6C6CC"/>
                </a:solidFill>
                <a:latin typeface="DejaVu Sans"/>
              </a:defRPr>
            </a:pPr>
            <a:r>
              <a:t>Aufklärungshinweise</a:t>
            </a:r>
          </a:p>
        </p:txBody>
      </p:sp>
      <p:sp>
        <p:nvSpPr>
          <p:cNvPr id="29" name="TextBox 28"/>
          <p:cNvSpPr txBox="1"/>
          <p:nvPr/>
        </p:nvSpPr>
        <p:spPr>
          <a:xfrm>
            <a:off x="7048500" y="4648200"/>
            <a:ext cx="4640580" cy="245363"/>
          </a:xfrm>
          <a:prstGeom prst="rect">
            <a:avLst/>
          </a:prstGeom>
          <a:noFill/>
        </p:spPr>
        <p:txBody>
          <a:bodyPr wrap="none" lIns="0" rIns="0" tIns="0" bIns="0">
            <a:spAutoFit/>
          </a:bodyPr>
          <a:lstStyle/>
          <a:p>
            <a:pPr>
              <a:defRPr sz="1380" b="0">
                <a:solidFill>
                  <a:srgbClr val="B6C6CC"/>
                </a:solidFill>
                <a:latin typeface="DejaVu Sans"/>
              </a:defRPr>
            </a:pPr>
            <a:r>
              <a:t>Ein Hinweis ist kein frischer Sensorfix</a:t>
            </a:r>
          </a:p>
        </p:txBody>
      </p:sp>
      <p:sp>
        <p:nvSpPr>
          <p:cNvPr id="30" name="Rectangle 2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 AIS-Name, eine Funkpeilung und ein Radarpunkt sind unterschiedliche Informationsprodukte.</a:t>
            </a:r>
          </a:p>
        </p:txBody>
      </p:sp>
      <p:sp>
        <p:nvSpPr>
          <p:cNvPr id="32" name="TextBox 3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src/sensors/ais.py · src/sensors/visual.py · src/sensors/hfdf.py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SENSOREN &amp; LAGE</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28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Ein Track altert – auch wenn sein Symbol stehen bleibt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Messzeit, Positionszeit und Darstellungsfilter sind getrennt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Rohmessung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Peilung, Entfernung und</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Messzeit werden als begrenzte</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Historie aufbewahrt.</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Darstellung</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Glättung und Bewegungsfit</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beruhigen die Anzeige; sie</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erzeugen keine neue Messung.</a:t>
            </a:r>
          </a:p>
        </p:txBody>
      </p:sp>
      <p:sp>
        <p:nvSpPr>
          <p:cNvPr id="19" name="Rectangle 18"/>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Gültigkeit</a:t>
            </a:r>
          </a:p>
        </p:txBody>
      </p:sp>
      <p:sp>
        <p:nvSpPr>
          <p:cNvPr id="22" name="TextBox 21"/>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Quelle, Alter, Qualität und</a:t>
            </a:r>
          </a:p>
        </p:txBody>
      </p:sp>
      <p:sp>
        <p:nvSpPr>
          <p:cNvPr id="23" name="TextBox 22"/>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Positionsfrische entscheiden</a:t>
            </a:r>
          </a:p>
        </p:txBody>
      </p:sp>
      <p:sp>
        <p:nvSpPr>
          <p:cNvPr id="24" name="TextBox 23"/>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über Anzeige und</a:t>
            </a:r>
          </a:p>
        </p:txBody>
      </p:sp>
      <p:sp>
        <p:nvSpPr>
          <p:cNvPr id="25" name="TextBox 24"/>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Waffenverwendung.</a:t>
            </a:r>
          </a:p>
        </p:txBody>
      </p:sp>
      <p:sp>
        <p:nvSpPr>
          <p:cNvPr id="26" name="Rectangle 25"/>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Eine geglättete Position darf eine alte Waffenlösung nicht künstlich verjüngen.</a:t>
            </a:r>
          </a:p>
        </p:txBody>
      </p:sp>
      <p:sp>
        <p:nvSpPr>
          <p:cNvPr id="28" name="TextBox 27"/>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src/sensors/tracks.py · src/ui/observations.py · src/sonar/sonar.py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SENSOREN &amp; LAGE</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29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OPZ-Fusion ist eine bewusste Zuordnung</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Der Bediener verbindet Beobachtungen; die Quellen bleiben erhalten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Auswählen</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Beobachtungen markieren und</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als zusammengehörig</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bewerten.</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Zusammenfassen</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Vorhandene Positionen werden</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nach Qualität gewichtet;</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Peilungen zirkulär gemittelt.</a:t>
            </a:r>
          </a:p>
        </p:txBody>
      </p:sp>
      <p:sp>
        <p:nvSpPr>
          <p:cNvPr id="19" name="Rectangle 18"/>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Annotieren</a:t>
            </a:r>
          </a:p>
        </p:txBody>
      </p:sp>
      <p:sp>
        <p:nvSpPr>
          <p:cNvPr id="22" name="TextBox 21"/>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Klasse und Zugehörigkeit</a:t>
            </a:r>
          </a:p>
        </p:txBody>
      </p:sp>
      <p:sp>
        <p:nvSpPr>
          <p:cNvPr id="23" name="TextBox 22"/>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setzen; falsche Verknüpfungen</a:t>
            </a:r>
          </a:p>
        </p:txBody>
      </p:sp>
      <p:sp>
        <p:nvSpPr>
          <p:cNvPr id="24" name="TextBox 23"/>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wieder lösen.</a:t>
            </a:r>
          </a:p>
        </p:txBody>
      </p:sp>
      <p:sp>
        <p:nvSpPr>
          <p:cNvPr id="25" name="Rectangle 24"/>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Nur Peilungen zu fusionieren erzeugt hier nicht automatisch eine triangulierte Entfernung.</a:t>
            </a:r>
          </a:p>
        </p:txBody>
      </p:sp>
      <p:sp>
        <p:nvSpPr>
          <p:cNvPr id="27" name="TextBox 26"/>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src/sensors/fusion.py · src/core/game.py · tests/test_opz_fusion.py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GEGNER &amp; VERKEHR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30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Auch NPCs haben ein eigenes Lagebild</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Wahrnehmen, erinnern, entscheiden, handeln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Sensoren</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PlatformSensorSuite prüft</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profilierte Sensoren,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Betriebszustände, Schäden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und Gegenkandidaten.</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Gedächtnis</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Abgetrennte Beobachtungen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und alternde Erinnerungen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bestimmen die taktische</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Grundlage.</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Verhalten</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Zustandslogik wählt Patrouille,</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Ausweichen, Lauern, Angriff</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oder</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Rückkehr-/Auftauchphasen.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Der normale NPC-Pfad nutzt Beobachtungen; einzelne Legacy-/Kompatibilitätspfade bleiben gesondert vorhanden.</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src/sensors/platform.py · src/enemies/sub.py · src/enemies/surface.py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GEGNER &amp; VERKEHR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31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U-Boot-Energie erzwingt taktische Phasen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Batterie, AIP und Schnorcheln beeinflussen Ortbarkeit und Bewegung</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Getaucht</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Bordlast + fahrtabhängiger</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Antriebsbedarf entnehmen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Energie; verfügbare Leistung</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begrenzt Fahrt.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Reserve erreicht</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AIP unterstützt, sofern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vorhanden; sonst Aufstieg zur</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Schnorcheltiefe.</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Exponierte Phase</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Schnorcheln lädt; eine</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Funkphase kann folgen;</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anschließend Rückkehr zur</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Tauchtiefe.</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Energielage erzeugt Situationen für Radar, ESM, HFDF und akustische Aufklärung.</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src/enemies/endurance.py · src/enemies/sub.py · src/physics/submarine.py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GEGNER &amp; VERKEHR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32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Oberfläche, Tiere und Luftverkehr formen die Lage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Nicht jedes hörbare oder sichtbare Objekt ist ein Angriffsziel</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Überwasserschiffe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Zivile Routen und</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Kampfschiffverhalten;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Bewegung, Emissionen,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Sensoren und gegebenenfalls</a:t>
            </a:r>
          </a:p>
        </p:txBody>
      </p:sp>
      <p:sp>
        <p:nvSpPr>
          <p:cNvPr id="14" name="TextBox 13"/>
          <p:cNvSpPr txBox="1"/>
          <p:nvPr/>
        </p:nvSpPr>
        <p:spPr>
          <a:xfrm>
            <a:off x="68580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Waffen.</a:t>
            </a:r>
          </a:p>
        </p:txBody>
      </p:sp>
      <p:sp>
        <p:nvSpPr>
          <p:cNvPr id="15" name="Rectangle 14"/>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Biologische Quellen</a:t>
            </a:r>
          </a:p>
        </p:txBody>
      </p:sp>
      <p:sp>
        <p:nvSpPr>
          <p:cNvPr id="18" name="TextBox 17"/>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Eigene Bewegung und</a:t>
            </a:r>
          </a:p>
        </p:txBody>
      </p:sp>
      <p:sp>
        <p:nvSpPr>
          <p:cNvPr id="19" name="TextBox 18"/>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akustische Signaturen</a:t>
            </a:r>
          </a:p>
        </p:txBody>
      </p:sp>
      <p:sp>
        <p:nvSpPr>
          <p:cNvPr id="20" name="TextBox 19"/>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erzeugen Kontakte ohne</a:t>
            </a:r>
          </a:p>
        </p:txBody>
      </p:sp>
      <p:sp>
        <p:nvSpPr>
          <p:cNvPr id="21" name="TextBox 20"/>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militärischen Zielwert.</a:t>
            </a:r>
          </a:p>
        </p:txBody>
      </p:sp>
      <p:sp>
        <p:nvSpPr>
          <p:cNvPr id="22" name="Rectangle 21"/>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Luftverkehr</a:t>
            </a:r>
          </a:p>
        </p:txBody>
      </p:sp>
      <p:sp>
        <p:nvSpPr>
          <p:cNvPr id="25" name="TextBox 24"/>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Transitflüge, gesonderte</a:t>
            </a:r>
          </a:p>
        </p:txBody>
      </p:sp>
      <p:sp>
        <p:nvSpPr>
          <p:cNvPr id="26" name="TextBox 25"/>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Angreifer und optional</a:t>
            </a:r>
          </a:p>
        </p:txBody>
      </p:sp>
      <p:sp>
        <p:nvSpPr>
          <p:cNvPr id="27" name="TextBox 26"/>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Live-Flugzeuge besitzen</a:t>
            </a:r>
          </a:p>
        </p:txBody>
      </p:sp>
      <p:sp>
        <p:nvSpPr>
          <p:cNvPr id="28" name="TextBox 27"/>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unterschiedliche Modelle.</a:t>
            </a:r>
          </a:p>
        </p:txBody>
      </p:sp>
      <p:sp>
        <p:nvSpPr>
          <p:cNvPr id="29" name="Rectangle 2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Dichte Lage erhöht Klassifikationsaufwand, akustischen Hintergrund und das Risiko einer Fehlbekämpfung.</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src/enemies/surface.py · src/enemies/animal.py · src/air/flights.py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WAFFEN &amp; WIRKUNG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33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Waffenfreigabe ist eine Kette von Bedingungen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Ein ausgewähltes Symbol allein genügt nicht</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Lage</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Kontakt/Track</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vorhanden, passende</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Domäne, ausreichend</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frische Beobachtung</a:t>
            </a:r>
          </a:p>
        </p:txBody>
      </p:sp>
      <p:sp>
        <p:nvSpPr>
          <p:cNvPr id="14" name="TextBox 13"/>
          <p:cNvSpPr txBox="1"/>
          <p:nvPr/>
        </p:nvSpPr>
        <p:spPr>
          <a:xfrm>
            <a:off x="67056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oder Lösung.</a:t>
            </a:r>
          </a:p>
        </p:txBody>
      </p:sp>
      <p:sp>
        <p:nvSpPr>
          <p:cNvPr id="15" name="TextBox 14"/>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6" name="Rectangle 15"/>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8" name="TextBox 17"/>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Einsatzregel</a:t>
            </a:r>
          </a:p>
        </p:txBody>
      </p:sp>
      <p:sp>
        <p:nvSpPr>
          <p:cNvPr id="19" name="TextBox 18"/>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Bedienentscheidung</a:t>
            </a:r>
          </a:p>
        </p:txBody>
      </p:sp>
      <p:sp>
        <p:nvSpPr>
          <p:cNvPr id="20" name="TextBox 19"/>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und ROE; bei Remote</a:t>
            </a:r>
          </a:p>
        </p:txBody>
      </p:sp>
      <p:sp>
        <p:nvSpPr>
          <p:cNvPr id="21" name="TextBox 20"/>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Crew zusätzlich</a:t>
            </a:r>
          </a:p>
        </p:txBody>
      </p:sp>
      <p:sp>
        <p:nvSpPr>
          <p:cNvPr id="22" name="TextBox 21"/>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Stationsrecht und</a:t>
            </a:r>
          </a:p>
        </p:txBody>
      </p:sp>
      <p:sp>
        <p:nvSpPr>
          <p:cNvPr id="23" name="TextBox 22"/>
          <p:cNvSpPr txBox="1"/>
          <p:nvPr/>
        </p:nvSpPr>
        <p:spPr>
          <a:xfrm>
            <a:off x="353187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direkte Feuerfreigabe.</a:t>
            </a:r>
          </a:p>
        </p:txBody>
      </p:sp>
      <p:sp>
        <p:nvSpPr>
          <p:cNvPr id="24" name="TextBox 23"/>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5" name="Rectangle 24"/>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7" name="TextBox 26"/>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Bereitschaft</a:t>
            </a:r>
          </a:p>
        </p:txBody>
      </p:sp>
      <p:sp>
        <p:nvSpPr>
          <p:cNvPr id="28" name="TextBox 27"/>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Waffenstation, Munition,</a:t>
            </a:r>
          </a:p>
        </p:txBody>
      </p:sp>
      <p:sp>
        <p:nvSpPr>
          <p:cNvPr id="29" name="TextBox 28"/>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Rohr-/Magazinzustand,</a:t>
            </a:r>
          </a:p>
        </p:txBody>
      </p:sp>
      <p:sp>
        <p:nvSpPr>
          <p:cNvPr id="30" name="TextBox 29"/>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Ladezeit und</a:t>
            </a:r>
          </a:p>
        </p:txBody>
      </p:sp>
      <p:sp>
        <p:nvSpPr>
          <p:cNvPr id="31" name="TextBox 30"/>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Plattformbereitschaft.</a:t>
            </a:r>
          </a:p>
        </p:txBody>
      </p:sp>
      <p:sp>
        <p:nvSpPr>
          <p:cNvPr id="32" name="TextBox 31"/>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3" name="Rectangle 32"/>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5" name="TextBox 34"/>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Geometrie</a:t>
            </a:r>
          </a:p>
        </p:txBody>
      </p:sp>
      <p:sp>
        <p:nvSpPr>
          <p:cNvPr id="36" name="TextBox 35"/>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Reichweite, Tiefe,</a:t>
            </a:r>
          </a:p>
        </p:txBody>
      </p:sp>
      <p:sp>
        <p:nvSpPr>
          <p:cNvPr id="37" name="TextBox 36"/>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Startpunkt und jeweilige</a:t>
            </a:r>
          </a:p>
        </p:txBody>
      </p:sp>
      <p:sp>
        <p:nvSpPr>
          <p:cNvPr id="38" name="TextBox 37"/>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Waffen- bzw.</a:t>
            </a:r>
          </a:p>
        </p:txBody>
      </p:sp>
      <p:sp>
        <p:nvSpPr>
          <p:cNvPr id="39" name="TextBox 38"/>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Abwurfhülle.</a:t>
            </a:r>
          </a:p>
        </p:txBody>
      </p:sp>
      <p:sp>
        <p:nvSpPr>
          <p:cNvPr id="40" name="Rectangle 3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konkreten Bedingungen sind waffenspezifisch und werden beim tatsächlichen Befehl erneut geprüft.</a:t>
            </a:r>
          </a:p>
        </p:txBody>
      </p:sp>
      <p:sp>
        <p:nvSpPr>
          <p:cNvPr id="42" name="TextBox 4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src/weapons/asw.py · src/weapons/air_defense.py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WAFFEN &amp; WIRKUNG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34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Torpedo: Start, Draht, Suche und Endphase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Führung wechselt ihren Informationszugang im Flugverlauf</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Start</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Rohrbereitschaft,</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Motorhochlauf,</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Starttiefe und hörbarer</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Ausstoßtransient.</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Mittellauf</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Fahrt zum befohlenen</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Datum; frische</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Kontaktfixes können</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über den Draht</a:t>
            </a:r>
          </a:p>
        </p:txBody>
      </p:sp>
      <p:sp>
        <p:nvSpPr>
          <p:cNvPr id="22" name="TextBox 21"/>
          <p:cNvSpPr txBox="1"/>
          <p:nvPr/>
        </p:nvSpPr>
        <p:spPr>
          <a:xfrm>
            <a:off x="353187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aktualisieren.</a:t>
            </a:r>
          </a:p>
        </p:txBody>
      </p:sp>
      <p:sp>
        <p:nvSpPr>
          <p:cNvPr id="23" name="TextBox 22"/>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4" name="Rectangle 23"/>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6" name="TextBox 25"/>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Terminalphase</a:t>
            </a:r>
          </a:p>
        </p:txBody>
      </p:sp>
      <p:sp>
        <p:nvSpPr>
          <p:cNvPr id="27" name="TextBox 26"/>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Suchkopf prüft</a:t>
            </a:r>
          </a:p>
        </p:txBody>
      </p:sp>
      <p:sp>
        <p:nvSpPr>
          <p:cNvPr id="28" name="TextBox 27"/>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erreichbare Kandidaten</a:t>
            </a:r>
          </a:p>
        </p:txBody>
      </p:sp>
      <p:sp>
        <p:nvSpPr>
          <p:cNvPr id="29" name="TextBox 28"/>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und kann Ziel oder</a:t>
            </a:r>
          </a:p>
        </p:txBody>
      </p:sp>
      <p:sp>
        <p:nvSpPr>
          <p:cNvPr id="30" name="TextBox 29"/>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Täuschkörper auffassen.</a:t>
            </a:r>
          </a:p>
        </p:txBody>
      </p:sp>
      <p:sp>
        <p:nvSpPr>
          <p:cNvPr id="31" name="TextBox 30"/>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2" name="Rectangle 31"/>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4" name="TextBox 33"/>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Wirkung</a:t>
            </a:r>
          </a:p>
        </p:txBody>
      </p:sp>
      <p:sp>
        <p:nvSpPr>
          <p:cNvPr id="35" name="TextBox 34"/>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Nächste Annäherung</a:t>
            </a:r>
          </a:p>
        </p:txBody>
      </p:sp>
      <p:sp>
        <p:nvSpPr>
          <p:cNvPr id="36" name="TextBox 35"/>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und Tiefengeometrie →</a:t>
            </a:r>
          </a:p>
        </p:txBody>
      </p:sp>
      <p:sp>
        <p:nvSpPr>
          <p:cNvPr id="37" name="TextBox 36"/>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Zündung/Schaden;</a:t>
            </a:r>
          </a:p>
        </p:txBody>
      </p:sp>
      <p:sp>
        <p:nvSpPr>
          <p:cNvPr id="38" name="TextBox 37"/>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Boden und Energie</a:t>
            </a:r>
          </a:p>
        </p:txBody>
      </p:sp>
      <p:sp>
        <p:nvSpPr>
          <p:cNvPr id="39" name="TextBox 38"/>
          <p:cNvSpPr txBox="1"/>
          <p:nvPr/>
        </p:nvSpPr>
        <p:spPr>
          <a:xfrm>
            <a:off x="925449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begrenzen den Lauf.</a:t>
            </a:r>
          </a:p>
        </p:txBody>
      </p:sp>
      <p:sp>
        <p:nvSpPr>
          <p:cNvPr id="40" name="Rectangle 3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Vor der Eigenortung folgt die Waffe einem befohlenen Datum; danach wirkt ihr lokaler Suchkopf.</a:t>
            </a:r>
          </a:p>
        </p:txBody>
      </p:sp>
      <p:sp>
        <p:nvSpPr>
          <p:cNvPr id="42" name="TextBox 4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src/weapons/torpedo.py · src/physics/torpedo_dyn.py · src/core/game.py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WAFFEN &amp; WIRKUNG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35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Warum ein Torpedo verfehlen kann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Bewegung, Energie, Verbindung und Zielwahl setzen eigene Grenzen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Dynamik &amp; Energie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Motorhochlauf, fahrtabhängige</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Dreh- und Tiefenreaktion;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Leistungsbedarf ungefähr ∝ v³.</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Draht</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Zwei endliche Spulen; zu hohe</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Fahrt oder anhaltend harte</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Kurven können die Verbindung</a:t>
            </a:r>
          </a:p>
        </p:txBody>
      </p:sp>
      <p:sp>
        <p:nvSpPr>
          <p:cNvPr id="19" name="TextBox 18"/>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brechen.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Täuschung &amp; Wirkung</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Suchkopf konkurriert um</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Signale; Annäherungsschaden</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hängt vom Abstand ab statt</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nur von HIT/NO HIT.</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Aus einer guten Startlösung folgt keine garantierte Zielvernichtung.</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src/weapons/torpedo.py · src/physics/torpedo_dyn.py · src/enemies/decoy.py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WAFFEN &amp; WIRKUNG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36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ASROC und Helikopter verändern den Zustellweg</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Suchwaffe bleibt an ein beobachtetes Datum gebunden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Schiffstorpedo</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Start am eigenen Schiff →</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längerer Unterwasseranlauf →</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drahtgestützte Updates</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möglich.</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ASROC</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Flug zum befohlenen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Einwasserpunkt →</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Torpedopayload → Helixsuche</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und Tiefenregelung.</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Helikoptertorpedo</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Verlegung des eigenen Mittels</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 gültige Abwurfgeometrie →</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autonome Unterwassersuche.</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Andere Zustellung erweitert die Einsatzmöglichkeiten, beseitigt aber keine Unsicherheit des Zieldatums.</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src/weapons/asw.py · src/air/helicopter.py · src/core/game.py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LUFT &amp; ABWEHR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37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Ein Luftangriff besteht aus mehreren Phasen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Angreifer, Flugkörper und Suchkopf sind getrennte Zustände</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Angreifer</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Begrenzter Kurven-/Steigflug;</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Pop-up auf Angriffshöhe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Feuerleitphase.</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Flugkörper</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Boost, Marschflug und</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Höhenregelung; zunächst</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inertial zum Startdatum.</a:t>
            </a:r>
          </a:p>
        </p:txBody>
      </p:sp>
      <p:sp>
        <p:nvSpPr>
          <p:cNvPr id="19" name="Rectangle 18"/>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Suchkopf</a:t>
            </a:r>
          </a:p>
        </p:txBody>
      </p:sp>
      <p:sp>
        <p:nvSpPr>
          <p:cNvPr id="22" name="TextBox 21"/>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Aktivierung, Sichtfeld und</a:t>
            </a:r>
          </a:p>
        </p:txBody>
      </p:sp>
      <p:sp>
        <p:nvSpPr>
          <p:cNvPr id="23" name="TextBox 22"/>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Lock-Zeit; anschließend</a:t>
            </a:r>
          </a:p>
        </p:txBody>
      </p:sp>
      <p:sp>
        <p:nvSpPr>
          <p:cNvPr id="24" name="TextBox 23"/>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begrenzte</a:t>
            </a:r>
          </a:p>
        </p:txBody>
      </p:sp>
      <p:sp>
        <p:nvSpPr>
          <p:cNvPr id="25" name="TextBox 24"/>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Proportionalnavigation.</a:t>
            </a:r>
          </a:p>
        </p:txBody>
      </p:sp>
      <p:sp>
        <p:nvSpPr>
          <p:cNvPr id="26" name="Rectangle 25"/>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Radarhorizont, Emissionen und Flugprofil bestimmen, wann welche Warnung möglich wird.</a:t>
            </a:r>
          </a:p>
        </p:txBody>
      </p:sp>
      <p:sp>
        <p:nvSpPr>
          <p:cNvPr id="28" name="TextBox 27"/>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src/air/raid.py · src/air/asm.py · src/physics/missile.py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LUFT &amp; ABWEHR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38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Luftabwehr ist ein begrenztes Schichtsystem</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Softkill und Hardkill greifen in denselben Angriff ein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ECM / Düppel</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Störung und Scheinziele</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beeinflussen den Suchkopf;</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Wolken entfalten sich, driften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und zerfallen.</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ESSM</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Start gegen einen frischen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Track; Vorsteuerung aus</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Beobachtungen, danach</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eigener Suchkopf.</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CIWS / FLAK</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Freigaben, Munition,</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Bereitschaft und Nahbereich</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entscheiden; CIWS muss</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nachführen und rechtzeitig</a:t>
            </a:r>
          </a:p>
        </p:txBody>
      </p:sp>
      <p:sp>
        <p:nvSpPr>
          <p:cNvPr id="28" name="TextBox 27"/>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wirken.</a:t>
            </a:r>
          </a:p>
        </p:txBody>
      </p:sp>
      <p:sp>
        <p:nvSpPr>
          <p:cNvPr id="29" name="Rectangle 2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Mehrere gleichzeitige Angriffe können Feuerkanäle, Nachführung und Munitionsvorräte sättigen.</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src/air/chaff.py · src/air/asm.py · src/weapons/ciws.py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LUFT &amp; ABWEHR</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39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Der Helikopter verbindet drei Stationen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Brücke schafft Bedingungen, Sonar gewinnt Daten, Waffen nutzen das Datum</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Flugbetrieb</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Hangar → Einsatz → Rückkehr;</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Wegpunkte, Treibstoff, Wetter</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und Deckfenster.</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Aufklärung</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Schwebeflug, Dipptiefe und</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Bojen erzeugen</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Beobachtungen von anderen</a:t>
            </a:r>
          </a:p>
        </p:txBody>
      </p:sp>
      <p:sp>
        <p:nvSpPr>
          <p:cNvPr id="19" name="TextBox 18"/>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Orten.</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Ressourcen</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Schweben benötigt mehr</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Treibstoff; Vereisung, Vorräte</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und beschädigtes Flugdeck</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beschränken Einsätze.</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Fregatte kann durch Kurs und Fahrt die Bedingungen für Start, Bergung und Sensorik verändern.</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src/air/helicopter.py · src/air/sonobuoy.py · src/core/game.py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SCHADEN &amp; RÜCKKOPPLUNG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40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Ein Treffer setzt eine Folge von Zuständen in Gang</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Neun fiktive Zonen verbinden Schadensort und Systemfunktion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Initialwirkung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Trefferlage wählt betroffene</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Abteilungen;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Torpedo/Grundkontakt</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erzeugen Lecks, ASM vor</a:t>
            </a:r>
          </a:p>
        </p:txBody>
      </p:sp>
      <p:sp>
        <p:nvSpPr>
          <p:cNvPr id="14" name="TextBox 13"/>
          <p:cNvSpPr txBox="1"/>
          <p:nvPr/>
        </p:nvSpPr>
        <p:spPr>
          <a:xfrm>
            <a:off x="68580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allem Brand.</a:t>
            </a:r>
          </a:p>
        </p:txBody>
      </p:sp>
      <p:sp>
        <p:nvSpPr>
          <p:cNvPr id="15" name="Rectangle 14"/>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Ausbreitung</a:t>
            </a:r>
          </a:p>
        </p:txBody>
      </p:sp>
      <p:sp>
        <p:nvSpPr>
          <p:cNvPr id="18" name="TextBox 17"/>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Wasserdruck treibt Flutung;</a:t>
            </a:r>
          </a:p>
        </p:txBody>
      </p:sp>
      <p:sp>
        <p:nvSpPr>
          <p:cNvPr id="19" name="TextBox 18"/>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Wärme, Brennstoff und</a:t>
            </a:r>
          </a:p>
        </p:txBody>
      </p:sp>
      <p:sp>
        <p:nvSpPr>
          <p:cNvPr id="20" name="TextBox 19"/>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Sauerstoff treiben Feuer und</a:t>
            </a:r>
          </a:p>
        </p:txBody>
      </p:sp>
      <p:sp>
        <p:nvSpPr>
          <p:cNvPr id="21" name="TextBox 20"/>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Übergreifen.</a:t>
            </a:r>
          </a:p>
        </p:txBody>
      </p:sp>
      <p:sp>
        <p:nvSpPr>
          <p:cNvPr id="22" name="Rectangle 21"/>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Systemwirkung</a:t>
            </a:r>
          </a:p>
        </p:txBody>
      </p:sp>
      <p:sp>
        <p:nvSpPr>
          <p:cNvPr id="25" name="TextBox 24"/>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Leistungsfähigkeit sinkt;</a:t>
            </a:r>
          </a:p>
        </p:txBody>
      </p:sp>
      <p:sp>
        <p:nvSpPr>
          <p:cNvPr id="26" name="TextBox 25"/>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Masse, Tiefgang und Krängung</a:t>
            </a:r>
          </a:p>
        </p:txBody>
      </p:sp>
      <p:sp>
        <p:nvSpPr>
          <p:cNvPr id="27" name="TextBox 26"/>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verändern Bewegung und</a:t>
            </a:r>
          </a:p>
        </p:txBody>
      </p:sp>
      <p:sp>
        <p:nvSpPr>
          <p:cNvPr id="28" name="TextBox 27"/>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Überlebensfähigkeit.</a:t>
            </a:r>
          </a:p>
        </p:txBody>
      </p:sp>
      <p:sp>
        <p:nvSpPr>
          <p:cNvPr id="29" name="Rectangle 2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Schaden verändert die gesamte Einsatzkette: Sensoren, Waffen, Antrieb, Steuerung und Flugdeck.</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src/ship/damage.py · src/core/game.py · src/ship/ship.py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SCHADEN &amp; RÜCKKOPPLUNG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41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Flutung koppelt Hydraulik und Stabilität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Lage des Wassers ist ebenso wichtig wie seine Menge</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Wassereinbruch</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Q = Cᵈ · A · √(2gh)</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Leckfläche und Druckhöhe</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bestimmen den Zustrom.</a:t>
            </a:r>
          </a:p>
        </p:txBody>
      </p:sp>
      <p:sp>
        <p:nvSpPr>
          <p:cNvPr id="13" name="Rectangle 12"/>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Hydrostatik</a:t>
            </a:r>
          </a:p>
        </p:txBody>
      </p:sp>
      <p:sp>
        <p:nvSpPr>
          <p:cNvPr id="16" name="TextBox 15"/>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Wassermasse erhöht</a:t>
            </a:r>
          </a:p>
        </p:txBody>
      </p:sp>
      <p:sp>
        <p:nvSpPr>
          <p:cNvPr id="17" name="TextBox 16"/>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Verdrängung und Tiefgang;</a:t>
            </a:r>
          </a:p>
        </p:txBody>
      </p:sp>
      <p:sp>
        <p:nvSpPr>
          <p:cNvPr id="18" name="TextBox 17"/>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freie Oberflächen vermindern</a:t>
            </a:r>
          </a:p>
        </p:txBody>
      </p:sp>
      <p:sp>
        <p:nvSpPr>
          <p:cNvPr id="19" name="TextBox 18"/>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Stabilität.</a:t>
            </a:r>
          </a:p>
        </p:txBody>
      </p:sp>
      <p:sp>
        <p:nvSpPr>
          <p:cNvPr id="20" name="Rectangle 19"/>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Versagen</a:t>
            </a:r>
          </a:p>
        </p:txBody>
      </p:sp>
      <p:sp>
        <p:nvSpPr>
          <p:cNvPr id="23" name="TextBox 22"/>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Seitliche Wassermomente</a:t>
            </a:r>
          </a:p>
        </p:txBody>
      </p:sp>
      <p:sp>
        <p:nvSpPr>
          <p:cNvPr id="24" name="TextBox 23"/>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erzeugen Schlagseite;</a:t>
            </a:r>
          </a:p>
        </p:txBody>
      </p:sp>
      <p:sp>
        <p:nvSpPr>
          <p:cNvPr id="25" name="TextBox 24"/>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verlorene Reserve oder</a:t>
            </a:r>
          </a:p>
        </p:txBody>
      </p:sp>
      <p:sp>
        <p:nvSpPr>
          <p:cNvPr id="26" name="TextBox 25"/>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Stabilität führen zum</a:t>
            </a:r>
          </a:p>
        </p:txBody>
      </p:sp>
      <p:sp>
        <p:nvSpPr>
          <p:cNvPr id="27" name="TextBox 26"/>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Sinken/Kentern.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Mehr Tiefgang kann den Wasserdruck erhöhen – eine physische Rückkopplung innerhalb des Schadensmodells.</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src/ship/damage.py · src/ship/ship.py · tests/test_damage_stability.py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SCHADEN &amp; RÜCKKOPPLUNG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42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Reparatur ist eine logistische Entscheidung</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Personal und Material brauchen Zeit am richtigen Ort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Drei Trupps</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Zuweisung an Abteilungen;</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Weg über den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Abteilungsgraphen mit</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gespeicherter Ankunftszeit.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Begrenztes Material</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Lecks werden zuerst mit</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Patch-Kits verkleinert;</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Restleckage kann bestehen</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bleiben.</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Prioritäten</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Pumpen, Brandbekämpfung</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und Wiederherstellung</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konkurrieren um dieselben</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Ressourcen.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Eine Sensorreparatur kann taktisch wertvoll sein; eine Stabilitätskrise kann sie dennoch überstimmen.</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src/ship/damage.py · src/core/autocrew.py · tests/test_damage.py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SCHADEN &amp; RÜCKKOPPLUNG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43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Schadenslage sichtbar machen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Repository-Abbildung: funktionale Zonen, Flutung, Feuer und Reparaturtrupps</a:t>
            </a:r>
          </a:p>
        </p:txBody>
      </p:sp>
      <p:pic>
        <p:nvPicPr>
          <p:cNvPr id="7" name="Picture 6" descr="de-damage-control-alert.png"/>
          <p:cNvPicPr>
            <a:picLocks noChangeAspect="1"/>
          </p:cNvPicPr>
          <p:nvPr/>
        </p:nvPicPr>
        <p:blipFill>
          <a:blip r:embed="rId2"/>
          <a:stretch>
            <a:fillRect/>
          </a:stretch>
        </p:blipFill>
        <p:spPr>
          <a:xfrm>
            <a:off x="1432560" y="1813560"/>
            <a:ext cx="6659880" cy="3749039"/>
          </a:xfrm>
          <a:prstGeom prst="rect">
            <a:avLst/>
          </a:prstGeom>
        </p:spPr>
      </p:pic>
      <p:sp>
        <p:nvSpPr>
          <p:cNvPr id="8" name="Rectangle 7"/>
          <p:cNvSpPr/>
          <p:nvPr/>
        </p:nvSpPr>
        <p:spPr>
          <a:xfrm>
            <a:off x="9296400" y="1958340"/>
            <a:ext cx="2400300" cy="32537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48800" y="2156460"/>
            <a:ext cx="2186940" cy="202692"/>
          </a:xfrm>
          <a:prstGeom prst="rect">
            <a:avLst/>
          </a:prstGeom>
          <a:noFill/>
        </p:spPr>
        <p:txBody>
          <a:bodyPr wrap="none" lIns="0" rIns="0" tIns="0" bIns="0">
            <a:spAutoFit/>
          </a:bodyPr>
          <a:lstStyle/>
          <a:p>
            <a:pPr>
              <a:defRPr sz="1140" b="1">
                <a:solidFill>
                  <a:srgbClr val="54D1BA"/>
                </a:solidFill>
                <a:latin typeface="DejaVu Sans"/>
              </a:defRPr>
            </a:pPr>
            <a:r>
              <a:t>ANSICHTSBEISPIEL</a:t>
            </a:r>
          </a:p>
        </p:txBody>
      </p:sp>
      <p:sp>
        <p:nvSpPr>
          <p:cNvPr id="10" name="TextBox 9"/>
          <p:cNvSpPr txBox="1"/>
          <p:nvPr/>
        </p:nvSpPr>
        <p:spPr>
          <a:xfrm>
            <a:off x="9448800" y="2613660"/>
            <a:ext cx="2186940" cy="288036"/>
          </a:xfrm>
          <a:prstGeom prst="rect">
            <a:avLst/>
          </a:prstGeom>
          <a:noFill/>
        </p:spPr>
        <p:txBody>
          <a:bodyPr wrap="none" lIns="0" rIns="0" tIns="0" bIns="0">
            <a:spAutoFit/>
          </a:bodyPr>
          <a:lstStyle/>
          <a:p>
            <a:pPr>
              <a:defRPr sz="1620" b="0">
                <a:solidFill>
                  <a:srgbClr val="F3F5F3"/>
                </a:solidFill>
                <a:latin typeface="DejaVu Sans"/>
              </a:defRPr>
            </a:pPr>
            <a:r>
              <a:t>Das Schema ist</a:t>
            </a:r>
          </a:p>
        </p:txBody>
      </p:sp>
      <p:sp>
        <p:nvSpPr>
          <p:cNvPr id="11" name="TextBox 10"/>
          <p:cNvSpPr txBox="1"/>
          <p:nvPr/>
        </p:nvSpPr>
        <p:spPr>
          <a:xfrm>
            <a:off x="9448800" y="2901696"/>
            <a:ext cx="2186940" cy="288036"/>
          </a:xfrm>
          <a:prstGeom prst="rect">
            <a:avLst/>
          </a:prstGeom>
          <a:noFill/>
        </p:spPr>
        <p:txBody>
          <a:bodyPr wrap="none" lIns="0" rIns="0" tIns="0" bIns="0">
            <a:spAutoFit/>
          </a:bodyPr>
          <a:lstStyle/>
          <a:p>
            <a:pPr>
              <a:defRPr sz="1620" b="0">
                <a:solidFill>
                  <a:srgbClr val="F3F5F3"/>
                </a:solidFill>
                <a:latin typeface="DejaVu Sans"/>
              </a:defRPr>
            </a:pPr>
            <a:r>
              <a:t>fiktiv und dient der</a:t>
            </a:r>
          </a:p>
        </p:txBody>
      </p:sp>
      <p:sp>
        <p:nvSpPr>
          <p:cNvPr id="12" name="TextBox 11"/>
          <p:cNvSpPr txBox="1"/>
          <p:nvPr/>
        </p:nvSpPr>
        <p:spPr>
          <a:xfrm>
            <a:off x="9448800" y="3189732"/>
            <a:ext cx="2186940" cy="288036"/>
          </a:xfrm>
          <a:prstGeom prst="rect">
            <a:avLst/>
          </a:prstGeom>
          <a:noFill/>
        </p:spPr>
        <p:txBody>
          <a:bodyPr wrap="none" lIns="0" rIns="0" tIns="0" bIns="0">
            <a:spAutoFit/>
          </a:bodyPr>
          <a:lstStyle/>
          <a:p>
            <a:pPr>
              <a:defRPr sz="1620" b="0">
                <a:solidFill>
                  <a:srgbClr val="F3F5F3"/>
                </a:solidFill>
                <a:latin typeface="DejaVu Sans"/>
              </a:defRPr>
            </a:pPr>
            <a:r>
              <a:t>Zuordnung von</a:t>
            </a:r>
          </a:p>
        </p:txBody>
      </p:sp>
      <p:sp>
        <p:nvSpPr>
          <p:cNvPr id="13" name="TextBox 12"/>
          <p:cNvSpPr txBox="1"/>
          <p:nvPr/>
        </p:nvSpPr>
        <p:spPr>
          <a:xfrm>
            <a:off x="9448800" y="3477768"/>
            <a:ext cx="2186940" cy="288036"/>
          </a:xfrm>
          <a:prstGeom prst="rect">
            <a:avLst/>
          </a:prstGeom>
          <a:noFill/>
        </p:spPr>
        <p:txBody>
          <a:bodyPr wrap="none" lIns="0" rIns="0" tIns="0" bIns="0">
            <a:spAutoFit/>
          </a:bodyPr>
          <a:lstStyle/>
          <a:p>
            <a:pPr>
              <a:defRPr sz="1620" b="0">
                <a:solidFill>
                  <a:srgbClr val="F3F5F3"/>
                </a:solidFill>
                <a:latin typeface="DejaVu Sans"/>
              </a:defRPr>
            </a:pPr>
            <a:r>
              <a:t>Systemfolgen.</a:t>
            </a:r>
          </a:p>
        </p:txBody>
      </p:sp>
      <p:sp>
        <p:nvSpPr>
          <p:cNvPr id="14" name="Rectangle 13"/>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Entscheidend ist nicht nur der Schadensprozentsatz, sondern die betroffene Fähigkeit und ihre Rückwirkung.</a:t>
            </a:r>
          </a:p>
        </p:txBody>
      </p:sp>
      <p:sp>
        <p:nvSpPr>
          <p:cNvPr id="16" name="TextBox 15"/>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src/ui/stations_view.py · src/ship/damage.py · docs/screenshots/de-damage-control-alert.png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BEDIENUNG &amp; KOOPERATION</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44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Neun Stationen bedienen denselben Zustand</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Stationsgrenzen sind Aufgabenverteilungen, keine isolierten Simulationen</a:t>
            </a:r>
          </a:p>
        </p:txBody>
      </p:sp>
      <p:sp>
        <p:nvSpPr>
          <p:cNvPr id="7" name="TextBox 6"/>
          <p:cNvSpPr txBox="1"/>
          <p:nvPr/>
        </p:nvSpPr>
        <p:spPr>
          <a:xfrm>
            <a:off x="609600" y="1889760"/>
            <a:ext cx="2034540" cy="202692"/>
          </a:xfrm>
          <a:prstGeom prst="rect">
            <a:avLst/>
          </a:prstGeom>
          <a:noFill/>
        </p:spPr>
        <p:txBody>
          <a:bodyPr wrap="none" lIns="0" rIns="0" tIns="0" bIns="0">
            <a:spAutoFit/>
          </a:bodyPr>
          <a:lstStyle/>
          <a:p>
            <a:pPr>
              <a:defRPr sz="1140" b="1">
                <a:solidFill>
                  <a:srgbClr val="54D1BA"/>
                </a:solidFill>
                <a:latin typeface="DejaVu Sans"/>
              </a:defRPr>
            </a:pPr>
            <a:r>
              <a:t>BEREICH</a:t>
            </a:r>
          </a:p>
        </p:txBody>
      </p:sp>
      <p:sp>
        <p:nvSpPr>
          <p:cNvPr id="8" name="TextBox 7"/>
          <p:cNvSpPr txBox="1"/>
          <p:nvPr/>
        </p:nvSpPr>
        <p:spPr>
          <a:xfrm>
            <a:off x="2895600" y="1889760"/>
            <a:ext cx="3901440" cy="202692"/>
          </a:xfrm>
          <a:prstGeom prst="rect">
            <a:avLst/>
          </a:prstGeom>
          <a:noFill/>
        </p:spPr>
        <p:txBody>
          <a:bodyPr wrap="none" lIns="0" rIns="0" tIns="0" bIns="0">
            <a:spAutoFit/>
          </a:bodyPr>
          <a:lstStyle/>
          <a:p>
            <a:pPr>
              <a:defRPr sz="1140" b="1">
                <a:solidFill>
                  <a:srgbClr val="54D1BA"/>
                </a:solidFill>
                <a:latin typeface="DejaVu Sans"/>
              </a:defRPr>
            </a:pPr>
            <a:r>
              <a:t>MODELL / INHALT</a:t>
            </a:r>
          </a:p>
        </p:txBody>
      </p:sp>
      <p:sp>
        <p:nvSpPr>
          <p:cNvPr id="9" name="TextBox 8"/>
          <p:cNvSpPr txBox="1"/>
          <p:nvPr/>
        </p:nvSpPr>
        <p:spPr>
          <a:xfrm>
            <a:off x="7048500" y="1889760"/>
            <a:ext cx="4663440" cy="202692"/>
          </a:xfrm>
          <a:prstGeom prst="rect">
            <a:avLst/>
          </a:prstGeom>
          <a:noFill/>
        </p:spPr>
        <p:txBody>
          <a:bodyPr wrap="none" lIns="0" rIns="0" tIns="0" bIns="0">
            <a:spAutoFit/>
          </a:bodyPr>
          <a:lstStyle/>
          <a:p>
            <a:pPr>
              <a:defRPr sz="1140" b="1">
                <a:solidFill>
                  <a:srgbClr val="54D1BA"/>
                </a:solidFill>
                <a:latin typeface="DejaVu Sans"/>
              </a:defRPr>
            </a:pPr>
            <a:r>
              <a:t>FOLGE / VERWENDUNG</a:t>
            </a:r>
          </a:p>
        </p:txBody>
      </p:sp>
      <p:sp>
        <p:nvSpPr>
          <p:cNvPr id="10" name="Rectangle 9"/>
          <p:cNvSpPr/>
          <p:nvPr/>
        </p:nvSpPr>
        <p:spPr>
          <a:xfrm>
            <a:off x="495299" y="224790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339340"/>
            <a:ext cx="2011680" cy="245363"/>
          </a:xfrm>
          <a:prstGeom prst="rect">
            <a:avLst/>
          </a:prstGeom>
          <a:noFill/>
        </p:spPr>
        <p:txBody>
          <a:bodyPr wrap="none" lIns="0" rIns="0" tIns="0" bIns="0">
            <a:spAutoFit/>
          </a:bodyPr>
          <a:lstStyle/>
          <a:p>
            <a:pPr>
              <a:defRPr sz="1380" b="1">
                <a:solidFill>
                  <a:srgbClr val="F3F5F3"/>
                </a:solidFill>
                <a:latin typeface="DejaVu Sans"/>
              </a:defRPr>
            </a:pPr>
            <a:r>
              <a:t>Brücke / Maschine</a:t>
            </a:r>
          </a:p>
        </p:txBody>
      </p:sp>
      <p:sp>
        <p:nvSpPr>
          <p:cNvPr id="12" name="TextBox 11"/>
          <p:cNvSpPr txBox="1"/>
          <p:nvPr/>
        </p:nvSpPr>
        <p:spPr>
          <a:xfrm>
            <a:off x="2895600" y="2339340"/>
            <a:ext cx="3878579" cy="245363"/>
          </a:xfrm>
          <a:prstGeom prst="rect">
            <a:avLst/>
          </a:prstGeom>
          <a:noFill/>
        </p:spPr>
        <p:txBody>
          <a:bodyPr wrap="none" lIns="0" rIns="0" tIns="0" bIns="0">
            <a:spAutoFit/>
          </a:bodyPr>
          <a:lstStyle/>
          <a:p>
            <a:pPr>
              <a:defRPr sz="1380" b="0">
                <a:solidFill>
                  <a:srgbClr val="B6C6CC"/>
                </a:solidFill>
                <a:latin typeface="DejaVu Sans"/>
              </a:defRPr>
            </a:pPr>
            <a:r>
              <a:t>Kurs, Fahrt, Navigation, Energie</a:t>
            </a:r>
          </a:p>
        </p:txBody>
      </p:sp>
      <p:sp>
        <p:nvSpPr>
          <p:cNvPr id="13" name="TextBox 12"/>
          <p:cNvSpPr txBox="1"/>
          <p:nvPr/>
        </p:nvSpPr>
        <p:spPr>
          <a:xfrm>
            <a:off x="7048500" y="2339340"/>
            <a:ext cx="4640580" cy="245363"/>
          </a:xfrm>
          <a:prstGeom prst="rect">
            <a:avLst/>
          </a:prstGeom>
          <a:noFill/>
        </p:spPr>
        <p:txBody>
          <a:bodyPr wrap="none" lIns="0" rIns="0" tIns="0" bIns="0">
            <a:spAutoFit/>
          </a:bodyPr>
          <a:lstStyle/>
          <a:p>
            <a:pPr>
              <a:defRPr sz="1380" b="0">
                <a:solidFill>
                  <a:srgbClr val="B6C6CC"/>
                </a:solidFill>
                <a:latin typeface="DejaVu Sans"/>
              </a:defRPr>
            </a:pPr>
            <a:r>
              <a:t>Wirkt auf Lärm, Geometrie und Deck</a:t>
            </a:r>
          </a:p>
        </p:txBody>
      </p:sp>
      <p:sp>
        <p:nvSpPr>
          <p:cNvPr id="14" name="Rectangle 13"/>
          <p:cNvSpPr/>
          <p:nvPr/>
        </p:nvSpPr>
        <p:spPr>
          <a:xfrm>
            <a:off x="495299" y="288036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600" y="2971800"/>
            <a:ext cx="2011680" cy="245363"/>
          </a:xfrm>
          <a:prstGeom prst="rect">
            <a:avLst/>
          </a:prstGeom>
          <a:noFill/>
        </p:spPr>
        <p:txBody>
          <a:bodyPr wrap="none" lIns="0" rIns="0" tIns="0" bIns="0">
            <a:spAutoFit/>
          </a:bodyPr>
          <a:lstStyle/>
          <a:p>
            <a:pPr>
              <a:defRPr sz="1380" b="1">
                <a:solidFill>
                  <a:srgbClr val="F3F5F3"/>
                </a:solidFill>
                <a:latin typeface="DejaVu Sans"/>
              </a:defRPr>
            </a:pPr>
            <a:r>
              <a:t>Sonar / ELOKA /</a:t>
            </a:r>
          </a:p>
        </p:txBody>
      </p:sp>
      <p:sp>
        <p:nvSpPr>
          <p:cNvPr id="16" name="TextBox 15"/>
          <p:cNvSpPr txBox="1"/>
          <p:nvPr/>
        </p:nvSpPr>
        <p:spPr>
          <a:xfrm>
            <a:off x="609600" y="3217164"/>
            <a:ext cx="2011680" cy="245363"/>
          </a:xfrm>
          <a:prstGeom prst="rect">
            <a:avLst/>
          </a:prstGeom>
          <a:noFill/>
        </p:spPr>
        <p:txBody>
          <a:bodyPr wrap="none" lIns="0" rIns="0" tIns="0" bIns="0">
            <a:spAutoFit/>
          </a:bodyPr>
          <a:lstStyle/>
          <a:p>
            <a:pPr>
              <a:defRPr sz="1380" b="1">
                <a:solidFill>
                  <a:srgbClr val="F3F5F3"/>
                </a:solidFill>
                <a:latin typeface="DejaVu Sans"/>
              </a:defRPr>
            </a:pPr>
            <a:r>
              <a:t>Funk</a:t>
            </a:r>
          </a:p>
        </p:txBody>
      </p:sp>
      <p:sp>
        <p:nvSpPr>
          <p:cNvPr id="17" name="TextBox 16"/>
          <p:cNvSpPr txBox="1"/>
          <p:nvPr/>
        </p:nvSpPr>
        <p:spPr>
          <a:xfrm>
            <a:off x="2895600" y="2971800"/>
            <a:ext cx="3878579" cy="245363"/>
          </a:xfrm>
          <a:prstGeom prst="rect">
            <a:avLst/>
          </a:prstGeom>
          <a:noFill/>
        </p:spPr>
        <p:txBody>
          <a:bodyPr wrap="none" lIns="0" rIns="0" tIns="0" bIns="0">
            <a:spAutoFit/>
          </a:bodyPr>
          <a:lstStyle/>
          <a:p>
            <a:pPr>
              <a:defRPr sz="1380" b="0">
                <a:solidFill>
                  <a:srgbClr val="B6C6CC"/>
                </a:solidFill>
                <a:latin typeface="DejaVu Sans"/>
              </a:defRPr>
            </a:pPr>
            <a:r>
              <a:t>Messen, analysieren, melden</a:t>
            </a:r>
          </a:p>
        </p:txBody>
      </p:sp>
      <p:sp>
        <p:nvSpPr>
          <p:cNvPr id="18" name="TextBox 17"/>
          <p:cNvSpPr txBox="1"/>
          <p:nvPr/>
        </p:nvSpPr>
        <p:spPr>
          <a:xfrm>
            <a:off x="7048500" y="2971800"/>
            <a:ext cx="4640580" cy="245363"/>
          </a:xfrm>
          <a:prstGeom prst="rect">
            <a:avLst/>
          </a:prstGeom>
          <a:noFill/>
        </p:spPr>
        <p:txBody>
          <a:bodyPr wrap="none" lIns="0" rIns="0" tIns="0" bIns="0">
            <a:spAutoFit/>
          </a:bodyPr>
          <a:lstStyle/>
          <a:p>
            <a:pPr>
              <a:defRPr sz="1380" b="0">
                <a:solidFill>
                  <a:srgbClr val="B6C6CC"/>
                </a:solidFill>
                <a:latin typeface="DejaVu Sans"/>
              </a:defRPr>
            </a:pPr>
            <a:r>
              <a:t>Liefert Kontakte und Evidenz</a:t>
            </a:r>
          </a:p>
        </p:txBody>
      </p:sp>
      <p:sp>
        <p:nvSpPr>
          <p:cNvPr id="19" name="Rectangle 18"/>
          <p:cNvSpPr/>
          <p:nvPr/>
        </p:nvSpPr>
        <p:spPr>
          <a:xfrm>
            <a:off x="495299" y="351282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600" y="3604260"/>
            <a:ext cx="2011680" cy="245363"/>
          </a:xfrm>
          <a:prstGeom prst="rect">
            <a:avLst/>
          </a:prstGeom>
          <a:noFill/>
        </p:spPr>
        <p:txBody>
          <a:bodyPr wrap="none" lIns="0" rIns="0" tIns="0" bIns="0">
            <a:spAutoFit/>
          </a:bodyPr>
          <a:lstStyle/>
          <a:p>
            <a:pPr>
              <a:defRPr sz="1380" b="1">
                <a:solidFill>
                  <a:srgbClr val="F3F5F3"/>
                </a:solidFill>
                <a:latin typeface="DejaVu Sans"/>
              </a:defRPr>
            </a:pPr>
            <a:r>
              <a:t>OPZ / Waffen</a:t>
            </a:r>
          </a:p>
        </p:txBody>
      </p:sp>
      <p:sp>
        <p:nvSpPr>
          <p:cNvPr id="21" name="TextBox 20"/>
          <p:cNvSpPr txBox="1"/>
          <p:nvPr/>
        </p:nvSpPr>
        <p:spPr>
          <a:xfrm>
            <a:off x="2895600" y="3604260"/>
            <a:ext cx="3878579" cy="245363"/>
          </a:xfrm>
          <a:prstGeom prst="rect">
            <a:avLst/>
          </a:prstGeom>
          <a:noFill/>
        </p:spPr>
        <p:txBody>
          <a:bodyPr wrap="none" lIns="0" rIns="0" tIns="0" bIns="0">
            <a:spAutoFit/>
          </a:bodyPr>
          <a:lstStyle/>
          <a:p>
            <a:pPr>
              <a:defRPr sz="1380" b="0">
                <a:solidFill>
                  <a:srgbClr val="B6C6CC"/>
                </a:solidFill>
                <a:latin typeface="DejaVu Sans"/>
              </a:defRPr>
            </a:pPr>
            <a:r>
              <a:t>Lage, Freigabe, Wirkmittel</a:t>
            </a:r>
          </a:p>
        </p:txBody>
      </p:sp>
      <p:sp>
        <p:nvSpPr>
          <p:cNvPr id="22" name="TextBox 21"/>
          <p:cNvSpPr txBox="1"/>
          <p:nvPr/>
        </p:nvSpPr>
        <p:spPr>
          <a:xfrm>
            <a:off x="7048500" y="3604260"/>
            <a:ext cx="4640580" cy="245363"/>
          </a:xfrm>
          <a:prstGeom prst="rect">
            <a:avLst/>
          </a:prstGeom>
          <a:noFill/>
        </p:spPr>
        <p:txBody>
          <a:bodyPr wrap="none" lIns="0" rIns="0" tIns="0" bIns="0">
            <a:spAutoFit/>
          </a:bodyPr>
          <a:lstStyle/>
          <a:p>
            <a:pPr>
              <a:defRPr sz="1380" b="0">
                <a:solidFill>
                  <a:srgbClr val="B6C6CC"/>
                </a:solidFill>
                <a:latin typeface="DejaVu Sans"/>
              </a:defRPr>
            </a:pPr>
            <a:r>
              <a:t>Verbraucht frische Beobachtungen</a:t>
            </a:r>
          </a:p>
        </p:txBody>
      </p:sp>
      <p:sp>
        <p:nvSpPr>
          <p:cNvPr id="23" name="Rectangle 22"/>
          <p:cNvSpPr/>
          <p:nvPr/>
        </p:nvSpPr>
        <p:spPr>
          <a:xfrm>
            <a:off x="495299" y="414528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600" y="4236720"/>
            <a:ext cx="2011680" cy="245363"/>
          </a:xfrm>
          <a:prstGeom prst="rect">
            <a:avLst/>
          </a:prstGeom>
          <a:noFill/>
        </p:spPr>
        <p:txBody>
          <a:bodyPr wrap="none" lIns="0" rIns="0" tIns="0" bIns="0">
            <a:spAutoFit/>
          </a:bodyPr>
          <a:lstStyle/>
          <a:p>
            <a:pPr>
              <a:defRPr sz="1380" b="1">
                <a:solidFill>
                  <a:srgbClr val="F3F5F3"/>
                </a:solidFill>
                <a:latin typeface="DejaVu Sans"/>
              </a:defRPr>
            </a:pPr>
            <a:r>
              <a:t>Helikopter</a:t>
            </a:r>
          </a:p>
        </p:txBody>
      </p:sp>
      <p:sp>
        <p:nvSpPr>
          <p:cNvPr id="25" name="TextBox 24"/>
          <p:cNvSpPr txBox="1"/>
          <p:nvPr/>
        </p:nvSpPr>
        <p:spPr>
          <a:xfrm>
            <a:off x="2895600" y="4236720"/>
            <a:ext cx="3878579" cy="245363"/>
          </a:xfrm>
          <a:prstGeom prst="rect">
            <a:avLst/>
          </a:prstGeom>
          <a:noFill/>
        </p:spPr>
        <p:txBody>
          <a:bodyPr wrap="none" lIns="0" rIns="0" tIns="0" bIns="0">
            <a:spAutoFit/>
          </a:bodyPr>
          <a:lstStyle/>
          <a:p>
            <a:pPr>
              <a:defRPr sz="1380" b="0">
                <a:solidFill>
                  <a:srgbClr val="B6C6CC"/>
                </a:solidFill>
                <a:latin typeface="DejaVu Sans"/>
              </a:defRPr>
            </a:pPr>
            <a:r>
              <a:t>Verlegung, Dippen, Bojen, Torpedo</a:t>
            </a:r>
          </a:p>
        </p:txBody>
      </p:sp>
      <p:sp>
        <p:nvSpPr>
          <p:cNvPr id="26" name="TextBox 25"/>
          <p:cNvSpPr txBox="1"/>
          <p:nvPr/>
        </p:nvSpPr>
        <p:spPr>
          <a:xfrm>
            <a:off x="7048500" y="4236720"/>
            <a:ext cx="4640580" cy="245363"/>
          </a:xfrm>
          <a:prstGeom prst="rect">
            <a:avLst/>
          </a:prstGeom>
          <a:noFill/>
        </p:spPr>
        <p:txBody>
          <a:bodyPr wrap="none" lIns="0" rIns="0" tIns="0" bIns="0">
            <a:spAutoFit/>
          </a:bodyPr>
          <a:lstStyle/>
          <a:p>
            <a:pPr>
              <a:defRPr sz="1380" b="0">
                <a:solidFill>
                  <a:srgbClr val="B6C6CC"/>
                </a:solidFill>
                <a:latin typeface="DejaVu Sans"/>
              </a:defRPr>
            </a:pPr>
            <a:r>
              <a:t>Erweitert Beobachter- und Startorte</a:t>
            </a:r>
          </a:p>
        </p:txBody>
      </p:sp>
      <p:sp>
        <p:nvSpPr>
          <p:cNvPr id="27" name="Rectangle 26"/>
          <p:cNvSpPr/>
          <p:nvPr/>
        </p:nvSpPr>
        <p:spPr>
          <a:xfrm>
            <a:off x="495299" y="477774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9600" y="4869180"/>
            <a:ext cx="2011680" cy="245363"/>
          </a:xfrm>
          <a:prstGeom prst="rect">
            <a:avLst/>
          </a:prstGeom>
          <a:noFill/>
        </p:spPr>
        <p:txBody>
          <a:bodyPr wrap="none" lIns="0" rIns="0" tIns="0" bIns="0">
            <a:spAutoFit/>
          </a:bodyPr>
          <a:lstStyle/>
          <a:p>
            <a:pPr>
              <a:defRPr sz="1380" b="1">
                <a:solidFill>
                  <a:srgbClr val="F3F5F3"/>
                </a:solidFill>
                <a:latin typeface="DejaVu Sans"/>
              </a:defRPr>
            </a:pPr>
            <a:r>
              <a:t>Schadensabwehr</a:t>
            </a:r>
          </a:p>
        </p:txBody>
      </p:sp>
      <p:sp>
        <p:nvSpPr>
          <p:cNvPr id="29" name="TextBox 28"/>
          <p:cNvSpPr txBox="1"/>
          <p:nvPr/>
        </p:nvSpPr>
        <p:spPr>
          <a:xfrm>
            <a:off x="2895600" y="4869180"/>
            <a:ext cx="3878579" cy="245363"/>
          </a:xfrm>
          <a:prstGeom prst="rect">
            <a:avLst/>
          </a:prstGeom>
          <a:noFill/>
        </p:spPr>
        <p:txBody>
          <a:bodyPr wrap="none" lIns="0" rIns="0" tIns="0" bIns="0">
            <a:spAutoFit/>
          </a:bodyPr>
          <a:lstStyle/>
          <a:p>
            <a:pPr>
              <a:defRPr sz="1380" b="0">
                <a:solidFill>
                  <a:srgbClr val="B6C6CC"/>
                </a:solidFill>
                <a:latin typeface="DejaVu Sans"/>
              </a:defRPr>
            </a:pPr>
            <a:r>
              <a:t>Trupps, Feuer, Flutung, Stabilität</a:t>
            </a:r>
          </a:p>
        </p:txBody>
      </p:sp>
      <p:sp>
        <p:nvSpPr>
          <p:cNvPr id="30" name="TextBox 29"/>
          <p:cNvSpPr txBox="1"/>
          <p:nvPr/>
        </p:nvSpPr>
        <p:spPr>
          <a:xfrm>
            <a:off x="7048500" y="4869180"/>
            <a:ext cx="4640580" cy="245363"/>
          </a:xfrm>
          <a:prstGeom prst="rect">
            <a:avLst/>
          </a:prstGeom>
          <a:noFill/>
        </p:spPr>
        <p:txBody>
          <a:bodyPr wrap="none" lIns="0" rIns="0" tIns="0" bIns="0">
            <a:spAutoFit/>
          </a:bodyPr>
          <a:lstStyle/>
          <a:p>
            <a:pPr>
              <a:defRPr sz="1380" b="0">
                <a:solidFill>
                  <a:srgbClr val="B6C6CC"/>
                </a:solidFill>
                <a:latin typeface="DejaVu Sans"/>
              </a:defRPr>
            </a:pPr>
            <a:r>
              <a:t>Erhält die übrigen Fähigkeiten</a:t>
            </a:r>
          </a:p>
        </p:txBody>
      </p:sp>
      <p:sp>
        <p:nvSpPr>
          <p:cNvPr id="31" name="Rectangle 30"/>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Ein Stationswechsel ändert den Blick und die Eingabezuständigkeit, nicht die zugrunde liegende Welt.</a:t>
            </a:r>
          </a:p>
        </p:txBody>
      </p:sp>
      <p:sp>
        <p:nvSpPr>
          <p:cNvPr id="33" name="TextBox 32"/>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src/core/station.py · src/core/commands.py · src/core/game.py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BEDIENUNG &amp; KOOPERATION</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45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Autocrew automatisiert vorhandene Arbeitsplätze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Begrenzte Regeln auf Basis veröffentlichter Beobachtungen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Eigene Takte</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Stationen entscheiden alle 0,5</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bis 5 s; Reihenfolge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nächste Fälligkeit sind</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festgelegt.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Gleiche Grenzen</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Schaden und fehlende</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Beobachtungen begrenzen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Aktionen; keine allgemeine</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verborgene Zielkenntnis.</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Kooperation</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Eine fernbelegte Station setzt</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ihre Autocrew aus; andere</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Stationen können weiter</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automatisiert sein.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Autocrew nutzt das zuletzt veröffentlichte Lagebild und setzt Befehle für folgende Simulationsschritte.</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src/core/autocrew.py · src/core/game.py · tests/test_autocrew.py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BEDIENUNG &amp; KOOPERATION</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46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Remote Crew: Der Host bleibt die Autorität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Browser übertragen Bedienabsichten und erhalten erlaubte Projektionen</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Browser</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Stationsbedienung</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erzeugt einen</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versionierten,</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begrenzten Befehl.</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Transport</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Authentifizierung und</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Schema prüfen;</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abgetrennte Nachricht</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in eine begrenzte Queue</a:t>
            </a:r>
          </a:p>
        </p:txBody>
      </p:sp>
      <p:sp>
        <p:nvSpPr>
          <p:cNvPr id="22" name="TextBox 21"/>
          <p:cNvSpPr txBox="1"/>
          <p:nvPr/>
        </p:nvSpPr>
        <p:spPr>
          <a:xfrm>
            <a:off x="353187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legen.</a:t>
            </a:r>
          </a:p>
        </p:txBody>
      </p:sp>
      <p:sp>
        <p:nvSpPr>
          <p:cNvPr id="23" name="TextBox 22"/>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4" name="Rectangle 23"/>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6" name="TextBox 25"/>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Hauptthread</a:t>
            </a:r>
          </a:p>
        </p:txBody>
      </p:sp>
      <p:sp>
        <p:nvSpPr>
          <p:cNvPr id="27" name="TextBox 26"/>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Rolle, Lease, Epoche,</a:t>
            </a:r>
          </a:p>
        </p:txBody>
      </p:sp>
      <p:sp>
        <p:nvSpPr>
          <p:cNvPr id="28" name="TextBox 27"/>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Revision und</a:t>
            </a:r>
          </a:p>
        </p:txBody>
      </p:sp>
      <p:sp>
        <p:nvSpPr>
          <p:cNvPr id="29" name="TextBox 28"/>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Bereitschaft erneut</a:t>
            </a:r>
          </a:p>
        </p:txBody>
      </p:sp>
      <p:sp>
        <p:nvSpPr>
          <p:cNvPr id="30" name="TextBox 29"/>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prüfen; in stabiler</a:t>
            </a:r>
          </a:p>
        </p:txBody>
      </p:sp>
      <p:sp>
        <p:nvSpPr>
          <p:cNvPr id="31" name="TextBox 30"/>
          <p:cNvSpPr txBox="1"/>
          <p:nvPr/>
        </p:nvSpPr>
        <p:spPr>
          <a:xfrm>
            <a:off x="639318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Reihenfolge anwenden.</a:t>
            </a:r>
          </a:p>
        </p:txBody>
      </p:sp>
      <p:sp>
        <p:nvSpPr>
          <p:cNvPr id="32" name="TextBox 31"/>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3" name="Rectangle 32"/>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5" name="TextBox 34"/>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Rückkanal</a:t>
            </a:r>
          </a:p>
        </p:txBody>
      </p:sp>
      <p:sp>
        <p:nvSpPr>
          <p:cNvPr id="36" name="TextBox 35"/>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Beobachtungsbasierter</a:t>
            </a:r>
          </a:p>
        </p:txBody>
      </p:sp>
      <p:sp>
        <p:nvSpPr>
          <p:cNvPr id="37" name="TextBox 36"/>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Zustand, Ereignisse und</a:t>
            </a:r>
          </a:p>
        </p:txBody>
      </p:sp>
      <p:sp>
        <p:nvSpPr>
          <p:cNvPr id="38" name="TextBox 37"/>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freigegebenes Audio</a:t>
            </a:r>
          </a:p>
        </p:txBody>
      </p:sp>
      <p:sp>
        <p:nvSpPr>
          <p:cNvPr id="39" name="TextBox 38"/>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gehen an berechtigte</a:t>
            </a:r>
          </a:p>
        </p:txBody>
      </p:sp>
      <p:sp>
        <p:nvSpPr>
          <p:cNvPr id="40" name="TextBox 39"/>
          <p:cNvSpPr txBox="1"/>
          <p:nvPr/>
        </p:nvSpPr>
        <p:spPr>
          <a:xfrm>
            <a:off x="925449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Clients.</a:t>
            </a:r>
          </a:p>
        </p:txBody>
      </p:sp>
      <p:sp>
        <p:nvSpPr>
          <p:cNvPr id="41" name="Rectangle 40"/>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Protokoll v2, höchstens 12 Sitzungen und exklusive Stationsbelegung begrenzen den gemeinsamen Spielraum.</a:t>
            </a:r>
          </a:p>
        </p:txBody>
      </p:sp>
      <p:sp>
        <p:nvSpPr>
          <p:cNvPr id="43" name="TextBox 42"/>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src/commander/server.py · src/commander/local.py · src/commander/bridge.py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BEDIENUNG &amp; KOOPERATION</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47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Lokale und Browseransicht teilen Beobachtungen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Repository-Abbildung einer deutschen Remote-Crew-OPZ</a:t>
            </a:r>
          </a:p>
        </p:txBody>
      </p:sp>
      <p:pic>
        <p:nvPicPr>
          <p:cNvPr id="7" name="Picture 6" descr="commander-v2-de-opz-desktop.png"/>
          <p:cNvPicPr>
            <a:picLocks noChangeAspect="1"/>
          </p:cNvPicPr>
          <p:nvPr/>
        </p:nvPicPr>
        <p:blipFill>
          <a:blip r:embed="rId2"/>
          <a:stretch>
            <a:fillRect/>
          </a:stretch>
        </p:blipFill>
        <p:spPr>
          <a:xfrm>
            <a:off x="1432560" y="1813560"/>
            <a:ext cx="6659880" cy="3749039"/>
          </a:xfrm>
          <a:prstGeom prst="rect">
            <a:avLst/>
          </a:prstGeom>
        </p:spPr>
      </p:pic>
      <p:sp>
        <p:nvSpPr>
          <p:cNvPr id="8" name="Rectangle 7"/>
          <p:cNvSpPr/>
          <p:nvPr/>
        </p:nvSpPr>
        <p:spPr>
          <a:xfrm>
            <a:off x="9296400" y="1958340"/>
            <a:ext cx="2400300" cy="32537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48800" y="2156460"/>
            <a:ext cx="2186940" cy="202692"/>
          </a:xfrm>
          <a:prstGeom prst="rect">
            <a:avLst/>
          </a:prstGeom>
          <a:noFill/>
        </p:spPr>
        <p:txBody>
          <a:bodyPr wrap="none" lIns="0" rIns="0" tIns="0" bIns="0">
            <a:spAutoFit/>
          </a:bodyPr>
          <a:lstStyle/>
          <a:p>
            <a:pPr>
              <a:defRPr sz="1140" b="1">
                <a:solidFill>
                  <a:srgbClr val="54D1BA"/>
                </a:solidFill>
                <a:latin typeface="DejaVu Sans"/>
              </a:defRPr>
            </a:pPr>
            <a:r>
              <a:t>ANSICHTSBEISPIEL</a:t>
            </a:r>
          </a:p>
        </p:txBody>
      </p:sp>
      <p:sp>
        <p:nvSpPr>
          <p:cNvPr id="10" name="TextBox 9"/>
          <p:cNvSpPr txBox="1"/>
          <p:nvPr/>
        </p:nvSpPr>
        <p:spPr>
          <a:xfrm>
            <a:off x="9448800" y="2613660"/>
            <a:ext cx="2186940" cy="288036"/>
          </a:xfrm>
          <a:prstGeom prst="rect">
            <a:avLst/>
          </a:prstGeom>
          <a:noFill/>
        </p:spPr>
        <p:txBody>
          <a:bodyPr wrap="none" lIns="0" rIns="0" tIns="0" bIns="0">
            <a:spAutoFit/>
          </a:bodyPr>
          <a:lstStyle/>
          <a:p>
            <a:pPr>
              <a:defRPr sz="1620" b="0">
                <a:solidFill>
                  <a:srgbClr val="F3F5F3"/>
                </a:solidFill>
                <a:latin typeface="DejaVu Sans"/>
              </a:defRPr>
            </a:pPr>
            <a:r>
              <a:t>Mehrere Bediener</a:t>
            </a:r>
          </a:p>
        </p:txBody>
      </p:sp>
      <p:sp>
        <p:nvSpPr>
          <p:cNvPr id="11" name="TextBox 10"/>
          <p:cNvSpPr txBox="1"/>
          <p:nvPr/>
        </p:nvSpPr>
        <p:spPr>
          <a:xfrm>
            <a:off x="9448800" y="2901696"/>
            <a:ext cx="2186940" cy="288036"/>
          </a:xfrm>
          <a:prstGeom prst="rect">
            <a:avLst/>
          </a:prstGeom>
          <a:noFill/>
        </p:spPr>
        <p:txBody>
          <a:bodyPr wrap="none" lIns="0" rIns="0" tIns="0" bIns="0">
            <a:spAutoFit/>
          </a:bodyPr>
          <a:lstStyle/>
          <a:p>
            <a:pPr>
              <a:defRPr sz="1620" b="0">
                <a:solidFill>
                  <a:srgbClr val="F3F5F3"/>
                </a:solidFill>
                <a:latin typeface="DejaVu Sans"/>
              </a:defRPr>
            </a:pPr>
            <a:r>
              <a:t>arbeiten an</a:t>
            </a:r>
          </a:p>
        </p:txBody>
      </p:sp>
      <p:sp>
        <p:nvSpPr>
          <p:cNvPr id="12" name="TextBox 11"/>
          <p:cNvSpPr txBox="1"/>
          <p:nvPr/>
        </p:nvSpPr>
        <p:spPr>
          <a:xfrm>
            <a:off x="9448800" y="3189732"/>
            <a:ext cx="2186940" cy="288036"/>
          </a:xfrm>
          <a:prstGeom prst="rect">
            <a:avLst/>
          </a:prstGeom>
          <a:noFill/>
        </p:spPr>
        <p:txBody>
          <a:bodyPr wrap="none" lIns="0" rIns="0" tIns="0" bIns="0">
            <a:spAutoFit/>
          </a:bodyPr>
          <a:lstStyle/>
          <a:p>
            <a:pPr>
              <a:defRPr sz="1620" b="0">
                <a:solidFill>
                  <a:srgbClr val="F3F5F3"/>
                </a:solidFill>
                <a:latin typeface="DejaVu Sans"/>
              </a:defRPr>
            </a:pPr>
            <a:r>
              <a:t>derselben</a:t>
            </a:r>
          </a:p>
        </p:txBody>
      </p:sp>
      <p:sp>
        <p:nvSpPr>
          <p:cNvPr id="13" name="TextBox 12"/>
          <p:cNvSpPr txBox="1"/>
          <p:nvPr/>
        </p:nvSpPr>
        <p:spPr>
          <a:xfrm>
            <a:off x="9448800" y="3477768"/>
            <a:ext cx="2186940" cy="288036"/>
          </a:xfrm>
          <a:prstGeom prst="rect">
            <a:avLst/>
          </a:prstGeom>
          <a:noFill/>
        </p:spPr>
        <p:txBody>
          <a:bodyPr wrap="none" lIns="0" rIns="0" tIns="0" bIns="0">
            <a:spAutoFit/>
          </a:bodyPr>
          <a:lstStyle/>
          <a:p>
            <a:pPr>
              <a:defRPr sz="1620" b="0">
                <a:solidFill>
                  <a:srgbClr val="F3F5F3"/>
                </a:solidFill>
                <a:latin typeface="DejaVu Sans"/>
              </a:defRPr>
            </a:pPr>
            <a:r>
              <a:t>autoritativen</a:t>
            </a:r>
          </a:p>
        </p:txBody>
      </p:sp>
      <p:sp>
        <p:nvSpPr>
          <p:cNvPr id="14" name="TextBox 13"/>
          <p:cNvSpPr txBox="1"/>
          <p:nvPr/>
        </p:nvSpPr>
        <p:spPr>
          <a:xfrm>
            <a:off x="9448800" y="3765804"/>
            <a:ext cx="2186940" cy="288036"/>
          </a:xfrm>
          <a:prstGeom prst="rect">
            <a:avLst/>
          </a:prstGeom>
          <a:noFill/>
        </p:spPr>
        <p:txBody>
          <a:bodyPr wrap="none" lIns="0" rIns="0" tIns="0" bIns="0">
            <a:spAutoFit/>
          </a:bodyPr>
          <a:lstStyle/>
          <a:p>
            <a:pPr>
              <a:defRPr sz="1620" b="0">
                <a:solidFill>
                  <a:srgbClr val="F3F5F3"/>
                </a:solidFill>
                <a:latin typeface="DejaVu Sans"/>
              </a:defRPr>
            </a:pPr>
            <a:r>
              <a:t>Einsatzlage.</a:t>
            </a:r>
          </a:p>
        </p:txBody>
      </p:sp>
      <p:sp>
        <p:nvSpPr>
          <p:cNvPr id="15" name="Rectangle 14"/>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Netzwerkverzögerung kann Anzeigen altern lassen; daher wird beim Befehl die aktuelle Gültigkeit nochmals</a:t>
            </a:r>
          </a:p>
        </p:txBody>
      </p:sp>
      <p:sp>
        <p:nvSpPr>
          <p:cNvPr id="17" name="TextBox 16"/>
          <p:cNvSpPr txBox="1"/>
          <p:nvPr/>
        </p:nvSpPr>
        <p:spPr>
          <a:xfrm>
            <a:off x="495299" y="6187440"/>
            <a:ext cx="11216640" cy="266700"/>
          </a:xfrm>
          <a:prstGeom prst="rect">
            <a:avLst/>
          </a:prstGeom>
          <a:noFill/>
        </p:spPr>
        <p:txBody>
          <a:bodyPr wrap="none" lIns="0" rIns="0" tIns="0" bIns="0">
            <a:spAutoFit/>
          </a:bodyPr>
          <a:lstStyle/>
          <a:p>
            <a:pPr>
              <a:defRPr sz="1500" b="0">
                <a:solidFill>
                  <a:srgbClr val="F3F5F3"/>
                </a:solidFill>
                <a:latin typeface="DejaVu Sans"/>
              </a:defRPr>
            </a:pPr>
            <a:r>
              <a:t>geprüft.</a:t>
            </a:r>
          </a:p>
        </p:txBody>
      </p:sp>
      <p:sp>
        <p:nvSpPr>
          <p:cNvPr id="18" name="TextBox 17"/>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src/commander/projections.py · data/commander/app.js · docs/screenshots/commander-v2-de-opz-desktop.png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DATEN &amp; FORTSETZUNG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48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Live-Verkehr ist eine externe Eingangsgröße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Optionales AIS/ADS-B ergänzt die erzeugte Welt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Import</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AISStream-/OpenSky-Clients</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liefern Meldungen;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Koordinaten werden in den</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realen Sektor projiziert.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Integration</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Der Hauptthread</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erzeugt/aktualisiert Einheiten;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Relevanzradius, Alter und</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feste Obergrenzen begrenzen</a:t>
            </a:r>
          </a:p>
        </p:txBody>
      </p:sp>
      <p:sp>
        <p:nvSpPr>
          <p:cNvPr id="21" name="TextBox 20"/>
          <p:cNvSpPr txBox="1"/>
          <p:nvPr/>
        </p:nvSpPr>
        <p:spPr>
          <a:xfrm>
            <a:off x="448818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Last.</a:t>
            </a:r>
          </a:p>
        </p:txBody>
      </p:sp>
      <p:sp>
        <p:nvSpPr>
          <p:cNvPr id="22" name="Rectangle 21"/>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Folge</a:t>
            </a:r>
          </a:p>
        </p:txBody>
      </p:sp>
      <p:sp>
        <p:nvSpPr>
          <p:cNvPr id="25" name="TextBox 24"/>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Feedfolge und Wanduhr</a:t>
            </a:r>
          </a:p>
        </p:txBody>
      </p:sp>
      <p:sp>
        <p:nvSpPr>
          <p:cNvPr id="26" name="TextBox 25"/>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beeinflussen diesen Modus.</a:t>
            </a:r>
          </a:p>
        </p:txBody>
      </p:sp>
      <p:sp>
        <p:nvSpPr>
          <p:cNvPr id="27" name="TextBox 26"/>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Derselbe Seed allein reicht</a:t>
            </a:r>
          </a:p>
        </p:txBody>
      </p:sp>
      <p:sp>
        <p:nvSpPr>
          <p:cNvPr id="28" name="TextBox 27"/>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hier nicht zur Wiederholung.</a:t>
            </a:r>
          </a:p>
        </p:txBody>
      </p:sp>
      <p:sp>
        <p:nvSpPr>
          <p:cNvPr id="29" name="Rectangle 2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Aktuelle Obergrenzen: 60 Live-Schiffe und 40 Live-Flugzeuge; Feedpflege läuft vor dem Physik-Pausegate.</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src/network/live_traffic.py · src/network/ais_client.py · src/network/adsb_client.py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DATEN &amp; FORTSETZUNG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49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Determinismus braucht mehr als denselben Seed</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Zustand, Reihenfolge und Eingabefolge müssen übereinstimmen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Zufall</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Lokale Random-Streams mit</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gespeichertem Zustand; neue</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Physik nutzt stateless</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detrand-Schlüssel.</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Reihenfolge</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Stabile Iteration und</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Update-Reihenfolge; gleiche</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Eingaben und gleiche</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Zeitschrittfolge.</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Trennung</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Rendering, Audiogerät und</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reine Caches dürfen den</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taktischen Zustand nicht</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verändern.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Reproduzierbar ist die definierte Simulation mit ihren Eingängen – nicht eine beliebig andere Ausführung.</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src/core/detrand.py · src/core/save_schema.py · tests/test_determinism.py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DATEN &amp; FORTSETZUNG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50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Save v12 hält einen fortsetzbaren Weltzustand</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Laden ist ein validierter Zustandswechsel</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Was gespeichert wird</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Welt/Küste, Entitäten,</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Katalogsnapshots, RNG, IDs,</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Sensoren, Waffen und</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ausstehende Ereignisse.</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Wie geschrieben wird</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Temporäre Nachbardatei →</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flush/fsync → atomarer</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Austausch des</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Speicherplatzes.</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Wie geladen wird</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Exaktes Schema und Werte</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prüfen → Kandidatenzustand</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herstellen → erst dann</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übernehmen.</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Alte, neue oder unvollständige Save-Schemata werden abgelehnt; Netzwerkzugänge und Sitzungen bleiben</a:t>
            </a:r>
          </a:p>
        </p:txBody>
      </p:sp>
      <p:sp>
        <p:nvSpPr>
          <p:cNvPr id="30" name="TextBox 29"/>
          <p:cNvSpPr txBox="1"/>
          <p:nvPr/>
        </p:nvSpPr>
        <p:spPr>
          <a:xfrm>
            <a:off x="495299" y="6187440"/>
            <a:ext cx="11216640" cy="266700"/>
          </a:xfrm>
          <a:prstGeom prst="rect">
            <a:avLst/>
          </a:prstGeom>
          <a:noFill/>
        </p:spPr>
        <p:txBody>
          <a:bodyPr wrap="none" lIns="0" rIns="0" tIns="0" bIns="0">
            <a:spAutoFit/>
          </a:bodyPr>
          <a:lstStyle/>
          <a:p>
            <a:pPr>
              <a:defRPr sz="1500" b="0">
                <a:solidFill>
                  <a:srgbClr val="F3F5F3"/>
                </a:solidFill>
                <a:latin typeface="DejaVu Sans"/>
              </a:defRPr>
            </a:pPr>
            <a:r>
              <a:t>transient.</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src/core/save_schema.py · src/core/version.py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DATEN &amp; FORTSETZUNG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51 / 60</a:t>
            </a:r>
          </a:p>
        </p:txBody>
      </p:sp>
      <p:sp>
        <p:nvSpPr>
          <p:cNvPr id="5" name="TextBox 4"/>
          <p:cNvSpPr txBox="1"/>
          <p:nvPr/>
        </p:nvSpPr>
        <p:spPr>
          <a:xfrm>
            <a:off x="495299" y="678180"/>
            <a:ext cx="11292840" cy="458723"/>
          </a:xfrm>
          <a:prstGeom prst="rect">
            <a:avLst/>
          </a:prstGeom>
          <a:noFill/>
        </p:spPr>
        <p:txBody>
          <a:bodyPr wrap="none" lIns="0" rIns="0" tIns="0" bIns="0">
            <a:spAutoFit/>
          </a:bodyPr>
          <a:lstStyle/>
          <a:p>
            <a:pPr>
              <a:defRPr sz="2580" b="1">
                <a:solidFill>
                  <a:srgbClr val="F3F5F3"/>
                </a:solidFill>
                <a:latin typeface="DejaVu Sans"/>
              </a:defRPr>
            </a:pPr>
            <a:r>
              <a:t>Mission und Editor: Modellumfang ist nicht Laufzeitumfang</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Startbrücke akzeptiert nur explizit unterstützte Definitionen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Mission</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Szenario/Seed und</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Schwierigkeit bestimmen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Kräfte, Zeitlimit und Zielmodus</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sink oder survive.</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Eigene Mission</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Fester 500-NM-Raum, klares</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Wetter, unterstützte</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eingebaute</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U-Boot-/Oberflächenprofile.</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Bewusste Grenzen</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Keine Laufzeit für</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Editor-Events, Zufallsgruppen</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oder eigene Einheitenprofile;</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ungeeignete Definitionen</a:t>
            </a:r>
          </a:p>
        </p:txBody>
      </p:sp>
      <p:sp>
        <p:nvSpPr>
          <p:cNvPr id="28" name="TextBox 27"/>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werden abgewiesen.</a:t>
            </a:r>
          </a:p>
        </p:txBody>
      </p:sp>
      <p:sp>
        <p:nvSpPr>
          <p:cNvPr id="29" name="Rectangle 2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Editorvalidierung prüft eine Definition; erst die Laufzeitprüfung entscheidet, ob sie gespielt werden kann.</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src/core/mission.py · src/core/mission_definition.py · src/core/game.py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AUSGABE &amp; TECHNIK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52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Audio macht die akustische Lage hörbar</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Synthese und Analyse bleiben von der Geräteverfügbarkeit getrennt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Erzeugung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Beobachtete Quellen → tonale</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Linien und kontinuierliches</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Bandrauschen →</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Beam-Mischung.</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Auswertung</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250-ms-Blöcke bei 4096 Hz;</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FFT, Breitbandverlauf und</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Hüllkurvenanalyse liefern</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Anzeigen.</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Wiedergabe</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Hörmodus, Filter, Lautstärke</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und begrenzte Puffer;</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fehlendes Gerät führt zu Stille.</a:t>
            </a:r>
          </a:p>
        </p:txBody>
      </p:sp>
      <p:sp>
        <p:nvSpPr>
          <p:cNvPr id="27" name="Rectangle 26"/>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Im aktuellen Game-Pfad ist Sonarhören opt-in; es gibt keine dauernde Eigenschiff-Geräuschkulisse.</a:t>
            </a:r>
          </a:p>
        </p:txBody>
      </p:sp>
      <p:sp>
        <p:nvSpPr>
          <p:cNvPr id="29" name="TextBox 28"/>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src/audio/receiver.py · src/audio/hydroacoustics.py · src/audio/engine.py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AUSGABE &amp; TECHNIK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53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Technische Abhängigkeiten bleiben überschaubar</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Laufzeit, Ressourcen und Präsentationswerkzeug sind getrennt</a:t>
            </a:r>
          </a:p>
        </p:txBody>
      </p:sp>
      <p:sp>
        <p:nvSpPr>
          <p:cNvPr id="7" name="TextBox 6"/>
          <p:cNvSpPr txBox="1"/>
          <p:nvPr/>
        </p:nvSpPr>
        <p:spPr>
          <a:xfrm>
            <a:off x="609600" y="1889760"/>
            <a:ext cx="2034540" cy="202692"/>
          </a:xfrm>
          <a:prstGeom prst="rect">
            <a:avLst/>
          </a:prstGeom>
          <a:noFill/>
        </p:spPr>
        <p:txBody>
          <a:bodyPr wrap="none" lIns="0" rIns="0" tIns="0" bIns="0">
            <a:spAutoFit/>
          </a:bodyPr>
          <a:lstStyle/>
          <a:p>
            <a:pPr>
              <a:defRPr sz="1140" b="1">
                <a:solidFill>
                  <a:srgbClr val="54D1BA"/>
                </a:solidFill>
                <a:latin typeface="DejaVu Sans"/>
              </a:defRPr>
            </a:pPr>
            <a:r>
              <a:t>BEREICH</a:t>
            </a:r>
          </a:p>
        </p:txBody>
      </p:sp>
      <p:sp>
        <p:nvSpPr>
          <p:cNvPr id="8" name="TextBox 7"/>
          <p:cNvSpPr txBox="1"/>
          <p:nvPr/>
        </p:nvSpPr>
        <p:spPr>
          <a:xfrm>
            <a:off x="2895600" y="1889760"/>
            <a:ext cx="3901440" cy="202692"/>
          </a:xfrm>
          <a:prstGeom prst="rect">
            <a:avLst/>
          </a:prstGeom>
          <a:noFill/>
        </p:spPr>
        <p:txBody>
          <a:bodyPr wrap="none" lIns="0" rIns="0" tIns="0" bIns="0">
            <a:spAutoFit/>
          </a:bodyPr>
          <a:lstStyle/>
          <a:p>
            <a:pPr>
              <a:defRPr sz="1140" b="1">
                <a:solidFill>
                  <a:srgbClr val="54D1BA"/>
                </a:solidFill>
                <a:latin typeface="DejaVu Sans"/>
              </a:defRPr>
            </a:pPr>
            <a:r>
              <a:t>MODELL / INHALT</a:t>
            </a:r>
          </a:p>
        </p:txBody>
      </p:sp>
      <p:sp>
        <p:nvSpPr>
          <p:cNvPr id="9" name="TextBox 8"/>
          <p:cNvSpPr txBox="1"/>
          <p:nvPr/>
        </p:nvSpPr>
        <p:spPr>
          <a:xfrm>
            <a:off x="7048500" y="1889760"/>
            <a:ext cx="4663440" cy="202692"/>
          </a:xfrm>
          <a:prstGeom prst="rect">
            <a:avLst/>
          </a:prstGeom>
          <a:noFill/>
        </p:spPr>
        <p:txBody>
          <a:bodyPr wrap="none" lIns="0" rIns="0" tIns="0" bIns="0">
            <a:spAutoFit/>
          </a:bodyPr>
          <a:lstStyle/>
          <a:p>
            <a:pPr>
              <a:defRPr sz="1140" b="1">
                <a:solidFill>
                  <a:srgbClr val="54D1BA"/>
                </a:solidFill>
                <a:latin typeface="DejaVu Sans"/>
              </a:defRPr>
            </a:pPr>
            <a:r>
              <a:t>FOLGE / VERWENDUNG</a:t>
            </a:r>
          </a:p>
        </p:txBody>
      </p:sp>
      <p:sp>
        <p:nvSpPr>
          <p:cNvPr id="10" name="Rectangle 9"/>
          <p:cNvSpPr/>
          <p:nvPr/>
        </p:nvSpPr>
        <p:spPr>
          <a:xfrm>
            <a:off x="495299" y="224790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600" y="2339340"/>
            <a:ext cx="2011680" cy="245363"/>
          </a:xfrm>
          <a:prstGeom prst="rect">
            <a:avLst/>
          </a:prstGeom>
          <a:noFill/>
        </p:spPr>
        <p:txBody>
          <a:bodyPr wrap="none" lIns="0" rIns="0" tIns="0" bIns="0">
            <a:spAutoFit/>
          </a:bodyPr>
          <a:lstStyle/>
          <a:p>
            <a:pPr>
              <a:defRPr sz="1380" b="1">
                <a:solidFill>
                  <a:srgbClr val="F3F5F3"/>
                </a:solidFill>
                <a:latin typeface="DejaVu Sans"/>
              </a:defRPr>
            </a:pPr>
            <a:r>
              <a:t>Python ≥ 3.11</a:t>
            </a:r>
          </a:p>
        </p:txBody>
      </p:sp>
      <p:sp>
        <p:nvSpPr>
          <p:cNvPr id="12" name="TextBox 11"/>
          <p:cNvSpPr txBox="1"/>
          <p:nvPr/>
        </p:nvSpPr>
        <p:spPr>
          <a:xfrm>
            <a:off x="2895600" y="2339340"/>
            <a:ext cx="3878579" cy="245363"/>
          </a:xfrm>
          <a:prstGeom prst="rect">
            <a:avLst/>
          </a:prstGeom>
          <a:noFill/>
        </p:spPr>
        <p:txBody>
          <a:bodyPr wrap="none" lIns="0" rIns="0" tIns="0" bIns="0">
            <a:spAutoFit/>
          </a:bodyPr>
          <a:lstStyle/>
          <a:p>
            <a:pPr>
              <a:defRPr sz="1380" b="0">
                <a:solidFill>
                  <a:srgbClr val="B6C6CC"/>
                </a:solidFill>
                <a:latin typeface="DejaVu Sans"/>
              </a:defRPr>
            </a:pPr>
            <a:r>
              <a:t>Standardbibliothek</a:t>
            </a:r>
          </a:p>
        </p:txBody>
      </p:sp>
      <p:sp>
        <p:nvSpPr>
          <p:cNvPr id="13" name="TextBox 12"/>
          <p:cNvSpPr txBox="1"/>
          <p:nvPr/>
        </p:nvSpPr>
        <p:spPr>
          <a:xfrm>
            <a:off x="7048500" y="2339340"/>
            <a:ext cx="4640580" cy="245363"/>
          </a:xfrm>
          <a:prstGeom prst="rect">
            <a:avLst/>
          </a:prstGeom>
          <a:noFill/>
        </p:spPr>
        <p:txBody>
          <a:bodyPr wrap="none" lIns="0" rIns="0" tIns="0" bIns="0">
            <a:spAutoFit/>
          </a:bodyPr>
          <a:lstStyle/>
          <a:p>
            <a:pPr>
              <a:defRPr sz="1380" b="0">
                <a:solidFill>
                  <a:srgbClr val="B6C6CC"/>
                </a:solidFill>
                <a:latin typeface="DejaVu Sans"/>
              </a:defRPr>
            </a:pPr>
            <a:r>
              <a:t>Zustände, JSON, Threads, HTTP, Dateisystem</a:t>
            </a:r>
          </a:p>
        </p:txBody>
      </p:sp>
      <p:sp>
        <p:nvSpPr>
          <p:cNvPr id="14" name="Rectangle 13"/>
          <p:cNvSpPr/>
          <p:nvPr/>
        </p:nvSpPr>
        <p:spPr>
          <a:xfrm>
            <a:off x="495299" y="288036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600" y="2971800"/>
            <a:ext cx="2011680" cy="245363"/>
          </a:xfrm>
          <a:prstGeom prst="rect">
            <a:avLst/>
          </a:prstGeom>
          <a:noFill/>
        </p:spPr>
        <p:txBody>
          <a:bodyPr wrap="none" lIns="0" rIns="0" tIns="0" bIns="0">
            <a:spAutoFit/>
          </a:bodyPr>
          <a:lstStyle/>
          <a:p>
            <a:pPr>
              <a:defRPr sz="1380" b="1">
                <a:solidFill>
                  <a:srgbClr val="F3F5F3"/>
                </a:solidFill>
                <a:latin typeface="DejaVu Sans"/>
              </a:defRPr>
            </a:pPr>
            <a:r>
              <a:t>Pygame ≥ 2.6</a:t>
            </a:r>
          </a:p>
        </p:txBody>
      </p:sp>
      <p:sp>
        <p:nvSpPr>
          <p:cNvPr id="16" name="TextBox 15"/>
          <p:cNvSpPr txBox="1"/>
          <p:nvPr/>
        </p:nvSpPr>
        <p:spPr>
          <a:xfrm>
            <a:off x="2895600" y="2971800"/>
            <a:ext cx="3878579" cy="245363"/>
          </a:xfrm>
          <a:prstGeom prst="rect">
            <a:avLst/>
          </a:prstGeom>
          <a:noFill/>
        </p:spPr>
        <p:txBody>
          <a:bodyPr wrap="none" lIns="0" rIns="0" tIns="0" bIns="0">
            <a:spAutoFit/>
          </a:bodyPr>
          <a:lstStyle/>
          <a:p>
            <a:pPr>
              <a:defRPr sz="1380" b="0">
                <a:solidFill>
                  <a:srgbClr val="B6C6CC"/>
                </a:solidFill>
                <a:latin typeface="DejaVu Sans"/>
              </a:defRPr>
            </a:pPr>
            <a:r>
              <a:t>Spiel-Laufzeit</a:t>
            </a:r>
          </a:p>
        </p:txBody>
      </p:sp>
      <p:sp>
        <p:nvSpPr>
          <p:cNvPr id="17" name="TextBox 16"/>
          <p:cNvSpPr txBox="1"/>
          <p:nvPr/>
        </p:nvSpPr>
        <p:spPr>
          <a:xfrm>
            <a:off x="7048500" y="2971800"/>
            <a:ext cx="4640580" cy="245363"/>
          </a:xfrm>
          <a:prstGeom prst="rect">
            <a:avLst/>
          </a:prstGeom>
          <a:noFill/>
        </p:spPr>
        <p:txBody>
          <a:bodyPr wrap="none" lIns="0" rIns="0" tIns="0" bIns="0">
            <a:spAutoFit/>
          </a:bodyPr>
          <a:lstStyle/>
          <a:p>
            <a:pPr>
              <a:defRPr sz="1380" b="0">
                <a:solidFill>
                  <a:srgbClr val="B6C6CC"/>
                </a:solidFill>
                <a:latin typeface="DejaVu Sans"/>
              </a:defRPr>
            </a:pPr>
            <a:r>
              <a:t>Fenster, Eingaben, Zeichnen und Mixer</a:t>
            </a:r>
          </a:p>
        </p:txBody>
      </p:sp>
      <p:sp>
        <p:nvSpPr>
          <p:cNvPr id="18" name="Rectangle 17"/>
          <p:cNvSpPr/>
          <p:nvPr/>
        </p:nvSpPr>
        <p:spPr>
          <a:xfrm>
            <a:off x="495299" y="351282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600" y="3604260"/>
            <a:ext cx="2011680" cy="245363"/>
          </a:xfrm>
          <a:prstGeom prst="rect">
            <a:avLst/>
          </a:prstGeom>
          <a:noFill/>
        </p:spPr>
        <p:txBody>
          <a:bodyPr wrap="none" lIns="0" rIns="0" tIns="0" bIns="0">
            <a:spAutoFit/>
          </a:bodyPr>
          <a:lstStyle/>
          <a:p>
            <a:pPr>
              <a:defRPr sz="1380" b="1">
                <a:solidFill>
                  <a:srgbClr val="F3F5F3"/>
                </a:solidFill>
                <a:latin typeface="DejaVu Sans"/>
              </a:defRPr>
            </a:pPr>
            <a:r>
              <a:t>NumPy ≥ 2.0</a:t>
            </a:r>
          </a:p>
        </p:txBody>
      </p:sp>
      <p:sp>
        <p:nvSpPr>
          <p:cNvPr id="20" name="TextBox 19"/>
          <p:cNvSpPr txBox="1"/>
          <p:nvPr/>
        </p:nvSpPr>
        <p:spPr>
          <a:xfrm>
            <a:off x="2895600" y="3604260"/>
            <a:ext cx="3878579" cy="245363"/>
          </a:xfrm>
          <a:prstGeom prst="rect">
            <a:avLst/>
          </a:prstGeom>
          <a:noFill/>
        </p:spPr>
        <p:txBody>
          <a:bodyPr wrap="none" lIns="0" rIns="0" tIns="0" bIns="0">
            <a:spAutoFit/>
          </a:bodyPr>
          <a:lstStyle/>
          <a:p>
            <a:pPr>
              <a:defRPr sz="1380" b="0">
                <a:solidFill>
                  <a:srgbClr val="B6C6CC"/>
                </a:solidFill>
                <a:latin typeface="DejaVu Sans"/>
              </a:defRPr>
            </a:pPr>
            <a:r>
              <a:t>Numerische Berechnung</a:t>
            </a:r>
          </a:p>
        </p:txBody>
      </p:sp>
      <p:sp>
        <p:nvSpPr>
          <p:cNvPr id="21" name="TextBox 20"/>
          <p:cNvSpPr txBox="1"/>
          <p:nvPr/>
        </p:nvSpPr>
        <p:spPr>
          <a:xfrm>
            <a:off x="7048500" y="3604260"/>
            <a:ext cx="4640580" cy="245363"/>
          </a:xfrm>
          <a:prstGeom prst="rect">
            <a:avLst/>
          </a:prstGeom>
          <a:noFill/>
        </p:spPr>
        <p:txBody>
          <a:bodyPr wrap="none" lIns="0" rIns="0" tIns="0" bIns="0">
            <a:spAutoFit/>
          </a:bodyPr>
          <a:lstStyle/>
          <a:p>
            <a:pPr>
              <a:defRPr sz="1380" b="0">
                <a:solidFill>
                  <a:srgbClr val="B6C6CC"/>
                </a:solidFill>
                <a:latin typeface="DejaVu Sans"/>
              </a:defRPr>
            </a:pPr>
            <a:r>
              <a:t>Signalverarbeitung und vektorisierte Modelle</a:t>
            </a:r>
          </a:p>
        </p:txBody>
      </p:sp>
      <p:sp>
        <p:nvSpPr>
          <p:cNvPr id="22" name="Rectangle 21"/>
          <p:cNvSpPr/>
          <p:nvPr/>
        </p:nvSpPr>
        <p:spPr>
          <a:xfrm>
            <a:off x="495299" y="414528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600" y="4236720"/>
            <a:ext cx="2011680" cy="245363"/>
          </a:xfrm>
          <a:prstGeom prst="rect">
            <a:avLst/>
          </a:prstGeom>
          <a:noFill/>
        </p:spPr>
        <p:txBody>
          <a:bodyPr wrap="none" lIns="0" rIns="0" tIns="0" bIns="0">
            <a:spAutoFit/>
          </a:bodyPr>
          <a:lstStyle/>
          <a:p>
            <a:pPr>
              <a:defRPr sz="1380" b="1">
                <a:solidFill>
                  <a:srgbClr val="F3F5F3"/>
                </a:solidFill>
                <a:latin typeface="DejaVu Sans"/>
              </a:defRPr>
            </a:pPr>
            <a:r>
              <a:t>websockets ≥ 12</a:t>
            </a:r>
          </a:p>
        </p:txBody>
      </p:sp>
      <p:sp>
        <p:nvSpPr>
          <p:cNvPr id="24" name="TextBox 23"/>
          <p:cNvSpPr txBox="1"/>
          <p:nvPr/>
        </p:nvSpPr>
        <p:spPr>
          <a:xfrm>
            <a:off x="2895600" y="4236720"/>
            <a:ext cx="3878579" cy="245363"/>
          </a:xfrm>
          <a:prstGeom prst="rect">
            <a:avLst/>
          </a:prstGeom>
          <a:noFill/>
        </p:spPr>
        <p:txBody>
          <a:bodyPr wrap="none" lIns="0" rIns="0" tIns="0" bIns="0">
            <a:spAutoFit/>
          </a:bodyPr>
          <a:lstStyle/>
          <a:p>
            <a:pPr>
              <a:defRPr sz="1380" b="0">
                <a:solidFill>
                  <a:srgbClr val="B6C6CC"/>
                </a:solidFill>
                <a:latin typeface="DejaVu Sans"/>
              </a:defRPr>
            </a:pPr>
            <a:r>
              <a:t>Netzwerkabhängigkeit</a:t>
            </a:r>
          </a:p>
        </p:txBody>
      </p:sp>
      <p:sp>
        <p:nvSpPr>
          <p:cNvPr id="25" name="TextBox 24"/>
          <p:cNvSpPr txBox="1"/>
          <p:nvPr/>
        </p:nvSpPr>
        <p:spPr>
          <a:xfrm>
            <a:off x="7048500" y="4236720"/>
            <a:ext cx="4640580" cy="245363"/>
          </a:xfrm>
          <a:prstGeom prst="rect">
            <a:avLst/>
          </a:prstGeom>
          <a:noFill/>
        </p:spPr>
        <p:txBody>
          <a:bodyPr wrap="none" lIns="0" rIns="0" tIns="0" bIns="0">
            <a:spAutoFit/>
          </a:bodyPr>
          <a:lstStyle/>
          <a:p>
            <a:pPr>
              <a:defRPr sz="1380" b="0">
                <a:solidFill>
                  <a:srgbClr val="B6C6CC"/>
                </a:solidFill>
                <a:latin typeface="DejaVu Sans"/>
              </a:defRPr>
            </a:pPr>
            <a:r>
              <a:t>Unterstützung des Live-Datenzugangs</a:t>
            </a:r>
          </a:p>
        </p:txBody>
      </p:sp>
      <p:sp>
        <p:nvSpPr>
          <p:cNvPr id="26" name="Rectangle 25"/>
          <p:cNvSpPr/>
          <p:nvPr/>
        </p:nvSpPr>
        <p:spPr>
          <a:xfrm>
            <a:off x="495299" y="4777740"/>
            <a:ext cx="11201400" cy="57912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600" y="4869180"/>
            <a:ext cx="2011680" cy="245363"/>
          </a:xfrm>
          <a:prstGeom prst="rect">
            <a:avLst/>
          </a:prstGeom>
          <a:noFill/>
        </p:spPr>
        <p:txBody>
          <a:bodyPr wrap="none" lIns="0" rIns="0" tIns="0" bIns="0">
            <a:spAutoFit/>
          </a:bodyPr>
          <a:lstStyle/>
          <a:p>
            <a:pPr>
              <a:defRPr sz="1380" b="1">
                <a:solidFill>
                  <a:srgbClr val="F3F5F3"/>
                </a:solidFill>
                <a:latin typeface="DejaVu Sans"/>
              </a:defRPr>
            </a:pPr>
            <a:r>
              <a:t>Paketressourcen</a:t>
            </a:r>
          </a:p>
        </p:txBody>
      </p:sp>
      <p:sp>
        <p:nvSpPr>
          <p:cNvPr id="28" name="TextBox 27"/>
          <p:cNvSpPr txBox="1"/>
          <p:nvPr/>
        </p:nvSpPr>
        <p:spPr>
          <a:xfrm>
            <a:off x="2895600" y="4869180"/>
            <a:ext cx="3878579" cy="245363"/>
          </a:xfrm>
          <a:prstGeom prst="rect">
            <a:avLst/>
          </a:prstGeom>
          <a:noFill/>
        </p:spPr>
        <p:txBody>
          <a:bodyPr wrap="none" lIns="0" rIns="0" tIns="0" bIns="0">
            <a:spAutoFit/>
          </a:bodyPr>
          <a:lstStyle/>
          <a:p>
            <a:pPr>
              <a:defRPr sz="1380" b="0">
                <a:solidFill>
                  <a:srgbClr val="B6C6CC"/>
                </a:solidFill>
                <a:latin typeface="DejaVu Sans"/>
              </a:defRPr>
            </a:pPr>
            <a:r>
              <a:t>JSON / Gzip / Browserdateien</a:t>
            </a:r>
          </a:p>
        </p:txBody>
      </p:sp>
      <p:sp>
        <p:nvSpPr>
          <p:cNvPr id="29" name="TextBox 28"/>
          <p:cNvSpPr txBox="1"/>
          <p:nvPr/>
        </p:nvSpPr>
        <p:spPr>
          <a:xfrm>
            <a:off x="7048500" y="4869180"/>
            <a:ext cx="4640580" cy="245363"/>
          </a:xfrm>
          <a:prstGeom prst="rect">
            <a:avLst/>
          </a:prstGeom>
          <a:noFill/>
        </p:spPr>
        <p:txBody>
          <a:bodyPr wrap="none" lIns="0" rIns="0" tIns="0" bIns="0">
            <a:spAutoFit/>
          </a:bodyPr>
          <a:lstStyle/>
          <a:p>
            <a:pPr>
              <a:defRPr sz="1380" b="0">
                <a:solidFill>
                  <a:srgbClr val="B6C6CC"/>
                </a:solidFill>
                <a:latin typeface="DejaVu Sans"/>
              </a:defRPr>
            </a:pPr>
            <a:r>
              <a:t>Kataloge, Karten, Loadouts, Sprachen und UI</a:t>
            </a:r>
          </a:p>
        </p:txBody>
      </p:sp>
      <p:sp>
        <p:nvSpPr>
          <p:cNvPr id="30" name="Rectangle 2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python-pptx, Pillow und ReportLab erzeugen diese Präsentation; sie sind keine neuen Spielabhängigkeiten.</a:t>
            </a:r>
          </a:p>
        </p:txBody>
      </p:sp>
      <p:sp>
        <p:nvSpPr>
          <p:cNvPr id="32" name="TextBox 3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pyproject.toml · requirements.txt · MANIFEST.in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AUSGABE &amp; TECHNIK</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54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Leistung wird durch Begrenzung gewonnen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uConsole: 1280 × 720 als Zielarbeitsfläche, 60 FPS als Zielrate</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Rechenarbeit dosieren</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Sensorintervalle, räumliche</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Vorauswahl, vektorisierte</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Signal-/Strahlrechnung und</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begrenzte Caches.</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Zustand begrenzen</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Tracks, Historien, Wolken,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Waffen, Netzwerkqueues und</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Live-Einheiten haben</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Obergrenzen.</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Ausgabe entkoppeln</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Aspektgerechtes Letterboxing,</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beobachtungsbasierte</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Projektionen, begrenzte</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Audio-/Webarbeit.</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Zielwerte sind keine Hardwaremessung; Thermik, Latenz und maximale Clientlast müssen auf dem Gerät geprüft</a:t>
            </a:r>
          </a:p>
        </p:txBody>
      </p:sp>
      <p:sp>
        <p:nvSpPr>
          <p:cNvPr id="30" name="TextBox 29"/>
          <p:cNvSpPr txBox="1"/>
          <p:nvPr/>
        </p:nvSpPr>
        <p:spPr>
          <a:xfrm>
            <a:off x="495299" y="6187440"/>
            <a:ext cx="11216640" cy="266700"/>
          </a:xfrm>
          <a:prstGeom prst="rect">
            <a:avLst/>
          </a:prstGeom>
          <a:noFill/>
        </p:spPr>
        <p:txBody>
          <a:bodyPr wrap="none" lIns="0" rIns="0" tIns="0" bIns="0">
            <a:spAutoFit/>
          </a:bodyPr>
          <a:lstStyle/>
          <a:p>
            <a:pPr>
              <a:defRPr sz="1500" b="0">
                <a:solidFill>
                  <a:srgbClr val="F3F5F3"/>
                </a:solidFill>
                <a:latin typeface="DejaVu Sans"/>
              </a:defRPr>
            </a:pPr>
            <a:r>
              <a:t>werden.</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src/core/config.py · src/core/game.py · src/sonar/raytrace.py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ZUSAMMENSPIEL</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55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Beispiel: Ein leiser Kontakt wird bekämpfbar</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Illustrativer Ablauf aus implementierten Bausteinen</a:t>
            </a:r>
          </a:p>
        </p:txBody>
      </p:sp>
      <p:sp>
        <p:nvSpPr>
          <p:cNvPr id="7" name="Rectangle 6"/>
          <p:cNvSpPr/>
          <p:nvPr/>
        </p:nvSpPr>
        <p:spPr>
          <a:xfrm>
            <a:off x="495299"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056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01</a:t>
            </a:r>
          </a:p>
        </p:txBody>
      </p:sp>
      <p:sp>
        <p:nvSpPr>
          <p:cNvPr id="9" name="TextBox 8"/>
          <p:cNvSpPr txBox="1"/>
          <p:nvPr/>
        </p:nvSpPr>
        <p:spPr>
          <a:xfrm>
            <a:off x="67056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Suche</a:t>
            </a:r>
          </a:p>
        </p:txBody>
      </p:sp>
      <p:sp>
        <p:nvSpPr>
          <p:cNvPr id="10" name="TextBox 9"/>
          <p:cNvSpPr txBox="1"/>
          <p:nvPr/>
        </p:nvSpPr>
        <p:spPr>
          <a:xfrm>
            <a:off x="67056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Fahrt reduzieren →</a:t>
            </a:r>
          </a:p>
        </p:txBody>
      </p:sp>
      <p:sp>
        <p:nvSpPr>
          <p:cNvPr id="11" name="TextBox 10"/>
          <p:cNvSpPr txBox="1"/>
          <p:nvPr/>
        </p:nvSpPr>
        <p:spPr>
          <a:xfrm>
            <a:off x="67056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weniger Eigenlärm →</a:t>
            </a:r>
          </a:p>
        </p:txBody>
      </p:sp>
      <p:sp>
        <p:nvSpPr>
          <p:cNvPr id="12" name="TextBox 11"/>
          <p:cNvSpPr txBox="1"/>
          <p:nvPr/>
        </p:nvSpPr>
        <p:spPr>
          <a:xfrm>
            <a:off x="67056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passiver Kontakt und</a:t>
            </a:r>
          </a:p>
        </p:txBody>
      </p:sp>
      <p:sp>
        <p:nvSpPr>
          <p:cNvPr id="13" name="TextBox 12"/>
          <p:cNvSpPr txBox="1"/>
          <p:nvPr/>
        </p:nvSpPr>
        <p:spPr>
          <a:xfrm>
            <a:off x="67056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Peilungshistorie.</a:t>
            </a:r>
          </a:p>
        </p:txBody>
      </p:sp>
      <p:sp>
        <p:nvSpPr>
          <p:cNvPr id="14" name="TextBox 13"/>
          <p:cNvSpPr txBox="1"/>
          <p:nvPr/>
        </p:nvSpPr>
        <p:spPr>
          <a:xfrm>
            <a:off x="312801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15" name="Rectangle 14"/>
          <p:cNvSpPr/>
          <p:nvPr/>
        </p:nvSpPr>
        <p:spPr>
          <a:xfrm>
            <a:off x="335661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187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02</a:t>
            </a:r>
          </a:p>
        </p:txBody>
      </p:sp>
      <p:sp>
        <p:nvSpPr>
          <p:cNvPr id="17" name="TextBox 16"/>
          <p:cNvSpPr txBox="1"/>
          <p:nvPr/>
        </p:nvSpPr>
        <p:spPr>
          <a:xfrm>
            <a:off x="353187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Geometrie</a:t>
            </a:r>
          </a:p>
        </p:txBody>
      </p:sp>
      <p:sp>
        <p:nvSpPr>
          <p:cNvPr id="18" name="TextBox 17"/>
          <p:cNvSpPr txBox="1"/>
          <p:nvPr/>
        </p:nvSpPr>
        <p:spPr>
          <a:xfrm>
            <a:off x="353187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Manöver oder</a:t>
            </a:r>
          </a:p>
        </p:txBody>
      </p:sp>
      <p:sp>
        <p:nvSpPr>
          <p:cNvPr id="19" name="TextBox 18"/>
          <p:cNvSpPr txBox="1"/>
          <p:nvPr/>
        </p:nvSpPr>
        <p:spPr>
          <a:xfrm>
            <a:off x="353187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abgesetzter Sensor →</a:t>
            </a:r>
          </a:p>
        </p:txBody>
      </p:sp>
      <p:sp>
        <p:nvSpPr>
          <p:cNvPr id="20" name="TextBox 19"/>
          <p:cNvSpPr txBox="1"/>
          <p:nvPr/>
        </p:nvSpPr>
        <p:spPr>
          <a:xfrm>
            <a:off x="353187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neue Beobachterlage →</a:t>
            </a:r>
          </a:p>
        </p:txBody>
      </p:sp>
      <p:sp>
        <p:nvSpPr>
          <p:cNvPr id="21" name="TextBox 20"/>
          <p:cNvSpPr txBox="1"/>
          <p:nvPr/>
        </p:nvSpPr>
        <p:spPr>
          <a:xfrm>
            <a:off x="353187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belastbarere TMA.</a:t>
            </a:r>
          </a:p>
        </p:txBody>
      </p:sp>
      <p:sp>
        <p:nvSpPr>
          <p:cNvPr id="22" name="TextBox 21"/>
          <p:cNvSpPr txBox="1"/>
          <p:nvPr/>
        </p:nvSpPr>
        <p:spPr>
          <a:xfrm>
            <a:off x="598932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23" name="Rectangle 22"/>
          <p:cNvSpPr/>
          <p:nvPr/>
        </p:nvSpPr>
        <p:spPr>
          <a:xfrm>
            <a:off x="621792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318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03</a:t>
            </a:r>
          </a:p>
        </p:txBody>
      </p:sp>
      <p:sp>
        <p:nvSpPr>
          <p:cNvPr id="25" name="TextBox 24"/>
          <p:cNvSpPr txBox="1"/>
          <p:nvPr/>
        </p:nvSpPr>
        <p:spPr>
          <a:xfrm>
            <a:off x="639318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Freigabe</a:t>
            </a:r>
          </a:p>
        </p:txBody>
      </p:sp>
      <p:sp>
        <p:nvSpPr>
          <p:cNvPr id="26" name="TextBox 25"/>
          <p:cNvSpPr txBox="1"/>
          <p:nvPr/>
        </p:nvSpPr>
        <p:spPr>
          <a:xfrm>
            <a:off x="639318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Kontakt bewerten →</a:t>
            </a:r>
          </a:p>
        </p:txBody>
      </p:sp>
      <p:sp>
        <p:nvSpPr>
          <p:cNvPr id="27" name="TextBox 26"/>
          <p:cNvSpPr txBox="1"/>
          <p:nvPr/>
        </p:nvSpPr>
        <p:spPr>
          <a:xfrm>
            <a:off x="639318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Fixfrische, ROE, Vorräte</a:t>
            </a:r>
          </a:p>
        </p:txBody>
      </p:sp>
      <p:sp>
        <p:nvSpPr>
          <p:cNvPr id="28" name="TextBox 27"/>
          <p:cNvSpPr txBox="1"/>
          <p:nvPr/>
        </p:nvSpPr>
        <p:spPr>
          <a:xfrm>
            <a:off x="639318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und Hülle prüfen →</a:t>
            </a:r>
          </a:p>
        </p:txBody>
      </p:sp>
      <p:sp>
        <p:nvSpPr>
          <p:cNvPr id="29" name="TextBox 28"/>
          <p:cNvSpPr txBox="1"/>
          <p:nvPr/>
        </p:nvSpPr>
        <p:spPr>
          <a:xfrm>
            <a:off x="639318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Startdatum setzen.</a:t>
            </a:r>
          </a:p>
        </p:txBody>
      </p:sp>
      <p:sp>
        <p:nvSpPr>
          <p:cNvPr id="30" name="TextBox 29"/>
          <p:cNvSpPr txBox="1"/>
          <p:nvPr/>
        </p:nvSpPr>
        <p:spPr>
          <a:xfrm>
            <a:off x="8850630" y="3162300"/>
            <a:ext cx="320040" cy="288036"/>
          </a:xfrm>
          <a:prstGeom prst="rect">
            <a:avLst/>
          </a:prstGeom>
          <a:noFill/>
        </p:spPr>
        <p:txBody>
          <a:bodyPr wrap="none" lIns="0" rIns="0" tIns="0" bIns="0">
            <a:spAutoFit/>
          </a:bodyPr>
          <a:lstStyle/>
          <a:p>
            <a:pPr>
              <a:defRPr sz="1620" b="0">
                <a:solidFill>
                  <a:srgbClr val="F5C66C"/>
                </a:solidFill>
                <a:latin typeface="DejaVu Sans"/>
              </a:defRPr>
            </a:pPr>
            <a:r>
              <a:t>→</a:t>
            </a:r>
          </a:p>
        </p:txBody>
      </p:sp>
      <p:sp>
        <p:nvSpPr>
          <p:cNvPr id="31" name="Rectangle 30"/>
          <p:cNvSpPr/>
          <p:nvPr/>
        </p:nvSpPr>
        <p:spPr>
          <a:xfrm>
            <a:off x="9079230" y="2095499"/>
            <a:ext cx="2617470" cy="335280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4490" y="2247900"/>
            <a:ext cx="2358390" cy="490727"/>
          </a:xfrm>
          <a:prstGeom prst="rect">
            <a:avLst/>
          </a:prstGeom>
          <a:noFill/>
        </p:spPr>
        <p:txBody>
          <a:bodyPr wrap="none" lIns="0" rIns="0" tIns="0" bIns="0">
            <a:spAutoFit/>
          </a:bodyPr>
          <a:lstStyle/>
          <a:p>
            <a:pPr>
              <a:defRPr sz="2760" b="1">
                <a:solidFill>
                  <a:srgbClr val="54D1BA"/>
                </a:solidFill>
                <a:latin typeface="DejaVu Sans"/>
              </a:defRPr>
            </a:pPr>
            <a:r>
              <a:t>04</a:t>
            </a:r>
          </a:p>
        </p:txBody>
      </p:sp>
      <p:sp>
        <p:nvSpPr>
          <p:cNvPr id="33" name="TextBox 32"/>
          <p:cNvSpPr txBox="1"/>
          <p:nvPr/>
        </p:nvSpPr>
        <p:spPr>
          <a:xfrm>
            <a:off x="9254490" y="2857500"/>
            <a:ext cx="2358390" cy="298703"/>
          </a:xfrm>
          <a:prstGeom prst="rect">
            <a:avLst/>
          </a:prstGeom>
          <a:noFill/>
        </p:spPr>
        <p:txBody>
          <a:bodyPr wrap="none" lIns="0" rIns="0" tIns="0" bIns="0">
            <a:spAutoFit/>
          </a:bodyPr>
          <a:lstStyle/>
          <a:p>
            <a:pPr>
              <a:defRPr sz="1680" b="1">
                <a:solidFill>
                  <a:srgbClr val="F3F5F3"/>
                </a:solidFill>
                <a:latin typeface="DejaVu Sans"/>
              </a:defRPr>
            </a:pPr>
            <a:r>
              <a:t>Gegenwirkung</a:t>
            </a:r>
          </a:p>
        </p:txBody>
      </p:sp>
      <p:sp>
        <p:nvSpPr>
          <p:cNvPr id="34" name="TextBox 33"/>
          <p:cNvSpPr txBox="1"/>
          <p:nvPr/>
        </p:nvSpPr>
        <p:spPr>
          <a:xfrm>
            <a:off x="9254490" y="3528060"/>
            <a:ext cx="2358390" cy="256031"/>
          </a:xfrm>
          <a:prstGeom prst="rect">
            <a:avLst/>
          </a:prstGeom>
          <a:noFill/>
        </p:spPr>
        <p:txBody>
          <a:bodyPr wrap="none" lIns="0" rIns="0" tIns="0" bIns="0">
            <a:spAutoFit/>
          </a:bodyPr>
          <a:lstStyle/>
          <a:p>
            <a:pPr>
              <a:defRPr sz="1439" b="0">
                <a:solidFill>
                  <a:srgbClr val="B6C6CC"/>
                </a:solidFill>
                <a:latin typeface="DejaVu Sans"/>
              </a:defRPr>
            </a:pPr>
            <a:r>
              <a:t>Gegner bemerkt Gefahr</a:t>
            </a:r>
          </a:p>
        </p:txBody>
      </p:sp>
      <p:sp>
        <p:nvSpPr>
          <p:cNvPr id="35" name="TextBox 34"/>
          <p:cNvSpPr txBox="1"/>
          <p:nvPr/>
        </p:nvSpPr>
        <p:spPr>
          <a:xfrm>
            <a:off x="9254490" y="3784092"/>
            <a:ext cx="2358390" cy="256031"/>
          </a:xfrm>
          <a:prstGeom prst="rect">
            <a:avLst/>
          </a:prstGeom>
          <a:noFill/>
        </p:spPr>
        <p:txBody>
          <a:bodyPr wrap="none" lIns="0" rIns="0" tIns="0" bIns="0">
            <a:spAutoFit/>
          </a:bodyPr>
          <a:lstStyle/>
          <a:p>
            <a:pPr>
              <a:defRPr sz="1439" b="0">
                <a:solidFill>
                  <a:srgbClr val="B6C6CC"/>
                </a:solidFill>
                <a:latin typeface="DejaVu Sans"/>
              </a:defRPr>
            </a:pPr>
            <a:r>
              <a:t>→</a:t>
            </a:r>
          </a:p>
        </p:txBody>
      </p:sp>
      <p:sp>
        <p:nvSpPr>
          <p:cNvPr id="36" name="TextBox 35"/>
          <p:cNvSpPr txBox="1"/>
          <p:nvPr/>
        </p:nvSpPr>
        <p:spPr>
          <a:xfrm>
            <a:off x="9254490" y="4040124"/>
            <a:ext cx="2358390" cy="256031"/>
          </a:xfrm>
          <a:prstGeom prst="rect">
            <a:avLst/>
          </a:prstGeom>
          <a:noFill/>
        </p:spPr>
        <p:txBody>
          <a:bodyPr wrap="none" lIns="0" rIns="0" tIns="0" bIns="0">
            <a:spAutoFit/>
          </a:bodyPr>
          <a:lstStyle/>
          <a:p>
            <a:pPr>
              <a:defRPr sz="1439" b="0">
                <a:solidFill>
                  <a:srgbClr val="B6C6CC"/>
                </a:solidFill>
                <a:latin typeface="DejaVu Sans"/>
              </a:defRPr>
            </a:pPr>
            <a:r>
              <a:t>Ausweichen/Täuschkörper</a:t>
            </a:r>
          </a:p>
        </p:txBody>
      </p:sp>
      <p:sp>
        <p:nvSpPr>
          <p:cNvPr id="37" name="TextBox 36"/>
          <p:cNvSpPr txBox="1"/>
          <p:nvPr/>
        </p:nvSpPr>
        <p:spPr>
          <a:xfrm>
            <a:off x="9254490" y="4296156"/>
            <a:ext cx="2358390" cy="256031"/>
          </a:xfrm>
          <a:prstGeom prst="rect">
            <a:avLst/>
          </a:prstGeom>
          <a:noFill/>
        </p:spPr>
        <p:txBody>
          <a:bodyPr wrap="none" lIns="0" rIns="0" tIns="0" bIns="0">
            <a:spAutoFit/>
          </a:bodyPr>
          <a:lstStyle/>
          <a:p>
            <a:pPr>
              <a:defRPr sz="1439" b="0">
                <a:solidFill>
                  <a:srgbClr val="B6C6CC"/>
                </a:solidFill>
                <a:latin typeface="DejaVu Sans"/>
              </a:defRPr>
            </a:pPr>
            <a:r>
              <a:t>→ Suchkopf entscheidet</a:t>
            </a:r>
          </a:p>
        </p:txBody>
      </p:sp>
      <p:sp>
        <p:nvSpPr>
          <p:cNvPr id="38" name="TextBox 37"/>
          <p:cNvSpPr txBox="1"/>
          <p:nvPr/>
        </p:nvSpPr>
        <p:spPr>
          <a:xfrm>
            <a:off x="9254490" y="4552188"/>
            <a:ext cx="2358390" cy="256031"/>
          </a:xfrm>
          <a:prstGeom prst="rect">
            <a:avLst/>
          </a:prstGeom>
          <a:noFill/>
        </p:spPr>
        <p:txBody>
          <a:bodyPr wrap="none" lIns="0" rIns="0" tIns="0" bIns="0">
            <a:spAutoFit/>
          </a:bodyPr>
          <a:lstStyle/>
          <a:p>
            <a:pPr>
              <a:defRPr sz="1439" b="0">
                <a:solidFill>
                  <a:srgbClr val="B6C6CC"/>
                </a:solidFill>
                <a:latin typeface="DejaVu Sans"/>
              </a:defRPr>
            </a:pPr>
            <a:r>
              <a:t>→ Schaden verändert</a:t>
            </a:r>
          </a:p>
        </p:txBody>
      </p:sp>
      <p:sp>
        <p:nvSpPr>
          <p:cNvPr id="39" name="TextBox 38"/>
          <p:cNvSpPr txBox="1"/>
          <p:nvPr/>
        </p:nvSpPr>
        <p:spPr>
          <a:xfrm>
            <a:off x="9254490" y="4808220"/>
            <a:ext cx="2358390" cy="256031"/>
          </a:xfrm>
          <a:prstGeom prst="rect">
            <a:avLst/>
          </a:prstGeom>
          <a:noFill/>
        </p:spPr>
        <p:txBody>
          <a:bodyPr wrap="none" lIns="0" rIns="0" tIns="0" bIns="0">
            <a:spAutoFit/>
          </a:bodyPr>
          <a:lstStyle/>
          <a:p>
            <a:pPr>
              <a:defRPr sz="1439" b="0">
                <a:solidFill>
                  <a:srgbClr val="B6C6CC"/>
                </a:solidFill>
                <a:latin typeface="DejaVu Sans"/>
              </a:defRPr>
            </a:pPr>
            <a:r>
              <a:t>Lage.</a:t>
            </a:r>
          </a:p>
        </p:txBody>
      </p:sp>
      <p:sp>
        <p:nvSpPr>
          <p:cNvPr id="40" name="Rectangle 3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Jeder Übergang benötigt ein gültiges Ergebnis des vorherigen Systems; keiner garantiert den nächsten Erfolg.</a:t>
            </a:r>
          </a:p>
        </p:txBody>
      </p:sp>
      <p:sp>
        <p:nvSpPr>
          <p:cNvPr id="42" name="TextBox 4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src/sonar/tma.py · src/enemies/sub.py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ZUSAMMENSPIEL</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56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Beispiel: Ein Wetterwechsel trifft die Einsatzkette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Eine Ursache, mehrere gleichzeitig veränderte Entscheidungen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Aufklärung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Mehr Wind/Regen →</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akustischer Hintergrund und</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Radarstörung ändern sich;</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Sicht sinkt.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Plattform</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Mehr Wellen → Widerstand und</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Deckbewegung wachsen;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Flugfenster können sich</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schließen.</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Reaktion</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Kurs/Fahrt oder Sensorwahl</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ändern → eigene Signatur,</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Geometrie und Ressourcen</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verändern sich erneut.</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Umwelt ist eine gemeinsame Eingabe, die taktische Zielkonflikte erzeugt.</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src/world/world.py · src/physics/ship_dynamics.py · src/core/game.py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QUALITÄT &amp; GRENZEN</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57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Tests prüfen verschiedene Arten von Richtigkeit</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Verhalten, Fortsetzung, Beobachtungsgrenze und Spielkalibrierung</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Physik &amp; Wirkung</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Bewegung, Sonargleichung,</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Strahlen, Waffen,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Grundkontakt und</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Schadensstabilität.</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Systemverträge</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Determinismus,</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Save-Roundtrip, Frische,</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Rollen,</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genau-einmal-Kommandos</a:t>
            </a:r>
          </a:p>
        </p:txBody>
      </p:sp>
      <p:sp>
        <p:nvSpPr>
          <p:cNvPr id="21" name="TextBox 20"/>
          <p:cNvSpPr txBox="1"/>
          <p:nvPr/>
        </p:nvSpPr>
        <p:spPr>
          <a:xfrm>
            <a:off x="448818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und Ressourcen.</a:t>
            </a:r>
          </a:p>
        </p:txBody>
      </p:sp>
      <p:sp>
        <p:nvSpPr>
          <p:cNvPr id="22" name="Rectangle 21"/>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Bedienung &amp; Balance</a:t>
            </a:r>
          </a:p>
        </p:txBody>
      </p:sp>
      <p:sp>
        <p:nvSpPr>
          <p:cNvPr id="25" name="TextBox 24"/>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Layout, Sprachen,</a:t>
            </a:r>
          </a:p>
        </p:txBody>
      </p:sp>
      <p:sp>
        <p:nvSpPr>
          <p:cNvPr id="26" name="TextBox 25"/>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Browserzustände; 77</a:t>
            </a:r>
          </a:p>
        </p:txBody>
      </p:sp>
      <p:sp>
        <p:nvSpPr>
          <p:cNvPr id="27" name="TextBox 26"/>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Referenzmetriken plus</a:t>
            </a:r>
          </a:p>
        </p:txBody>
      </p:sp>
      <p:sp>
        <p:nvSpPr>
          <p:cNvPr id="28" name="TextBox 27"/>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begründete Abweichungen.</a:t>
            </a:r>
          </a:p>
        </p:txBody>
      </p:sp>
      <p:sp>
        <p:nvSpPr>
          <p:cNvPr id="29" name="Rectangle 28"/>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Kalibrierung auf Spielreferenzen ist ein Balancenachweis innerhalb der Tests, keine marinefachliche Validierung.</a:t>
            </a:r>
          </a:p>
        </p:txBody>
      </p:sp>
      <p:sp>
        <p:nvSpPr>
          <p:cNvPr id="31" name="TextBox 30"/>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tests/test_calibration.py · tests/calibration/golden.json · tests/calibration/deviations.json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QUALITÄT &amp; GRENZEN</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58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Welche Aussagen die Modelle nicht tragen</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Vereinfachungen helfen, Ergebnisse richtig zu interpretieren</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Physik</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Spielkalibrierte Näherungen;</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synthetischer Meeresboden;</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begrenzte Strahlenzahl und</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vereinfachte Wassersäule.</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Wahrnehmung</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Synthetische Signaturen;</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unsichere Klassifikation;</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manuelle OPZ-Fusion ohne</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allgemeine</a:t>
            </a:r>
          </a:p>
        </p:txBody>
      </p:sp>
      <p:sp>
        <p:nvSpPr>
          <p:cNvPr id="21" name="TextBox 20"/>
          <p:cNvSpPr txBox="1"/>
          <p:nvPr/>
        </p:nvSpPr>
        <p:spPr>
          <a:xfrm>
            <a:off x="448818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Peilungstriangulation.</a:t>
            </a:r>
          </a:p>
        </p:txBody>
      </p:sp>
      <p:sp>
        <p:nvSpPr>
          <p:cNvPr id="22" name="Rectangle 21"/>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Betrieb</a:t>
            </a:r>
          </a:p>
        </p:txBody>
      </p:sp>
      <p:sp>
        <p:nvSpPr>
          <p:cNvPr id="25" name="TextBox 24"/>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Editorumfang größer als</a:t>
            </a:r>
          </a:p>
        </p:txBody>
      </p:sp>
      <p:sp>
        <p:nvSpPr>
          <p:cNvPr id="26" name="TextBox 25"/>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Runtime; Live-Feeds extern</a:t>
            </a:r>
          </a:p>
        </p:txBody>
      </p:sp>
      <p:sp>
        <p:nvSpPr>
          <p:cNvPr id="27" name="TextBox 26"/>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zeitabhängig; kein</a:t>
            </a:r>
          </a:p>
        </p:txBody>
      </p:sp>
      <p:sp>
        <p:nvSpPr>
          <p:cNvPr id="28" name="TextBox 27"/>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vollständiger Luftkampf- oder</a:t>
            </a:r>
          </a:p>
        </p:txBody>
      </p:sp>
      <p:sp>
        <p:nvSpPr>
          <p:cNvPr id="29" name="TextBox 28"/>
          <p:cNvSpPr txBox="1"/>
          <p:nvPr/>
        </p:nvSpPr>
        <p:spPr>
          <a:xfrm>
            <a:off x="8290560" y="4116324"/>
            <a:ext cx="3307080" cy="288036"/>
          </a:xfrm>
          <a:prstGeom prst="rect">
            <a:avLst/>
          </a:prstGeom>
          <a:noFill/>
        </p:spPr>
        <p:txBody>
          <a:bodyPr wrap="none" lIns="0" rIns="0" tIns="0" bIns="0">
            <a:spAutoFit/>
          </a:bodyPr>
          <a:lstStyle/>
          <a:p>
            <a:pPr>
              <a:defRPr sz="1620" b="0">
                <a:solidFill>
                  <a:srgbClr val="B6C6CC"/>
                </a:solidFill>
                <a:latin typeface="DejaVu Sans"/>
              </a:defRPr>
            </a:pPr>
            <a:r>
              <a:t>Schiffsentwurfssimulator.</a:t>
            </a:r>
          </a:p>
        </p:txBody>
      </p:sp>
      <p:sp>
        <p:nvSpPr>
          <p:cNvPr id="30" name="Rectangle 29"/>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Die Stärke liegt in gekoppelten Entscheidungen und nachvollziehbaren Konsequenzen innerhalb des Spielmodells.</a:t>
            </a:r>
          </a:p>
        </p:txBody>
      </p:sp>
      <p:sp>
        <p:nvSpPr>
          <p:cNvPr id="32" name="TextBox 31"/>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src/sonar/raytrace.py · src/audio/receiver.py · src/sensors/fusion.py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SCHLUSSBILD</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59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Was greift ineinander?</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fünf wichtigsten Abhängigkeiten für das Verständnis</a:t>
            </a:r>
          </a:p>
        </p:txBody>
      </p:sp>
      <p:sp>
        <p:nvSpPr>
          <p:cNvPr id="7" name="TextBox 6"/>
          <p:cNvSpPr txBox="1"/>
          <p:nvPr/>
        </p:nvSpPr>
        <p:spPr>
          <a:xfrm>
            <a:off x="495299" y="1965960"/>
            <a:ext cx="701040" cy="341375"/>
          </a:xfrm>
          <a:prstGeom prst="rect">
            <a:avLst/>
          </a:prstGeom>
          <a:noFill/>
        </p:spPr>
        <p:txBody>
          <a:bodyPr wrap="none" lIns="0" rIns="0" tIns="0" bIns="0">
            <a:spAutoFit/>
          </a:bodyPr>
          <a:lstStyle/>
          <a:p>
            <a:pPr>
              <a:defRPr sz="1920" b="1">
                <a:solidFill>
                  <a:srgbClr val="54D1BA"/>
                </a:solidFill>
                <a:latin typeface="DejaVu Sans"/>
              </a:defRPr>
            </a:pPr>
            <a:r>
              <a:t>01</a:t>
            </a:r>
          </a:p>
        </p:txBody>
      </p:sp>
      <p:sp>
        <p:nvSpPr>
          <p:cNvPr id="8" name="TextBox 7"/>
          <p:cNvSpPr txBox="1"/>
          <p:nvPr/>
        </p:nvSpPr>
        <p:spPr>
          <a:xfrm>
            <a:off x="1219200" y="1965960"/>
            <a:ext cx="3329940" cy="298703"/>
          </a:xfrm>
          <a:prstGeom prst="rect">
            <a:avLst/>
          </a:prstGeom>
          <a:noFill/>
        </p:spPr>
        <p:txBody>
          <a:bodyPr wrap="none" lIns="0" rIns="0" tIns="0" bIns="0">
            <a:spAutoFit/>
          </a:bodyPr>
          <a:lstStyle/>
          <a:p>
            <a:pPr>
              <a:defRPr sz="1680" b="1">
                <a:solidFill>
                  <a:srgbClr val="F3F5F3"/>
                </a:solidFill>
                <a:latin typeface="DejaVu Sans"/>
              </a:defRPr>
            </a:pPr>
            <a:r>
              <a:t>Umwelt → Signal</a:t>
            </a:r>
          </a:p>
        </p:txBody>
      </p:sp>
      <p:sp>
        <p:nvSpPr>
          <p:cNvPr id="9" name="TextBox 8"/>
          <p:cNvSpPr txBox="1"/>
          <p:nvPr/>
        </p:nvSpPr>
        <p:spPr>
          <a:xfrm>
            <a:off x="4724400" y="1965960"/>
            <a:ext cx="7025640" cy="277368"/>
          </a:xfrm>
          <a:prstGeom prst="rect">
            <a:avLst/>
          </a:prstGeom>
          <a:noFill/>
        </p:spPr>
        <p:txBody>
          <a:bodyPr wrap="none" lIns="0" rIns="0" tIns="0" bIns="0">
            <a:spAutoFit/>
          </a:bodyPr>
          <a:lstStyle/>
          <a:p>
            <a:pPr>
              <a:defRPr sz="1560" b="0">
                <a:solidFill>
                  <a:srgbClr val="B6C6CC"/>
                </a:solidFill>
                <a:latin typeface="DejaVu Sans"/>
              </a:defRPr>
            </a:pPr>
            <a:r>
              <a:t>Wetter, Tiefe und Boden verändern, was ein Sensor empfangen kann.</a:t>
            </a:r>
          </a:p>
        </p:txBody>
      </p:sp>
      <p:sp>
        <p:nvSpPr>
          <p:cNvPr id="10" name="TextBox 9"/>
          <p:cNvSpPr txBox="1"/>
          <p:nvPr/>
        </p:nvSpPr>
        <p:spPr>
          <a:xfrm>
            <a:off x="495299" y="2628900"/>
            <a:ext cx="701040" cy="341375"/>
          </a:xfrm>
          <a:prstGeom prst="rect">
            <a:avLst/>
          </a:prstGeom>
          <a:noFill/>
        </p:spPr>
        <p:txBody>
          <a:bodyPr wrap="none" lIns="0" rIns="0" tIns="0" bIns="0">
            <a:spAutoFit/>
          </a:bodyPr>
          <a:lstStyle/>
          <a:p>
            <a:pPr>
              <a:defRPr sz="1920" b="1">
                <a:solidFill>
                  <a:srgbClr val="54D1BA"/>
                </a:solidFill>
                <a:latin typeface="DejaVu Sans"/>
              </a:defRPr>
            </a:pPr>
            <a:r>
              <a:t>02</a:t>
            </a:r>
          </a:p>
        </p:txBody>
      </p:sp>
      <p:sp>
        <p:nvSpPr>
          <p:cNvPr id="11" name="TextBox 10"/>
          <p:cNvSpPr txBox="1"/>
          <p:nvPr/>
        </p:nvSpPr>
        <p:spPr>
          <a:xfrm>
            <a:off x="1219200" y="2628900"/>
            <a:ext cx="3329940" cy="298703"/>
          </a:xfrm>
          <a:prstGeom prst="rect">
            <a:avLst/>
          </a:prstGeom>
          <a:noFill/>
        </p:spPr>
        <p:txBody>
          <a:bodyPr wrap="none" lIns="0" rIns="0" tIns="0" bIns="0">
            <a:spAutoFit/>
          </a:bodyPr>
          <a:lstStyle/>
          <a:p>
            <a:pPr>
              <a:defRPr sz="1680" b="1">
                <a:solidFill>
                  <a:srgbClr val="F3F5F3"/>
                </a:solidFill>
                <a:latin typeface="DejaVu Sans"/>
              </a:defRPr>
            </a:pPr>
            <a:r>
              <a:t>Manöver → Wissen</a:t>
            </a:r>
          </a:p>
        </p:txBody>
      </p:sp>
      <p:sp>
        <p:nvSpPr>
          <p:cNvPr id="12" name="TextBox 11"/>
          <p:cNvSpPr txBox="1"/>
          <p:nvPr/>
        </p:nvSpPr>
        <p:spPr>
          <a:xfrm>
            <a:off x="4724400" y="2628900"/>
            <a:ext cx="7025640" cy="277368"/>
          </a:xfrm>
          <a:prstGeom prst="rect">
            <a:avLst/>
          </a:prstGeom>
          <a:noFill/>
        </p:spPr>
        <p:txBody>
          <a:bodyPr wrap="none" lIns="0" rIns="0" tIns="0" bIns="0">
            <a:spAutoFit/>
          </a:bodyPr>
          <a:lstStyle/>
          <a:p>
            <a:pPr>
              <a:defRPr sz="1560" b="0">
                <a:solidFill>
                  <a:srgbClr val="B6C6CC"/>
                </a:solidFill>
                <a:latin typeface="DejaVu Sans"/>
              </a:defRPr>
            </a:pPr>
            <a:r>
              <a:t>Eigene Fahrt und Geometrie bestimmen Lärm, Peilungsqualität und</a:t>
            </a:r>
          </a:p>
        </p:txBody>
      </p:sp>
      <p:sp>
        <p:nvSpPr>
          <p:cNvPr id="13" name="TextBox 12"/>
          <p:cNvSpPr txBox="1"/>
          <p:nvPr/>
        </p:nvSpPr>
        <p:spPr>
          <a:xfrm>
            <a:off x="4724400" y="2906268"/>
            <a:ext cx="7025640" cy="277368"/>
          </a:xfrm>
          <a:prstGeom prst="rect">
            <a:avLst/>
          </a:prstGeom>
          <a:noFill/>
        </p:spPr>
        <p:txBody>
          <a:bodyPr wrap="none" lIns="0" rIns="0" tIns="0" bIns="0">
            <a:spAutoFit/>
          </a:bodyPr>
          <a:lstStyle/>
          <a:p>
            <a:pPr>
              <a:defRPr sz="1560" b="0">
                <a:solidFill>
                  <a:srgbClr val="B6C6CC"/>
                </a:solidFill>
                <a:latin typeface="DejaVu Sans"/>
              </a:defRPr>
            </a:pPr>
            <a:r>
              <a:t>TMA.</a:t>
            </a:r>
          </a:p>
        </p:txBody>
      </p:sp>
      <p:sp>
        <p:nvSpPr>
          <p:cNvPr id="14" name="TextBox 13"/>
          <p:cNvSpPr txBox="1"/>
          <p:nvPr/>
        </p:nvSpPr>
        <p:spPr>
          <a:xfrm>
            <a:off x="495299" y="3291840"/>
            <a:ext cx="701040" cy="341375"/>
          </a:xfrm>
          <a:prstGeom prst="rect">
            <a:avLst/>
          </a:prstGeom>
          <a:noFill/>
        </p:spPr>
        <p:txBody>
          <a:bodyPr wrap="none" lIns="0" rIns="0" tIns="0" bIns="0">
            <a:spAutoFit/>
          </a:bodyPr>
          <a:lstStyle/>
          <a:p>
            <a:pPr>
              <a:defRPr sz="1920" b="1">
                <a:solidFill>
                  <a:srgbClr val="54D1BA"/>
                </a:solidFill>
                <a:latin typeface="DejaVu Sans"/>
              </a:defRPr>
            </a:pPr>
            <a:r>
              <a:t>03</a:t>
            </a:r>
          </a:p>
        </p:txBody>
      </p:sp>
      <p:sp>
        <p:nvSpPr>
          <p:cNvPr id="15" name="TextBox 14"/>
          <p:cNvSpPr txBox="1"/>
          <p:nvPr/>
        </p:nvSpPr>
        <p:spPr>
          <a:xfrm>
            <a:off x="1219200" y="3291840"/>
            <a:ext cx="3329940" cy="298703"/>
          </a:xfrm>
          <a:prstGeom prst="rect">
            <a:avLst/>
          </a:prstGeom>
          <a:noFill/>
        </p:spPr>
        <p:txBody>
          <a:bodyPr wrap="none" lIns="0" rIns="0" tIns="0" bIns="0">
            <a:spAutoFit/>
          </a:bodyPr>
          <a:lstStyle/>
          <a:p>
            <a:pPr>
              <a:defRPr sz="1680" b="1">
                <a:solidFill>
                  <a:srgbClr val="F3F5F3"/>
                </a:solidFill>
                <a:latin typeface="DejaVu Sans"/>
              </a:defRPr>
            </a:pPr>
            <a:r>
              <a:t>Wissen → Wirkung</a:t>
            </a:r>
          </a:p>
        </p:txBody>
      </p:sp>
      <p:sp>
        <p:nvSpPr>
          <p:cNvPr id="16" name="TextBox 15"/>
          <p:cNvSpPr txBox="1"/>
          <p:nvPr/>
        </p:nvSpPr>
        <p:spPr>
          <a:xfrm>
            <a:off x="4724400" y="3291840"/>
            <a:ext cx="7025640" cy="277368"/>
          </a:xfrm>
          <a:prstGeom prst="rect">
            <a:avLst/>
          </a:prstGeom>
          <a:noFill/>
        </p:spPr>
        <p:txBody>
          <a:bodyPr wrap="none" lIns="0" rIns="0" tIns="0" bIns="0">
            <a:spAutoFit/>
          </a:bodyPr>
          <a:lstStyle/>
          <a:p>
            <a:pPr>
              <a:defRPr sz="1560" b="0">
                <a:solidFill>
                  <a:srgbClr val="B6C6CC"/>
                </a:solidFill>
                <a:latin typeface="DejaVu Sans"/>
              </a:defRPr>
            </a:pPr>
            <a:r>
              <a:t>Trackfrische und Unsicherheit begrenzen einen sinnvollen</a:t>
            </a:r>
          </a:p>
        </p:txBody>
      </p:sp>
      <p:sp>
        <p:nvSpPr>
          <p:cNvPr id="17" name="TextBox 16"/>
          <p:cNvSpPr txBox="1"/>
          <p:nvPr/>
        </p:nvSpPr>
        <p:spPr>
          <a:xfrm>
            <a:off x="4724400" y="3569208"/>
            <a:ext cx="7025640" cy="277368"/>
          </a:xfrm>
          <a:prstGeom prst="rect">
            <a:avLst/>
          </a:prstGeom>
          <a:noFill/>
        </p:spPr>
        <p:txBody>
          <a:bodyPr wrap="none" lIns="0" rIns="0" tIns="0" bIns="0">
            <a:spAutoFit/>
          </a:bodyPr>
          <a:lstStyle/>
          <a:p>
            <a:pPr>
              <a:defRPr sz="1560" b="0">
                <a:solidFill>
                  <a:srgbClr val="B6C6CC"/>
                </a:solidFill>
                <a:latin typeface="DejaVu Sans"/>
              </a:defRPr>
            </a:pPr>
            <a:r>
              <a:t>Waffeneinsatz.</a:t>
            </a:r>
          </a:p>
        </p:txBody>
      </p:sp>
      <p:sp>
        <p:nvSpPr>
          <p:cNvPr id="18" name="TextBox 17"/>
          <p:cNvSpPr txBox="1"/>
          <p:nvPr/>
        </p:nvSpPr>
        <p:spPr>
          <a:xfrm>
            <a:off x="495299" y="3954780"/>
            <a:ext cx="701040" cy="341375"/>
          </a:xfrm>
          <a:prstGeom prst="rect">
            <a:avLst/>
          </a:prstGeom>
          <a:noFill/>
        </p:spPr>
        <p:txBody>
          <a:bodyPr wrap="none" lIns="0" rIns="0" tIns="0" bIns="0">
            <a:spAutoFit/>
          </a:bodyPr>
          <a:lstStyle/>
          <a:p>
            <a:pPr>
              <a:defRPr sz="1920" b="1">
                <a:solidFill>
                  <a:srgbClr val="54D1BA"/>
                </a:solidFill>
                <a:latin typeface="DejaVu Sans"/>
              </a:defRPr>
            </a:pPr>
            <a:r>
              <a:t>04</a:t>
            </a:r>
          </a:p>
        </p:txBody>
      </p:sp>
      <p:sp>
        <p:nvSpPr>
          <p:cNvPr id="19" name="TextBox 18"/>
          <p:cNvSpPr txBox="1"/>
          <p:nvPr/>
        </p:nvSpPr>
        <p:spPr>
          <a:xfrm>
            <a:off x="1219200" y="3954780"/>
            <a:ext cx="3329940" cy="298703"/>
          </a:xfrm>
          <a:prstGeom prst="rect">
            <a:avLst/>
          </a:prstGeom>
          <a:noFill/>
        </p:spPr>
        <p:txBody>
          <a:bodyPr wrap="none" lIns="0" rIns="0" tIns="0" bIns="0">
            <a:spAutoFit/>
          </a:bodyPr>
          <a:lstStyle/>
          <a:p>
            <a:pPr>
              <a:defRPr sz="1680" b="1">
                <a:solidFill>
                  <a:srgbClr val="F3F5F3"/>
                </a:solidFill>
                <a:latin typeface="DejaVu Sans"/>
              </a:defRPr>
            </a:pPr>
            <a:r>
              <a:t>Wirkung → Fähigkeit</a:t>
            </a:r>
          </a:p>
        </p:txBody>
      </p:sp>
      <p:sp>
        <p:nvSpPr>
          <p:cNvPr id="20" name="TextBox 19"/>
          <p:cNvSpPr txBox="1"/>
          <p:nvPr/>
        </p:nvSpPr>
        <p:spPr>
          <a:xfrm>
            <a:off x="4724400" y="3954780"/>
            <a:ext cx="7025640" cy="277368"/>
          </a:xfrm>
          <a:prstGeom prst="rect">
            <a:avLst/>
          </a:prstGeom>
          <a:noFill/>
        </p:spPr>
        <p:txBody>
          <a:bodyPr wrap="none" lIns="0" rIns="0" tIns="0" bIns="0">
            <a:spAutoFit/>
          </a:bodyPr>
          <a:lstStyle/>
          <a:p>
            <a:pPr>
              <a:defRPr sz="1560" b="0">
                <a:solidFill>
                  <a:srgbClr val="B6C6CC"/>
                </a:solidFill>
                <a:latin typeface="DejaVu Sans"/>
              </a:defRPr>
            </a:pPr>
            <a:r>
              <a:t>Schaden verändert Mobilität, Sensoren, Waffen und</a:t>
            </a:r>
          </a:p>
        </p:txBody>
      </p:sp>
      <p:sp>
        <p:nvSpPr>
          <p:cNvPr id="21" name="TextBox 20"/>
          <p:cNvSpPr txBox="1"/>
          <p:nvPr/>
        </p:nvSpPr>
        <p:spPr>
          <a:xfrm>
            <a:off x="4724400" y="4232148"/>
            <a:ext cx="7025640" cy="277368"/>
          </a:xfrm>
          <a:prstGeom prst="rect">
            <a:avLst/>
          </a:prstGeom>
          <a:noFill/>
        </p:spPr>
        <p:txBody>
          <a:bodyPr wrap="none" lIns="0" rIns="0" tIns="0" bIns="0">
            <a:spAutoFit/>
          </a:bodyPr>
          <a:lstStyle/>
          <a:p>
            <a:pPr>
              <a:defRPr sz="1560" b="0">
                <a:solidFill>
                  <a:srgbClr val="B6C6CC"/>
                </a:solidFill>
                <a:latin typeface="DejaVu Sans"/>
              </a:defRPr>
            </a:pPr>
            <a:r>
              <a:t>Überlebensfähigkeit.</a:t>
            </a:r>
          </a:p>
        </p:txBody>
      </p:sp>
      <p:sp>
        <p:nvSpPr>
          <p:cNvPr id="22" name="TextBox 21"/>
          <p:cNvSpPr txBox="1"/>
          <p:nvPr/>
        </p:nvSpPr>
        <p:spPr>
          <a:xfrm>
            <a:off x="495299" y="4617720"/>
            <a:ext cx="701040" cy="341375"/>
          </a:xfrm>
          <a:prstGeom prst="rect">
            <a:avLst/>
          </a:prstGeom>
          <a:noFill/>
        </p:spPr>
        <p:txBody>
          <a:bodyPr wrap="none" lIns="0" rIns="0" tIns="0" bIns="0">
            <a:spAutoFit/>
          </a:bodyPr>
          <a:lstStyle/>
          <a:p>
            <a:pPr>
              <a:defRPr sz="1920" b="1">
                <a:solidFill>
                  <a:srgbClr val="54D1BA"/>
                </a:solidFill>
                <a:latin typeface="DejaVu Sans"/>
              </a:defRPr>
            </a:pPr>
            <a:r>
              <a:t>05</a:t>
            </a:r>
          </a:p>
        </p:txBody>
      </p:sp>
      <p:sp>
        <p:nvSpPr>
          <p:cNvPr id="23" name="TextBox 22"/>
          <p:cNvSpPr txBox="1"/>
          <p:nvPr/>
        </p:nvSpPr>
        <p:spPr>
          <a:xfrm>
            <a:off x="1219200" y="4617720"/>
            <a:ext cx="3329940" cy="298703"/>
          </a:xfrm>
          <a:prstGeom prst="rect">
            <a:avLst/>
          </a:prstGeom>
          <a:noFill/>
        </p:spPr>
        <p:txBody>
          <a:bodyPr wrap="none" lIns="0" rIns="0" tIns="0" bIns="0">
            <a:spAutoFit/>
          </a:bodyPr>
          <a:lstStyle/>
          <a:p>
            <a:pPr>
              <a:defRPr sz="1680" b="1">
                <a:solidFill>
                  <a:srgbClr val="F3F5F3"/>
                </a:solidFill>
                <a:latin typeface="DejaVu Sans"/>
              </a:defRPr>
            </a:pPr>
            <a:r>
              <a:t>Zustand →</a:t>
            </a:r>
          </a:p>
        </p:txBody>
      </p:sp>
      <p:sp>
        <p:nvSpPr>
          <p:cNvPr id="24" name="TextBox 23"/>
          <p:cNvSpPr txBox="1"/>
          <p:nvPr/>
        </p:nvSpPr>
        <p:spPr>
          <a:xfrm>
            <a:off x="1219200" y="4916424"/>
            <a:ext cx="3329940" cy="298703"/>
          </a:xfrm>
          <a:prstGeom prst="rect">
            <a:avLst/>
          </a:prstGeom>
          <a:noFill/>
        </p:spPr>
        <p:txBody>
          <a:bodyPr wrap="none" lIns="0" rIns="0" tIns="0" bIns="0">
            <a:spAutoFit/>
          </a:bodyPr>
          <a:lstStyle/>
          <a:p>
            <a:pPr>
              <a:defRPr sz="1680" b="1">
                <a:solidFill>
                  <a:srgbClr val="F3F5F3"/>
                </a:solidFill>
                <a:latin typeface="DejaVu Sans"/>
              </a:defRPr>
            </a:pPr>
            <a:r>
              <a:t>Zusammenarbeit</a:t>
            </a:r>
          </a:p>
        </p:txBody>
      </p:sp>
      <p:sp>
        <p:nvSpPr>
          <p:cNvPr id="25" name="TextBox 24"/>
          <p:cNvSpPr txBox="1"/>
          <p:nvPr/>
        </p:nvSpPr>
        <p:spPr>
          <a:xfrm>
            <a:off x="4724400" y="4617720"/>
            <a:ext cx="7025640" cy="277368"/>
          </a:xfrm>
          <a:prstGeom prst="rect">
            <a:avLst/>
          </a:prstGeom>
          <a:noFill/>
        </p:spPr>
        <p:txBody>
          <a:bodyPr wrap="none" lIns="0" rIns="0" tIns="0" bIns="0">
            <a:spAutoFit/>
          </a:bodyPr>
          <a:lstStyle/>
          <a:p>
            <a:pPr>
              <a:defRPr sz="1560" b="0">
                <a:solidFill>
                  <a:srgbClr val="B6C6CC"/>
                </a:solidFill>
                <a:latin typeface="DejaVu Sans"/>
              </a:defRPr>
            </a:pPr>
            <a:r>
              <a:t>Host, Crew und Speicherung teilen dieselbe definierte Simulation.</a:t>
            </a:r>
          </a:p>
        </p:txBody>
      </p:sp>
      <p:sp>
        <p:nvSpPr>
          <p:cNvPr id="26" name="Rectangle 25"/>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U-Jagd verbindet physische Zustände mit begrenztem Wissen – daraus entstehen seine taktischen Entscheidungen.</a:t>
            </a:r>
          </a:p>
        </p:txBody>
      </p:sp>
      <p:sp>
        <p:nvSpPr>
          <p:cNvPr id="28" name="TextBox 27"/>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src/core/game.py · src/core/save_schema.py · src/commander/projections.py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1F2E"/>
        </a:solidFill>
        <a:effectLst/>
      </p:bgPr>
    </p:bg>
    <p:spTree>
      <p:nvGrpSpPr>
        <p:cNvPr id="1" name=""/>
        <p:cNvGrpSpPr/>
        <p:nvPr/>
      </p:nvGrpSpPr>
      <p:grpSpPr/>
      <p:sp>
        <p:nvSpPr>
          <p:cNvPr id="2" name="Rectangle 1"/>
          <p:cNvSpPr/>
          <p:nvPr/>
        </p:nvSpPr>
        <p:spPr>
          <a:xfrm>
            <a:off x="0" y="0"/>
            <a:ext cx="91440" cy="68580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95299" y="274320"/>
            <a:ext cx="9235440" cy="192024"/>
          </a:xfrm>
          <a:prstGeom prst="rect">
            <a:avLst/>
          </a:prstGeom>
          <a:noFill/>
        </p:spPr>
        <p:txBody>
          <a:bodyPr wrap="none" lIns="0" rIns="0" tIns="0" bIns="0">
            <a:spAutoFit/>
          </a:bodyPr>
          <a:lstStyle/>
          <a:p>
            <a:pPr>
              <a:defRPr sz="1080" b="1">
                <a:solidFill>
                  <a:srgbClr val="54D1BA"/>
                </a:solidFill>
                <a:latin typeface="DejaVu Sans"/>
              </a:defRPr>
            </a:pPr>
            <a:r>
              <a:t>ANHANG</a:t>
            </a:r>
          </a:p>
        </p:txBody>
      </p:sp>
      <p:sp>
        <p:nvSpPr>
          <p:cNvPr id="4" name="TextBox 3"/>
          <p:cNvSpPr txBox="1"/>
          <p:nvPr/>
        </p:nvSpPr>
        <p:spPr>
          <a:xfrm>
            <a:off x="10820400" y="274320"/>
            <a:ext cx="1005840" cy="192024"/>
          </a:xfrm>
          <a:prstGeom prst="rect">
            <a:avLst/>
          </a:prstGeom>
          <a:noFill/>
        </p:spPr>
        <p:txBody>
          <a:bodyPr wrap="none" lIns="0" rIns="0" tIns="0" bIns="0">
            <a:spAutoFit/>
          </a:bodyPr>
          <a:lstStyle/>
          <a:p>
            <a:pPr>
              <a:defRPr sz="1080" b="0">
                <a:solidFill>
                  <a:srgbClr val="B6C6CC"/>
                </a:solidFill>
                <a:latin typeface="DejaVu Sans"/>
              </a:defRPr>
            </a:pPr>
            <a:r>
              <a:t>60 / 60</a:t>
            </a:r>
          </a:p>
        </p:txBody>
      </p:sp>
      <p:sp>
        <p:nvSpPr>
          <p:cNvPr id="5" name="TextBox 4"/>
          <p:cNvSpPr txBox="1"/>
          <p:nvPr/>
        </p:nvSpPr>
        <p:spPr>
          <a:xfrm>
            <a:off x="495299" y="678180"/>
            <a:ext cx="11292840" cy="469392"/>
          </a:xfrm>
          <a:prstGeom prst="rect">
            <a:avLst/>
          </a:prstGeom>
          <a:noFill/>
        </p:spPr>
        <p:txBody>
          <a:bodyPr wrap="none" lIns="0" rIns="0" tIns="0" bIns="0">
            <a:spAutoFit/>
          </a:bodyPr>
          <a:lstStyle/>
          <a:p>
            <a:pPr>
              <a:defRPr sz="2640" b="1">
                <a:solidFill>
                  <a:srgbClr val="F3F5F3"/>
                </a:solidFill>
                <a:latin typeface="DejaVu Sans"/>
              </a:defRPr>
            </a:pPr>
            <a:r>
              <a:t>Quellen und Lesewege</a:t>
            </a:r>
          </a:p>
        </p:txBody>
      </p:sp>
      <p:sp>
        <p:nvSpPr>
          <p:cNvPr id="6" name="TextBox 5"/>
          <p:cNvSpPr txBox="1"/>
          <p:nvPr/>
        </p:nvSpPr>
        <p:spPr>
          <a:xfrm>
            <a:off x="495299" y="1249680"/>
            <a:ext cx="11292840" cy="266700"/>
          </a:xfrm>
          <a:prstGeom prst="rect">
            <a:avLst/>
          </a:prstGeom>
          <a:noFill/>
        </p:spPr>
        <p:txBody>
          <a:bodyPr wrap="none" lIns="0" rIns="0" tIns="0" bIns="0">
            <a:spAutoFit/>
          </a:bodyPr>
          <a:lstStyle/>
          <a:p>
            <a:pPr>
              <a:defRPr sz="1500" b="0">
                <a:solidFill>
                  <a:srgbClr val="B6C6CC"/>
                </a:solidFill>
                <a:latin typeface="DejaVu Sans"/>
              </a:defRPr>
            </a:pPr>
            <a:r>
              <a:t>Die vollständigen Pfade stehen zusätzlich in den Foliennotizen und im Begleittext</a:t>
            </a:r>
          </a:p>
        </p:txBody>
      </p:sp>
      <p:sp>
        <p:nvSpPr>
          <p:cNvPr id="7" name="Rectangle 6"/>
          <p:cNvSpPr/>
          <p:nvPr/>
        </p:nvSpPr>
        <p:spPr>
          <a:xfrm>
            <a:off x="49529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9529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Ablauf &amp; Welt</a:t>
            </a:r>
          </a:p>
        </p:txBody>
      </p:sp>
      <p:sp>
        <p:nvSpPr>
          <p:cNvPr id="10" name="TextBox 9"/>
          <p:cNvSpPr txBox="1"/>
          <p:nvPr/>
        </p:nvSpPr>
        <p:spPr>
          <a:xfrm>
            <a:off x="68580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src/core/game.py</a:t>
            </a:r>
          </a:p>
        </p:txBody>
      </p:sp>
      <p:sp>
        <p:nvSpPr>
          <p:cNvPr id="11" name="TextBox 10"/>
          <p:cNvSpPr txBox="1"/>
          <p:nvPr/>
        </p:nvSpPr>
        <p:spPr>
          <a:xfrm>
            <a:off x="68580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src/core/config.py</a:t>
            </a:r>
          </a:p>
        </p:txBody>
      </p:sp>
      <p:sp>
        <p:nvSpPr>
          <p:cNvPr id="12" name="TextBox 11"/>
          <p:cNvSpPr txBox="1"/>
          <p:nvPr/>
        </p:nvSpPr>
        <p:spPr>
          <a:xfrm>
            <a:off x="68580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src/world/</a:t>
            </a:r>
          </a:p>
        </p:txBody>
      </p:sp>
      <p:sp>
        <p:nvSpPr>
          <p:cNvPr id="13" name="TextBox 12"/>
          <p:cNvSpPr txBox="1"/>
          <p:nvPr/>
        </p:nvSpPr>
        <p:spPr>
          <a:xfrm>
            <a:off x="68580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src/physics/</a:t>
            </a:r>
          </a:p>
        </p:txBody>
      </p:sp>
      <p:sp>
        <p:nvSpPr>
          <p:cNvPr id="14" name="Rectangle 13"/>
          <p:cNvSpPr/>
          <p:nvPr/>
        </p:nvSpPr>
        <p:spPr>
          <a:xfrm>
            <a:off x="4297680"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34540"/>
            <a:ext cx="3596640" cy="38100"/>
          </a:xfrm>
          <a:prstGeom prst="rect">
            <a:avLst/>
          </a:prstGeom>
          <a:solidFill>
            <a:srgbClr val="F5C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818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Information &amp; Wirkung</a:t>
            </a:r>
          </a:p>
        </p:txBody>
      </p:sp>
      <p:sp>
        <p:nvSpPr>
          <p:cNvPr id="17" name="TextBox 16"/>
          <p:cNvSpPr txBox="1"/>
          <p:nvPr/>
        </p:nvSpPr>
        <p:spPr>
          <a:xfrm>
            <a:off x="448818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src/sonar/ · src/sensors/</a:t>
            </a:r>
          </a:p>
        </p:txBody>
      </p:sp>
      <p:sp>
        <p:nvSpPr>
          <p:cNvPr id="18" name="TextBox 17"/>
          <p:cNvSpPr txBox="1"/>
          <p:nvPr/>
        </p:nvSpPr>
        <p:spPr>
          <a:xfrm>
            <a:off x="448818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src/ship/ · src/enemies/</a:t>
            </a:r>
          </a:p>
        </p:txBody>
      </p:sp>
      <p:sp>
        <p:nvSpPr>
          <p:cNvPr id="19" name="TextBox 18"/>
          <p:cNvSpPr txBox="1"/>
          <p:nvPr/>
        </p:nvSpPr>
        <p:spPr>
          <a:xfrm>
            <a:off x="448818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src/air/ · src/weapons/</a:t>
            </a:r>
          </a:p>
        </p:txBody>
      </p:sp>
      <p:sp>
        <p:nvSpPr>
          <p:cNvPr id="20" name="TextBox 19"/>
          <p:cNvSpPr txBox="1"/>
          <p:nvPr/>
        </p:nvSpPr>
        <p:spPr>
          <a:xfrm>
            <a:off x="448818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src/audio/</a:t>
            </a:r>
          </a:p>
        </p:txBody>
      </p:sp>
      <p:sp>
        <p:nvSpPr>
          <p:cNvPr id="21" name="Rectangle 20"/>
          <p:cNvSpPr/>
          <p:nvPr/>
        </p:nvSpPr>
        <p:spPr>
          <a:xfrm>
            <a:off x="8100059" y="2034540"/>
            <a:ext cx="3596640" cy="3215640"/>
          </a:xfrm>
          <a:prstGeom prst="rect">
            <a:avLst/>
          </a:prstGeom>
          <a:solidFill>
            <a:srgbClr val="1B3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00059" y="2034540"/>
            <a:ext cx="3596640" cy="3810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0560" y="2270760"/>
            <a:ext cx="3307080" cy="320040"/>
          </a:xfrm>
          <a:prstGeom prst="rect">
            <a:avLst/>
          </a:prstGeom>
          <a:noFill/>
        </p:spPr>
        <p:txBody>
          <a:bodyPr wrap="none" lIns="0" rIns="0" tIns="0" bIns="0">
            <a:spAutoFit/>
          </a:bodyPr>
          <a:lstStyle/>
          <a:p>
            <a:pPr>
              <a:defRPr sz="1800" b="1">
                <a:solidFill>
                  <a:srgbClr val="F3F5F3"/>
                </a:solidFill>
                <a:latin typeface="DejaVu Sans"/>
              </a:defRPr>
            </a:pPr>
            <a:r>
              <a:t>Verträge &amp; Nachweise</a:t>
            </a:r>
          </a:p>
        </p:txBody>
      </p:sp>
      <p:sp>
        <p:nvSpPr>
          <p:cNvPr id="24" name="TextBox 23"/>
          <p:cNvSpPr txBox="1"/>
          <p:nvPr/>
        </p:nvSpPr>
        <p:spPr>
          <a:xfrm>
            <a:off x="8290560" y="2964180"/>
            <a:ext cx="3307080" cy="288036"/>
          </a:xfrm>
          <a:prstGeom prst="rect">
            <a:avLst/>
          </a:prstGeom>
          <a:noFill/>
        </p:spPr>
        <p:txBody>
          <a:bodyPr wrap="none" lIns="0" rIns="0" tIns="0" bIns="0">
            <a:spAutoFit/>
          </a:bodyPr>
          <a:lstStyle/>
          <a:p>
            <a:pPr>
              <a:defRPr sz="1620" b="0">
                <a:solidFill>
                  <a:srgbClr val="B6C6CC"/>
                </a:solidFill>
                <a:latin typeface="DejaVu Sans"/>
              </a:defRPr>
            </a:pPr>
            <a:r>
              <a:t>src/commander/ · src/network/</a:t>
            </a:r>
          </a:p>
        </p:txBody>
      </p:sp>
      <p:sp>
        <p:nvSpPr>
          <p:cNvPr id="25" name="TextBox 24"/>
          <p:cNvSpPr txBox="1"/>
          <p:nvPr/>
        </p:nvSpPr>
        <p:spPr>
          <a:xfrm>
            <a:off x="8290560" y="3252216"/>
            <a:ext cx="3307080" cy="288036"/>
          </a:xfrm>
          <a:prstGeom prst="rect">
            <a:avLst/>
          </a:prstGeom>
          <a:noFill/>
        </p:spPr>
        <p:txBody>
          <a:bodyPr wrap="none" lIns="0" rIns="0" tIns="0" bIns="0">
            <a:spAutoFit/>
          </a:bodyPr>
          <a:lstStyle/>
          <a:p>
            <a:pPr>
              <a:defRPr sz="1620" b="0">
                <a:solidFill>
                  <a:srgbClr val="B6C6CC"/>
                </a:solidFill>
                <a:latin typeface="DejaVu Sans"/>
              </a:defRPr>
            </a:pPr>
            <a:r>
              <a:t>src/data/ · data/</a:t>
            </a:r>
          </a:p>
        </p:txBody>
      </p:sp>
      <p:sp>
        <p:nvSpPr>
          <p:cNvPr id="26" name="TextBox 25"/>
          <p:cNvSpPr txBox="1"/>
          <p:nvPr/>
        </p:nvSpPr>
        <p:spPr>
          <a:xfrm>
            <a:off x="8290560" y="3540252"/>
            <a:ext cx="3307080" cy="288036"/>
          </a:xfrm>
          <a:prstGeom prst="rect">
            <a:avLst/>
          </a:prstGeom>
          <a:noFill/>
        </p:spPr>
        <p:txBody>
          <a:bodyPr wrap="none" lIns="0" rIns="0" tIns="0" bIns="0">
            <a:spAutoFit/>
          </a:bodyPr>
          <a:lstStyle/>
          <a:p>
            <a:pPr>
              <a:defRPr sz="1620" b="0">
                <a:solidFill>
                  <a:srgbClr val="B6C6CC"/>
                </a:solidFill>
                <a:latin typeface="DejaVu Sans"/>
              </a:defRPr>
            </a:pPr>
            <a:r>
              <a:t>tests/ · tools/calibrate.py</a:t>
            </a:r>
          </a:p>
        </p:txBody>
      </p:sp>
      <p:sp>
        <p:nvSpPr>
          <p:cNvPr id="27" name="TextBox 26"/>
          <p:cNvSpPr txBox="1"/>
          <p:nvPr/>
        </p:nvSpPr>
        <p:spPr>
          <a:xfrm>
            <a:off x="8290560" y="3828288"/>
            <a:ext cx="3307080" cy="288036"/>
          </a:xfrm>
          <a:prstGeom prst="rect">
            <a:avLst/>
          </a:prstGeom>
          <a:noFill/>
        </p:spPr>
        <p:txBody>
          <a:bodyPr wrap="none" lIns="0" rIns="0" tIns="0" bIns="0">
            <a:spAutoFit/>
          </a:bodyPr>
          <a:lstStyle/>
          <a:p>
            <a:pPr>
              <a:defRPr sz="1620" b="0">
                <a:solidFill>
                  <a:srgbClr val="B6C6CC"/>
                </a:solidFill>
                <a:latin typeface="DejaVu Sans"/>
              </a:defRPr>
            </a:pPr>
            <a:r>
              <a:t>pyproject.toml</a:t>
            </a:r>
          </a:p>
        </p:txBody>
      </p:sp>
      <p:sp>
        <p:nvSpPr>
          <p:cNvPr id="28" name="Rectangle 27"/>
          <p:cNvSpPr/>
          <p:nvPr/>
        </p:nvSpPr>
        <p:spPr>
          <a:xfrm>
            <a:off x="495299" y="5722620"/>
            <a:ext cx="11201400" cy="22860"/>
          </a:xfrm>
          <a:prstGeom prst="rect">
            <a:avLst/>
          </a:prstGeom>
          <a:solidFill>
            <a:srgbClr val="54D1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5299" y="5920740"/>
            <a:ext cx="11216640" cy="266700"/>
          </a:xfrm>
          <a:prstGeom prst="rect">
            <a:avLst/>
          </a:prstGeom>
          <a:noFill/>
        </p:spPr>
        <p:txBody>
          <a:bodyPr wrap="none" lIns="0" rIns="0" tIns="0" bIns="0">
            <a:spAutoFit/>
          </a:bodyPr>
          <a:lstStyle/>
          <a:p>
            <a:pPr>
              <a:defRPr sz="1500" b="0">
                <a:solidFill>
                  <a:srgbClr val="F3F5F3"/>
                </a:solidFill>
                <a:latin typeface="DejaVu Sans"/>
              </a:defRPr>
            </a:pPr>
            <a:r>
              <a:t>Beigelegt: Folien mit Sprechernotizen, Quelleninventur, Erzeugungsskript und Prüfprotokoll.</a:t>
            </a:r>
          </a:p>
        </p:txBody>
      </p:sp>
      <p:sp>
        <p:nvSpPr>
          <p:cNvPr id="30" name="TextBox 29"/>
          <p:cNvSpPr txBox="1"/>
          <p:nvPr/>
        </p:nvSpPr>
        <p:spPr>
          <a:xfrm>
            <a:off x="495299" y="6598920"/>
            <a:ext cx="11292840" cy="149351"/>
          </a:xfrm>
          <a:prstGeom prst="rect">
            <a:avLst/>
          </a:prstGeom>
          <a:noFill/>
        </p:spPr>
        <p:txBody>
          <a:bodyPr wrap="none" lIns="0" rIns="0" tIns="0" bIns="0">
            <a:spAutoFit/>
          </a:bodyPr>
          <a:lstStyle/>
          <a:p>
            <a:pPr>
              <a:defRPr sz="840" b="0">
                <a:solidFill>
                  <a:srgbClr val="B6C6CC"/>
                </a:solidFill>
                <a:latin typeface="DejaVu Sans"/>
              </a:defRPr>
            </a:pPr>
            <a:r>
              <a:t>AGENTS.md · src/core/version.py · pyproject.toml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U-Jagd – Simulation und Abhängigkeiten</dc:title>
  <dc:subject>Architektur und gekoppelte Simulationsmodelle im lokalen Arbeitsstand 1.1.0</dc:subject>
  <dc:creator>U-Jagd · technische Dokumentation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